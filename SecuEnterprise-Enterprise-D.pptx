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CD90608-901E-5509-AF25-D69B67A15EE1}">
          <p14:sldIdLst>
            <p14:sldId id="256"/>
            <p14:sldId id="257"/>
            <p14:sldId id="258"/>
            <p14:sldId id="259"/>
          </p14:sldIdLst>
        </p14:section>
        <p14:section name="Supervision" id="{3727D323-608A-7FE8-CCBC-A9EBDAFE4D8C}">
          <p14:sldIdLst>
            <p14:sldId id="260"/>
            <p14:sldId id="261"/>
            <p14:sldId id="262"/>
            <p14:sldId id="263"/>
            <p14:sldId id="264"/>
            <p14:sldId id="265"/>
            <p14:sldId id="266"/>
            <p14:sldId id="267"/>
            <p14:sldId id="268"/>
          </p14:sldIdLst>
        </p14:section>
        <p14:section name="Journalisation et analyse" id="{B35ED52F-9809-CBC1-A84F-19D47BD91CF1}">
          <p14:sldIdLst>
            <p14:sldId id="269"/>
            <p14:sldId id="270"/>
            <p14:sldId id="271"/>
            <p14:sldId id="272"/>
            <p14:sldId id="273"/>
            <p14:sldId id="274"/>
            <p14:sldId id="275"/>
            <p14:sldId id="276"/>
            <p14:sldId id="277"/>
            <p14:sldId id="278"/>
            <p14:sldId id="279"/>
          </p14:sldIdLst>
        </p14:section>
        <p14:section name="Réponse à incident" id="{33CC4A52-3A00-2E4E-52C7-EA993919165D}">
          <p14:sldIdLst>
            <p14:sldId id="280"/>
            <p14:sldId id="281"/>
            <p14:sldId id="282"/>
            <p14:sldId id="283"/>
            <p14:sldId id="284"/>
            <p14:sldId id="285"/>
            <p14:sldId id="286"/>
          </p14:sldIdLst>
        </p14:section>
        <p14:section name="Bilan" id="{3174E913-04D9-4C56-08FB-BEBB3829DC9F}">
          <p14:sldIdLst>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64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9789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Bonjour à tous. Je vais vous présenter mon projet SecuEnterprise. L'objectif était de mettre en place, sur une petite infrastructure, une chaîne complète de sécurité : superviser les machines, détecter les anomalies, analyser le trafic, et savoir réagir en cas d'incident. Je vais vous présenter les neuf missions dans l'ordre.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Ces neuf missions répondent à quatre objectifs. D'abord superviser, avec Zabbix, Prometheus et Grafana. Ensuite alerter, pour être prévenu automatiquement d'un problème. Puis analyser le trafic réseau, avec Wireshark et la stack ELK. Et enfin réagir, avec des procédures de réponse, TheHive et MISP.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Tout tourne dans un labo VMware, avec quatre machines Debian 12 sur le même réseau. ENT-OPS héberge les outils de supervision. ENT-ELK centralise et analyse les logs. ENT-SOC est dédiée à la réponse à incident. Et ENT-BRIDGE est la machine surveillée : c'est aussi elle qui capture le trafic réseau.</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Avant toute installation, j'ai préparé les machines. Comme elles sont clonées à partir de la même image, j'ai régénéré leur identifiant système et leurs clés SSH, sinon elles se présenteraient toutes comme la même machine. J'ai ensuite fixé les adresses IP, déclaré les noms d'hôtes, et synchronisé les horloges, ce qui est indispensable pour corréler des logs entre plusieurs machines.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Je commence par la partie supervision.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Mission 01 : Zabbix. Je l'ai installé sur ENT-OPS depuis le dépôt officiel, avec sa base MariaDB et son interface web. J'ai vérifié que le serveur, l'agent et le site web écoutaient bien sur leurs ports, puis j'ai terminé l'installation et changé le mot de passe administrateur par défaut.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J'ai ensuite ajouté ENT-BRIDGE comme hôte à superviser. Son agent Zabbix est configuré pour ne répondre qu'au serveur. Le modèle Linux fournit directement soixante-huit éléments, et les trois ressources demandées, CPU, mémoire et disque, remontent toutes les minutes.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Pour visualiser ces données, j'ai créé un graphique qui regroupe les trois ressources sur une même échelle en pourcentage. Pour le tester, j'ai chargé le processeur à fond pendant deux minutes. On voit la courbe du CPU monter à cent pour cent, alors que la mémoire et le disque ne bougent pas.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Mission 02 : Prometheus. Contrairement à Zabbix, ce n'est pas un agent qui envoie les données : c'est Prometheus qui vient les récupérer, auprès de petits services appelés exporters. J'ai installé node_exporter sur ENT-ELK et ENT-BRIDGE, puis déclaré ces deux machines dans un job de collecte, avec une étiquette pour identifier chacune.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Sur la page des cibles, les quatre sources sont bien remontées. J'ai ensuite écrit une première requête PromQL qui calcule le pourcentage de CPU utilisé sur chaque machine. C'est cette requête que je réutilise ensuite dans Grafana.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Mission 03 : Grafana. Je l'ai installé depuis son dépôt officiel, j'ai changé le mot de passe par défaut, puis je l'ai connecté à Prometheus. Le test de connexion est validé, et une première requête confirme que les données arrivent bien.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Voici le tableau de bord que j'ai construit. En haut, l'état de chaque cible, en ligne ou hors ligne. En dessous, le CPU, la mémoire et le disque de chaque machine, avec un rafraîchissement toutes les dix secondes. Le pic qu'on voit correspond à mon test de charge. Le tableau de bord est exporté en JSON dans le dépôt GitHub.</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Mission 04 : les alertes Zabbix. Le modèle Linux déclenche une alerte quand le CPU dépasse quatre-vingt-dix pour cent en moyenne sur cinq minutes. Mon test de deux minutes n'a donc rien déclenché, ce qui est normal : ça évite les fausses alertes sur des pics courts. Pour valider la chaîne complète, on abaisse temporairement le seuil : le problème apparaît dans Zabbix, et l'e-mail d'alerte est bien reçu.</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Deuxième partie : la centralisation des logs et l'analyse.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Mission 05 : la stack ELK, installée sur ENT-ELK. Elasticsearch stocke les données, Logstash les transforme, et Kibana permet de les visualiser. Le cluster est opérationnel et Kibana est accessible. Pour simplifier le labo, j'ai désactivé la couche sécurité d'Elastic. C'est une limite que j'assume, et j'y reviens à la fin.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Pour les données, j'ai choisi le trafic réseau. Sur ENT-BRIDGE, tshark enregistre chaque paquet dans un fichier CSV. Filebeat lit ce fichier et l'envoie à Logstash, qui le découpe en champs. Elasticsearch l'indexe ensuite, avec un index par jour. Au total, plus de cent mille paquets ont été indexés.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point central, c'est le pipeline Logstash. Il reçoit les données de Filebeat, découpe chaque ligne, convertit l'heure du paquet en date d'événement, puis renomme les champs selon le format standard ECS. J'ai aussi créé un modèle d'index, pour que les adresses IP soient stockées comme des adresses IP et pas comme du simple texte.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Dans Kibana, j'ai construit un tableau de bord réseau : volume échangé, nombre de paquets, répartition des protocoles, évolution dans le temps, ports les plus sollicités et principales conversations. On voit tout de suite que TCP est majoritaire, suivi de TLS et du DNS.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Dernière étape de cette mission : Watcher, pour générer des alertes automatiques. J'ai écrit une règle qui détecte les scans de ports. Toutes les minutes, elle analyse les deux dernières minutes de trafic et compte, pour chaque adresse source, le nombre de ports différents contactés. Au-delà de vingt, l'alerte se déclenche.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Pour la tester, j'ai lancé un scan de deux cents ports depuis ENT-BRIDGE vers ENT-OPS. En moins d'une minute, l'alerte est enregistrée dans un index dédié et dans les logs, avec l'adresse source et le nombre de ports : deux cents. La détection fonctionne.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Mission 06 : Wireshark. Le serveur n'ayant pas d'interface graphique, j'utilise tshark, la version en ligne de commande, sur l'interface réseau. La capture tourne en continu sous forme de service, avec un utilisateur dédié, et un filtre qui exclut mon propre trafic d'administration pour ne pas polluer les données.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Dans ce trafic, j'ai relevé plusieurs éléments. D'abord le scan de ports. Ensuite des requêtes LLMNR, un protocole qui peut être exploité pour récupérer des identifiants. Et enfin un flux sortant chiffré assez volumineux : il est légitime ici, mais c'est typiquement ce qu'il faut surveiller pour détecter une fuite de données.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Mission 07 : l'analyse dans Kibana. Avec le langage de requête KQL, on filtre très rapidement : par exemple les pings, pour repérer une phase de reconnaissance, le trafic qui sort du réseau interne, ou les connexions vers des ports sensibles.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Les graphiques permettent aussi de suivre les tendances. On distingue un trafic de fond régulier, et des pics qui correspondent à une activité inhabituelle. Une fois qu'on connaît ce comportement normal, un écart se repère immédiatement.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Dernière partie : la réponse à incident.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Mission 08 : les playbooks. Ce sont des procédures écrites à l'avance, qui suivent le cycle de réponse du NIST : préparation, détection, analyse, confinement, éradication et remise en service. L'intérêt, c'est de ne pas improviser au moment de l'incident.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Premier scénario : une intrusion interne. Une machine compromise scanne le réseau, ce que mon Watcher détecte. On isole la machine, on conserve les preuves, on supprime la cause, puis on la remet en service à partir d'une image saine.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Deuxième scénario : une attaque qui sature les ressources d'un serveur. Zabbix et Grafana la détectent. On identifie le processus responsable, on le suspend en gardant les preuves, on supprime ce qui le relance, puis on vérifie que les ressources reviennent à la normale.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Troisième scénario : une exfiltration de données. Kibana repère un volume sortant anormal. On bloque le flux, on change les mots de passe et les clés exposés, et on partage l'adresse suspecte dans MISP.</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Mission 09 : TheHive et MISP, sur ENT-SOC. Une alerte devient un dossier d'incident dans TheHive, qui permet d'organiser la réponse et de répartir les tâches. Les indicateurs de compromission sont ensuite partagés dans MISP, pour que d'autres équipes puissent reconnaître la même menace.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Voici le dossier créé à partir du scan réel. Il est documenté, classé en sévérité haute, et découpé en tâches assignées : isoler la machine, collecter les preuves, analyser, réinstaller et partager. Les adresses impliquées sont exportées vers MISP comme indicateurs.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J'ai rencontré quelques difficultés. La plus intéressante : la mémoire saturée sur ENT-ELK, et c'est justement mon tableau de bord Grafana qui me l'a signalée. J'ai réduit la mémoire allouée à Elasticsearch et à Logstash. J'ai aussi corrigé les droits de capture de tshark, une boucle dans la capture, et des alertes envoyées en rafale.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Pour résumer, chaque compétence visée par le projet correspond à une réalisation concrète : administrer l'infrastructure, la superviser, détecter, analyser, et traiter les incidents.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 final, l'infrastructure est supervisée, les anomalies sont détectées automatiquement, et une procédure de réponse est prête. Pour passer en production, il faudrait réactiver la sécurité d'Elasticsearch, centraliser la gestion des mots de passe, et automatiser la création des dossiers dans TheHive. Merci de votre attention, je suis prêt pour vos questions.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515600" cy="1463040"/>
          </a:xfrm>
          <a:prstGeom prst="rect">
            <a:avLst/>
          </a:prstGeom>
          <a:noFill/>
          <a:ln/>
        </p:spPr>
        <p:txBody>
          <a:bodyPr wrap="square" rtlCol="0"/>
          <a:lstStyle>
            <a:lvl1pPr marL="0" indent="0" algn="l">
              <a:buNone/>
              <a:defRPr lang="en-US" sz="4400" b="1" dirty="0">
                <a:solidFill>
                  <a:schemeClr val="bg1"/>
                </a:solidFill>
                <a:latin typeface="Arial" pitchFamily="34" charset="0"/>
                <a:ea typeface="Arial" pitchFamily="34" charset="-122"/>
                <a:cs typeface="Arial"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611880"/>
            <a:ext cx="10515600" cy="914400"/>
          </a:xfrm>
          <a:prstGeom prst="rect">
            <a:avLst/>
          </a:prstGeom>
          <a:noFill/>
          <a:ln/>
        </p:spPr>
        <p:txBody>
          <a:bodyPr wrap="square" rtlCol="0"/>
          <a:lstStyle>
            <a:lvl1pPr marL="0" indent="0">
              <a:buNone/>
              <a:defRPr lang="en-US" sz="2000" dirty="0">
                <a:solidFill>
                  <a:schemeClr val="accent1"/>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743200"/>
            <a:ext cx="10515600" cy="1097280"/>
          </a:xfrm>
          <a:prstGeom prst="rect">
            <a:avLst/>
          </a:prstGeom>
          <a:noFill/>
          <a:ln/>
        </p:spPr>
        <p:txBody>
          <a:bodyPr wrap="square" rtlCol="0"/>
          <a:lstStyle>
            <a:lvl1pPr marL="0" indent="0" algn="l">
              <a:buNone/>
              <a:defRPr lang="en-US" sz="4000" b="1" dirty="0">
                <a:solidFill>
                  <a:schemeClr val="bg1"/>
                </a:solidFill>
                <a:latin typeface="Arial" pitchFamily="34" charset="0"/>
                <a:ea typeface="Arial" pitchFamily="34" charset="-122"/>
                <a:cs typeface="Arial" pitchFamily="34" charset="-120"/>
              </a:defRPr>
            </a:lvl1pPr>
          </a:lstStyle>
          <a:p>
            <a:pPr marL="0" indent="0" algn="l">
              <a:buNone/>
            </a:pPr>
            <a:endParaRPr lang="en-US" sz="4000" dirty="0"/>
          </a:p>
        </p:txBody>
      </p:sp>
      <p:sp>
        <p:nvSpPr>
          <p:cNvPr id="3" name="Text 0"/>
          <p:cNvSpPr>
            <a:spLocks noGrp="1"/>
          </p:cNvSpPr>
          <p:nvPr>
            <p:ph type="body" idx="101" hasCustomPrompt="1"/>
          </p:nvPr>
        </p:nvSpPr>
        <p:spPr>
          <a:xfrm>
            <a:off x="731520" y="3886200"/>
            <a:ext cx="10515600" cy="822960"/>
          </a:xfrm>
          <a:prstGeom prst="rect">
            <a:avLst/>
          </a:prstGeom>
          <a:noFill/>
          <a:ln/>
        </p:spPr>
        <p:txBody>
          <a:bodyPr wrap="square" rtlCol="0"/>
          <a:lstStyle>
            <a:lvl1pPr marL="0" indent="0">
              <a:buNone/>
              <a:defRPr lang="en-US" sz="1800" dirty="0">
                <a:solidFill>
                  <a:schemeClr val="accent5"/>
                </a:solidFill>
              </a:defRPr>
            </a:lvl1pPr>
          </a:lstStyle>
          <a:p>
            <a:pPr marL="0" indent="0">
              <a:buNone/>
            </a:pPr>
            <a:endParaRPr lang="en-US" sz="1800" dirty="0"/>
          </a:p>
        </p:txBody>
      </p:sp>
      <p:sp>
        <p:nvSpPr>
          <p:cNvPr id="25" name="Slide Number Placeholder 0"/>
          <p:cNvSpPr>
            <a:spLocks noGrp="1"/>
          </p:cNvSpPr>
          <p:nvPr>
            <p:ph type="sldNum" sz="quarter" idx="4294967295"/>
          </p:nvPr>
        </p:nvSpPr>
        <p:spPr>
          <a:xfrm>
            <a:off x="11155680" y="635508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rtlCol="0"/>
          <a:lstStyle>
            <a:lvl1pPr marL="0" indent="0" algn="l">
              <a:buNone/>
              <a:defRPr lang="en-US" sz="3000" b="1" dirty="0">
                <a:solidFill>
                  <a:schemeClr val="tx1"/>
                </a:solidFill>
                <a:latin typeface="Arial" pitchFamily="34" charset="0"/>
                <a:ea typeface="Arial" pitchFamily="34" charset="-122"/>
                <a:cs typeface="Arial" pitchFamily="34" charset="-120"/>
              </a:defRPr>
            </a:lvl1pPr>
          </a:lstStyle>
          <a:p>
            <a:pPr marL="0" indent="0" algn="l">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Sécurisation de l'Enterprise-D · Projet SecuEnterprise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ISSION">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08760" y="320040"/>
            <a:ext cx="10104120" cy="685800"/>
          </a:xfrm>
          <a:prstGeom prst="rect">
            <a:avLst/>
          </a:prstGeom>
          <a:noFill/>
          <a:ln/>
        </p:spPr>
        <p:txBody>
          <a:bodyPr wrap="square" rtlCol="0"/>
          <a:lstStyle>
            <a:lvl1pPr marL="0" indent="0" algn="l">
              <a:buNone/>
              <a:defRPr lang="en-US" sz="3000" b="1" dirty="0">
                <a:solidFill>
                  <a:schemeClr val="tx1"/>
                </a:solidFill>
                <a:latin typeface="Arial" pitchFamily="34" charset="0"/>
                <a:ea typeface="Arial" pitchFamily="34" charset="-122"/>
                <a:cs typeface="Arial" pitchFamily="34" charset="-120"/>
              </a:defRPr>
            </a:lvl1pPr>
          </a:lstStyle>
          <a:p>
            <a:pPr marL="0" indent="0" algn="l">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Sécurisation de l'Enterprise-D · Projet SecuEnterprise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5.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5.xml"/><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5.xml"/><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2.xml"/><Relationship Id="rId1" Type="http://schemas.openxmlformats.org/officeDocument/2006/relationships/slideLayout" Target="../slideLayouts/slideLayout4.xml"/><Relationship Id="rId5" Type="http://schemas.openxmlformats.org/officeDocument/2006/relationships/image" Target="../media/image43.png"/><Relationship Id="rId4" Type="http://schemas.openxmlformats.org/officeDocument/2006/relationships/image" Target="../media/image42.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515600" cy="1463040"/>
          </a:xfrm>
          <a:prstGeom prst="rect">
            <a:avLst/>
          </a:prstGeom>
          <a:noFill/>
          <a:ln/>
        </p:spPr>
        <p:txBody>
          <a:bodyPr wrap="square" lIns="0" tIns="0" rIns="0" bIns="0" rtlCol="0" anchor="b"/>
          <a:lstStyle/>
          <a:p>
            <a:pPr marL="0" indent="0" algn="l">
              <a:buNone/>
            </a:pPr>
            <a:r>
              <a:rPr lang="en-US" sz="4400" b="1" dirty="0">
                <a:solidFill>
                  <a:schemeClr val="bg1"/>
                </a:solidFill>
                <a:latin typeface="Arial" pitchFamily="34" charset="0"/>
                <a:ea typeface="Arial" pitchFamily="34" charset="-122"/>
                <a:cs typeface="Arial" pitchFamily="34" charset="-120"/>
              </a:rPr>
              <a:t>Sécurisation de l'Enterprise-D</a:t>
            </a:r>
            <a:endParaRPr lang="en-US" sz="4400" dirty="0"/>
          </a:p>
        </p:txBody>
      </p:sp>
      <p:sp>
        <p:nvSpPr>
          <p:cNvPr id="3" name="Text 0"/>
          <p:cNvSpPr>
            <a:spLocks noGrp="1"/>
          </p:cNvSpPr>
          <p:nvPr>
            <p:ph type="body" idx="101" hasCustomPrompt="1"/>
          </p:nvPr>
        </p:nvSpPr>
        <p:spPr>
          <a:xfrm>
            <a:off x="731520" y="3611880"/>
            <a:ext cx="10515600" cy="914400"/>
          </a:xfrm>
          <a:prstGeom prst="rect">
            <a:avLst/>
          </a:prstGeom>
          <a:noFill/>
          <a:ln/>
        </p:spPr>
        <p:txBody>
          <a:bodyPr wrap="square" lIns="0" tIns="0" rIns="0" bIns="0" rtlCol="0" anchor="t"/>
          <a:lstStyle/>
          <a:p>
            <a:pPr marL="0" indent="0">
              <a:buNone/>
            </a:pPr>
            <a:r>
              <a:rPr lang="en-US" sz="2000" dirty="0">
                <a:solidFill>
                  <a:schemeClr val="accent1"/>
                </a:solidFill>
              </a:rPr>
              <a:t>Supervision, détection et réponse à incident — Missions 01 à 09</a:t>
            </a:r>
            <a:endParaRPr lang="en-US" sz="2000" dirty="0"/>
          </a:p>
        </p:txBody>
      </p:sp>
      <p:sp>
        <p:nvSpPr>
          <p:cNvPr id="4" name="auteur"/>
          <p:cNvSpPr txBox="1"/>
          <p:nvPr/>
        </p:nvSpPr>
        <p:spPr>
          <a:xfrm>
            <a:off x="731520" y="5120640"/>
            <a:ext cx="7315200" cy="731520"/>
          </a:xfrm>
          <a:prstGeom prst="rect">
            <a:avLst/>
          </a:prstGeom>
          <a:noFill/>
          <a:ln/>
        </p:spPr>
        <p:txBody>
          <a:bodyPr wrap="square" lIns="0" tIns="0" rIns="0" bIns="0" rtlCol="0" anchor="ctr"/>
          <a:lstStyle/>
          <a:p>
            <a:pPr marL="0" indent="0">
              <a:buNone/>
            </a:pPr>
            <a:r>
              <a:rPr lang="en-US" sz="1600" b="1" dirty="0">
                <a:solidFill>
                  <a:schemeClr val="bg1"/>
                </a:solidFill>
              </a:rPr>
              <a:t>Quentin</a:t>
            </a:r>
            <a:endParaRPr lang="en-US" sz="1600" dirty="0"/>
          </a:p>
          <a:p>
            <a:pPr marL="0" indent="0">
              <a:buNone/>
            </a:pPr>
            <a:r>
              <a:rPr lang="en-US" sz="1600" dirty="0">
                <a:solidFill>
                  <a:schemeClr val="accent5"/>
                </a:solidFill>
              </a:rPr>
              <a:t>Bachelor Cybersécurité </a:t>
            </a:r>
            <a:r>
              <a:rPr lang="en-US" sz="1600">
                <a:solidFill>
                  <a:schemeClr val="accent5"/>
                </a:solidFill>
              </a:rPr>
              <a:t>· 3ᵉ </a:t>
            </a:r>
            <a:r>
              <a:rPr lang="en-US" sz="1600" dirty="0">
                <a:solidFill>
                  <a:schemeClr val="accent5"/>
                </a:solidFill>
              </a:rPr>
              <a:t>année · Projet SecuEnterprise</a:t>
            </a:r>
            <a:endParaRPr lang="en-US" sz="1600" dirty="0"/>
          </a:p>
        </p:txBody>
      </p:sp>
      <p:sp>
        <p:nvSpPr>
          <p:cNvPr id="5" name="chip-1"/>
          <p:cNvSpPr/>
          <p:nvPr/>
        </p:nvSpPr>
        <p:spPr>
          <a:xfrm>
            <a:off x="731520" y="1097280"/>
            <a:ext cx="804672" cy="347472"/>
          </a:xfrm>
          <a:prstGeom prst="roundRect">
            <a:avLst>
              <a:gd name="adj" fmla="val 50000"/>
            </a:avLst>
          </a:prstGeom>
          <a:solidFill>
            <a:schemeClr val="tx2"/>
          </a:solidFill>
          <a:ln w="12700">
            <a:solidFill>
              <a:schemeClr val="accent2"/>
            </a:solidFill>
            <a:prstDash val="solid"/>
          </a:ln>
        </p:spPr>
        <p:txBody>
          <a:bodyPr/>
          <a:lstStyle/>
          <a:p>
            <a:endParaRPr lang="fr-FR"/>
          </a:p>
        </p:txBody>
      </p:sp>
      <p:sp>
        <p:nvSpPr>
          <p:cNvPr id="6" name="chip-t-2"/>
          <p:cNvSpPr txBox="1"/>
          <p:nvPr/>
        </p:nvSpPr>
        <p:spPr>
          <a:xfrm>
            <a:off x="731520" y="1097280"/>
            <a:ext cx="804672" cy="347472"/>
          </a:xfrm>
          <a:prstGeom prst="rect">
            <a:avLst/>
          </a:prstGeom>
          <a:noFill/>
          <a:ln/>
        </p:spPr>
        <p:txBody>
          <a:bodyPr wrap="square" lIns="0" tIns="0" rIns="0" bIns="0" rtlCol="0" anchor="ctr"/>
          <a:lstStyle/>
          <a:p>
            <a:pPr marL="0" indent="0" algn="ctr">
              <a:buNone/>
            </a:pPr>
            <a:r>
              <a:rPr lang="en-US" sz="1200" dirty="0">
                <a:solidFill>
                  <a:schemeClr val="accent2"/>
                </a:solidFill>
              </a:rPr>
              <a:t>Zabbix</a:t>
            </a:r>
            <a:endParaRPr lang="en-US" sz="1200" dirty="0"/>
          </a:p>
        </p:txBody>
      </p:sp>
      <p:sp>
        <p:nvSpPr>
          <p:cNvPr id="7" name="chip-3"/>
          <p:cNvSpPr/>
          <p:nvPr/>
        </p:nvSpPr>
        <p:spPr>
          <a:xfrm>
            <a:off x="1673352" y="1097280"/>
            <a:ext cx="1207008" cy="347472"/>
          </a:xfrm>
          <a:prstGeom prst="roundRect">
            <a:avLst>
              <a:gd name="adj" fmla="val 50000"/>
            </a:avLst>
          </a:prstGeom>
          <a:solidFill>
            <a:schemeClr val="tx2"/>
          </a:solidFill>
          <a:ln w="12700">
            <a:solidFill>
              <a:schemeClr val="accent2"/>
            </a:solidFill>
            <a:prstDash val="solid"/>
          </a:ln>
        </p:spPr>
        <p:txBody>
          <a:bodyPr/>
          <a:lstStyle/>
          <a:p>
            <a:endParaRPr lang="fr-FR"/>
          </a:p>
        </p:txBody>
      </p:sp>
      <p:sp>
        <p:nvSpPr>
          <p:cNvPr id="8" name="chip-t-4"/>
          <p:cNvSpPr txBox="1"/>
          <p:nvPr/>
        </p:nvSpPr>
        <p:spPr>
          <a:xfrm>
            <a:off x="1673352" y="1097280"/>
            <a:ext cx="1207008" cy="347472"/>
          </a:xfrm>
          <a:prstGeom prst="rect">
            <a:avLst/>
          </a:prstGeom>
          <a:noFill/>
          <a:ln/>
        </p:spPr>
        <p:txBody>
          <a:bodyPr wrap="square" lIns="0" tIns="0" rIns="0" bIns="0" rtlCol="0" anchor="ctr"/>
          <a:lstStyle/>
          <a:p>
            <a:pPr marL="0" indent="0" algn="ctr">
              <a:buNone/>
            </a:pPr>
            <a:r>
              <a:rPr lang="en-US" sz="1200" dirty="0">
                <a:solidFill>
                  <a:schemeClr val="accent2"/>
                </a:solidFill>
              </a:rPr>
              <a:t>Prometheus</a:t>
            </a:r>
            <a:endParaRPr lang="en-US" sz="1200" dirty="0"/>
          </a:p>
        </p:txBody>
      </p:sp>
      <p:sp>
        <p:nvSpPr>
          <p:cNvPr id="9" name="chip-5"/>
          <p:cNvSpPr/>
          <p:nvPr/>
        </p:nvSpPr>
        <p:spPr>
          <a:xfrm>
            <a:off x="3017520" y="1097280"/>
            <a:ext cx="905256" cy="347472"/>
          </a:xfrm>
          <a:prstGeom prst="roundRect">
            <a:avLst>
              <a:gd name="adj" fmla="val 50000"/>
            </a:avLst>
          </a:prstGeom>
          <a:solidFill>
            <a:schemeClr val="tx2"/>
          </a:solidFill>
          <a:ln w="12700">
            <a:solidFill>
              <a:schemeClr val="accent2"/>
            </a:solidFill>
            <a:prstDash val="solid"/>
          </a:ln>
        </p:spPr>
        <p:txBody>
          <a:bodyPr/>
          <a:lstStyle/>
          <a:p>
            <a:endParaRPr lang="fr-FR"/>
          </a:p>
        </p:txBody>
      </p:sp>
      <p:sp>
        <p:nvSpPr>
          <p:cNvPr id="10" name="chip-t-6"/>
          <p:cNvSpPr txBox="1"/>
          <p:nvPr/>
        </p:nvSpPr>
        <p:spPr>
          <a:xfrm>
            <a:off x="3017520" y="1097280"/>
            <a:ext cx="905256" cy="347472"/>
          </a:xfrm>
          <a:prstGeom prst="rect">
            <a:avLst/>
          </a:prstGeom>
          <a:noFill/>
          <a:ln/>
        </p:spPr>
        <p:txBody>
          <a:bodyPr wrap="square" lIns="0" tIns="0" rIns="0" bIns="0" rtlCol="0" anchor="ctr"/>
          <a:lstStyle/>
          <a:p>
            <a:pPr marL="0" indent="0" algn="ctr">
              <a:buNone/>
            </a:pPr>
            <a:r>
              <a:rPr lang="en-US" sz="1200" dirty="0">
                <a:solidFill>
                  <a:schemeClr val="accent2"/>
                </a:solidFill>
              </a:rPr>
              <a:t>Grafana</a:t>
            </a:r>
            <a:endParaRPr lang="en-US" sz="1200" dirty="0"/>
          </a:p>
        </p:txBody>
      </p:sp>
      <p:sp>
        <p:nvSpPr>
          <p:cNvPr id="11" name="chip-7"/>
          <p:cNvSpPr/>
          <p:nvPr/>
        </p:nvSpPr>
        <p:spPr>
          <a:xfrm>
            <a:off x="4059936" y="1097280"/>
            <a:ext cx="502920" cy="347472"/>
          </a:xfrm>
          <a:prstGeom prst="roundRect">
            <a:avLst>
              <a:gd name="adj" fmla="val 50000"/>
            </a:avLst>
          </a:prstGeom>
          <a:solidFill>
            <a:schemeClr val="tx2"/>
          </a:solidFill>
          <a:ln w="12700">
            <a:solidFill>
              <a:schemeClr val="accent2"/>
            </a:solidFill>
            <a:prstDash val="solid"/>
          </a:ln>
        </p:spPr>
        <p:txBody>
          <a:bodyPr/>
          <a:lstStyle/>
          <a:p>
            <a:endParaRPr lang="fr-FR"/>
          </a:p>
        </p:txBody>
      </p:sp>
      <p:sp>
        <p:nvSpPr>
          <p:cNvPr id="12" name="chip-t-8"/>
          <p:cNvSpPr txBox="1"/>
          <p:nvPr/>
        </p:nvSpPr>
        <p:spPr>
          <a:xfrm>
            <a:off x="4059936" y="1097280"/>
            <a:ext cx="502920" cy="347472"/>
          </a:xfrm>
          <a:prstGeom prst="rect">
            <a:avLst/>
          </a:prstGeom>
          <a:noFill/>
          <a:ln/>
        </p:spPr>
        <p:txBody>
          <a:bodyPr wrap="square" lIns="0" tIns="0" rIns="0" bIns="0" rtlCol="0" anchor="ctr"/>
          <a:lstStyle/>
          <a:p>
            <a:pPr marL="0" indent="0" algn="ctr">
              <a:buNone/>
            </a:pPr>
            <a:r>
              <a:rPr lang="en-US" sz="1200" dirty="0">
                <a:solidFill>
                  <a:schemeClr val="accent2"/>
                </a:solidFill>
              </a:rPr>
              <a:t>ELK</a:t>
            </a:r>
            <a:endParaRPr lang="en-US" sz="1200" dirty="0"/>
          </a:p>
        </p:txBody>
      </p:sp>
      <p:sp>
        <p:nvSpPr>
          <p:cNvPr id="13" name="chip-9"/>
          <p:cNvSpPr/>
          <p:nvPr/>
        </p:nvSpPr>
        <p:spPr>
          <a:xfrm>
            <a:off x="4700016" y="1097280"/>
            <a:ext cx="1106424" cy="347472"/>
          </a:xfrm>
          <a:prstGeom prst="roundRect">
            <a:avLst>
              <a:gd name="adj" fmla="val 50000"/>
            </a:avLst>
          </a:prstGeom>
          <a:solidFill>
            <a:schemeClr val="tx2"/>
          </a:solidFill>
          <a:ln w="12700">
            <a:solidFill>
              <a:schemeClr val="accent2"/>
            </a:solidFill>
            <a:prstDash val="solid"/>
          </a:ln>
        </p:spPr>
        <p:txBody>
          <a:bodyPr/>
          <a:lstStyle/>
          <a:p>
            <a:endParaRPr lang="fr-FR"/>
          </a:p>
        </p:txBody>
      </p:sp>
      <p:sp>
        <p:nvSpPr>
          <p:cNvPr id="14" name="chip-t-10"/>
          <p:cNvSpPr txBox="1"/>
          <p:nvPr/>
        </p:nvSpPr>
        <p:spPr>
          <a:xfrm>
            <a:off x="4700016" y="1097280"/>
            <a:ext cx="1106424" cy="347472"/>
          </a:xfrm>
          <a:prstGeom prst="rect">
            <a:avLst/>
          </a:prstGeom>
          <a:noFill/>
          <a:ln/>
        </p:spPr>
        <p:txBody>
          <a:bodyPr wrap="square" lIns="0" tIns="0" rIns="0" bIns="0" rtlCol="0" anchor="ctr"/>
          <a:lstStyle/>
          <a:p>
            <a:pPr marL="0" indent="0" algn="ctr">
              <a:buNone/>
            </a:pPr>
            <a:r>
              <a:rPr lang="en-US" sz="1200" dirty="0">
                <a:solidFill>
                  <a:schemeClr val="accent2"/>
                </a:solidFill>
              </a:rPr>
              <a:t>Wireshark</a:t>
            </a:r>
            <a:endParaRPr lang="en-US" sz="1200" dirty="0"/>
          </a:p>
        </p:txBody>
      </p:sp>
      <p:sp>
        <p:nvSpPr>
          <p:cNvPr id="15" name="chip-11"/>
          <p:cNvSpPr/>
          <p:nvPr/>
        </p:nvSpPr>
        <p:spPr>
          <a:xfrm>
            <a:off x="5943600" y="1097280"/>
            <a:ext cx="905256" cy="347472"/>
          </a:xfrm>
          <a:prstGeom prst="roundRect">
            <a:avLst>
              <a:gd name="adj" fmla="val 50000"/>
            </a:avLst>
          </a:prstGeom>
          <a:solidFill>
            <a:schemeClr val="tx2"/>
          </a:solidFill>
          <a:ln w="12700">
            <a:solidFill>
              <a:schemeClr val="accent2"/>
            </a:solidFill>
            <a:prstDash val="solid"/>
          </a:ln>
        </p:spPr>
        <p:txBody>
          <a:bodyPr/>
          <a:lstStyle/>
          <a:p>
            <a:endParaRPr lang="fr-FR"/>
          </a:p>
        </p:txBody>
      </p:sp>
      <p:sp>
        <p:nvSpPr>
          <p:cNvPr id="16" name="chip-t-12"/>
          <p:cNvSpPr txBox="1"/>
          <p:nvPr/>
        </p:nvSpPr>
        <p:spPr>
          <a:xfrm>
            <a:off x="5943600" y="1097280"/>
            <a:ext cx="905256" cy="347472"/>
          </a:xfrm>
          <a:prstGeom prst="rect">
            <a:avLst/>
          </a:prstGeom>
          <a:noFill/>
          <a:ln/>
        </p:spPr>
        <p:txBody>
          <a:bodyPr wrap="square" lIns="0" tIns="0" rIns="0" bIns="0" rtlCol="0" anchor="ctr"/>
          <a:lstStyle/>
          <a:p>
            <a:pPr marL="0" indent="0" algn="ctr">
              <a:buNone/>
            </a:pPr>
            <a:r>
              <a:rPr lang="en-US" sz="1200" dirty="0">
                <a:solidFill>
                  <a:schemeClr val="accent2"/>
                </a:solidFill>
              </a:rPr>
              <a:t>TheHive</a:t>
            </a:r>
            <a:endParaRPr lang="en-US" sz="1200" dirty="0"/>
          </a:p>
        </p:txBody>
      </p:sp>
      <p:sp>
        <p:nvSpPr>
          <p:cNvPr id="17" name="chip-13"/>
          <p:cNvSpPr/>
          <p:nvPr/>
        </p:nvSpPr>
        <p:spPr>
          <a:xfrm>
            <a:off x="6986016" y="1097280"/>
            <a:ext cx="603504" cy="347472"/>
          </a:xfrm>
          <a:prstGeom prst="roundRect">
            <a:avLst>
              <a:gd name="adj" fmla="val 50000"/>
            </a:avLst>
          </a:prstGeom>
          <a:solidFill>
            <a:schemeClr val="tx2"/>
          </a:solidFill>
          <a:ln w="12700">
            <a:solidFill>
              <a:schemeClr val="accent2"/>
            </a:solidFill>
            <a:prstDash val="solid"/>
          </a:ln>
        </p:spPr>
        <p:txBody>
          <a:bodyPr/>
          <a:lstStyle/>
          <a:p>
            <a:endParaRPr lang="fr-FR"/>
          </a:p>
        </p:txBody>
      </p:sp>
      <p:sp>
        <p:nvSpPr>
          <p:cNvPr id="18" name="chip-t-14"/>
          <p:cNvSpPr txBox="1"/>
          <p:nvPr/>
        </p:nvSpPr>
        <p:spPr>
          <a:xfrm>
            <a:off x="6986016" y="1097280"/>
            <a:ext cx="603504" cy="347472"/>
          </a:xfrm>
          <a:prstGeom prst="rect">
            <a:avLst/>
          </a:prstGeom>
          <a:noFill/>
          <a:ln/>
        </p:spPr>
        <p:txBody>
          <a:bodyPr wrap="square" lIns="0" tIns="0" rIns="0" bIns="0" rtlCol="0" anchor="ctr"/>
          <a:lstStyle/>
          <a:p>
            <a:pPr marL="0" indent="0" algn="ctr">
              <a:buNone/>
            </a:pPr>
            <a:r>
              <a:rPr lang="en-US" sz="1200" dirty="0">
                <a:solidFill>
                  <a:schemeClr val="accent2"/>
                </a:solidFill>
              </a:rPr>
              <a:t>MISP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Ordre de mission : protéger le vaisseau et son équipage</a:t>
            </a:r>
            <a:endParaRPr lang="en-US" sz="3000" dirty="0"/>
          </a:p>
        </p:txBody>
      </p:sp>
      <p:sp>
        <p:nvSpPr>
          <p:cNvPr id="3" name="obj-15"/>
          <p:cNvSpPr/>
          <p:nvPr/>
        </p:nvSpPr>
        <p:spPr>
          <a:xfrm>
            <a:off x="548640" y="1417320"/>
            <a:ext cx="2606040" cy="3291840"/>
          </a:xfrm>
          <a:prstGeom prst="roundRect">
            <a:avLst>
              <a:gd name="adj" fmla="val 2807"/>
            </a:avLst>
          </a:prstGeom>
          <a:solidFill>
            <a:schemeClr val="bg2"/>
          </a:solidFill>
          <a:ln w="9525">
            <a:solidFill>
              <a:srgbClr val="D6DEEA"/>
            </a:solidFill>
            <a:prstDash val="solid"/>
          </a:ln>
        </p:spPr>
        <p:txBody>
          <a:bodyPr/>
          <a:lstStyle/>
          <a:p>
            <a:endParaRPr lang="fr-FR"/>
          </a:p>
        </p:txBody>
      </p:sp>
      <p:sp>
        <p:nvSpPr>
          <p:cNvPr id="4" name="obj-dot-16"/>
          <p:cNvSpPr/>
          <p:nvPr/>
        </p:nvSpPr>
        <p:spPr>
          <a:xfrm>
            <a:off x="777240" y="1691640"/>
            <a:ext cx="566928" cy="566928"/>
          </a:xfrm>
          <a:prstGeom prst="ellipse">
            <a:avLst/>
          </a:prstGeom>
          <a:solidFill>
            <a:schemeClr val="accent2"/>
          </a:solidFill>
          <a:ln w="12700">
            <a:solidFill>
              <a:schemeClr val="accent2"/>
            </a:solidFill>
            <a:prstDash val="solid"/>
          </a:ln>
        </p:spPr>
        <p:txBody>
          <a:bodyPr/>
          <a:lstStyle/>
          <a:p>
            <a:endParaRPr lang="fr-FR"/>
          </a:p>
        </p:txBody>
      </p:sp>
      <p:sp>
        <p:nvSpPr>
          <p:cNvPr id="5" name="obj-n-17"/>
          <p:cNvSpPr txBox="1"/>
          <p:nvPr/>
        </p:nvSpPr>
        <p:spPr>
          <a:xfrm>
            <a:off x="777240" y="1691640"/>
            <a:ext cx="566928" cy="566928"/>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6" name="obj-t-18"/>
          <p:cNvSpPr txBox="1"/>
          <p:nvPr/>
        </p:nvSpPr>
        <p:spPr>
          <a:xfrm>
            <a:off x="777240" y="2423160"/>
            <a:ext cx="2148840" cy="411480"/>
          </a:xfrm>
          <a:prstGeom prst="rect">
            <a:avLst/>
          </a:prstGeom>
          <a:noFill/>
          <a:ln/>
        </p:spPr>
        <p:txBody>
          <a:bodyPr wrap="square" lIns="0" tIns="0" rIns="0" bIns="0" rtlCol="0" anchor="ctr"/>
          <a:lstStyle/>
          <a:p>
            <a:pPr marL="0" indent="0">
              <a:buNone/>
            </a:pPr>
            <a:r>
              <a:rPr lang="en-US" sz="2000" b="1" dirty="0">
                <a:solidFill>
                  <a:schemeClr val="tx1"/>
                </a:solidFill>
              </a:rPr>
              <a:t>Superviser</a:t>
            </a:r>
            <a:endParaRPr lang="en-US" sz="2000" dirty="0"/>
          </a:p>
        </p:txBody>
      </p:sp>
      <p:sp>
        <p:nvSpPr>
          <p:cNvPr id="7" name="obj-b-19"/>
          <p:cNvSpPr txBox="1"/>
          <p:nvPr/>
        </p:nvSpPr>
        <p:spPr>
          <a:xfrm>
            <a:off x="777240" y="2880360"/>
            <a:ext cx="2148840" cy="1280160"/>
          </a:xfrm>
          <a:prstGeom prst="rect">
            <a:avLst/>
          </a:prstGeom>
          <a:noFill/>
          <a:ln/>
        </p:spPr>
        <p:txBody>
          <a:bodyPr wrap="square" lIns="0" tIns="0" rIns="0" bIns="0" rtlCol="0" anchor="t"/>
          <a:lstStyle/>
          <a:p>
            <a:pPr marL="0" indent="0">
              <a:buNone/>
            </a:pPr>
            <a:r>
              <a:rPr lang="en-US" sz="1400" dirty="0">
                <a:solidFill>
                  <a:schemeClr val="tx1"/>
                </a:solidFill>
              </a:rPr>
              <a:t>Zabbix, Prometheus et Grafana collectent CPU, RAM et disque des systèmes du vaisseau</a:t>
            </a:r>
            <a:endParaRPr lang="en-US" sz="1400" dirty="0"/>
          </a:p>
        </p:txBody>
      </p:sp>
      <p:sp>
        <p:nvSpPr>
          <p:cNvPr id="8" name="obj-m-20"/>
          <p:cNvSpPr txBox="1"/>
          <p:nvPr/>
        </p:nvSpPr>
        <p:spPr>
          <a:xfrm>
            <a:off x="777240" y="4233672"/>
            <a:ext cx="2148840" cy="274320"/>
          </a:xfrm>
          <a:prstGeom prst="rect">
            <a:avLst/>
          </a:prstGeom>
          <a:noFill/>
          <a:ln/>
        </p:spPr>
        <p:txBody>
          <a:bodyPr wrap="square" lIns="0" tIns="0" rIns="0" bIns="0" rtlCol="0" anchor="ctr"/>
          <a:lstStyle/>
          <a:p>
            <a:pPr marL="0" indent="0">
              <a:buNone/>
            </a:pPr>
            <a:r>
              <a:rPr lang="en-US" sz="1200" b="1" dirty="0">
                <a:solidFill>
                  <a:schemeClr val="accent2"/>
                </a:solidFill>
              </a:rPr>
              <a:t>Missions 01 → 03</a:t>
            </a:r>
            <a:endParaRPr lang="en-US" sz="1200" dirty="0"/>
          </a:p>
        </p:txBody>
      </p:sp>
      <p:sp>
        <p:nvSpPr>
          <p:cNvPr id="9" name="obj-21"/>
          <p:cNvSpPr/>
          <p:nvPr/>
        </p:nvSpPr>
        <p:spPr>
          <a:xfrm>
            <a:off x="3364992" y="1417320"/>
            <a:ext cx="2606040" cy="3291840"/>
          </a:xfrm>
          <a:prstGeom prst="roundRect">
            <a:avLst>
              <a:gd name="adj" fmla="val 2807"/>
            </a:avLst>
          </a:prstGeom>
          <a:solidFill>
            <a:schemeClr val="bg2"/>
          </a:solidFill>
          <a:ln w="9525">
            <a:solidFill>
              <a:srgbClr val="D6DEEA"/>
            </a:solidFill>
            <a:prstDash val="solid"/>
          </a:ln>
        </p:spPr>
        <p:txBody>
          <a:bodyPr/>
          <a:lstStyle/>
          <a:p>
            <a:endParaRPr lang="fr-FR"/>
          </a:p>
        </p:txBody>
      </p:sp>
      <p:sp>
        <p:nvSpPr>
          <p:cNvPr id="10" name="obj-dot-22"/>
          <p:cNvSpPr/>
          <p:nvPr/>
        </p:nvSpPr>
        <p:spPr>
          <a:xfrm>
            <a:off x="3593592" y="1691640"/>
            <a:ext cx="566928" cy="566928"/>
          </a:xfrm>
          <a:prstGeom prst="ellipse">
            <a:avLst/>
          </a:prstGeom>
          <a:solidFill>
            <a:schemeClr val="accent1"/>
          </a:solidFill>
          <a:ln w="12700">
            <a:solidFill>
              <a:schemeClr val="accent1"/>
            </a:solidFill>
            <a:prstDash val="solid"/>
          </a:ln>
        </p:spPr>
        <p:txBody>
          <a:bodyPr/>
          <a:lstStyle/>
          <a:p>
            <a:endParaRPr lang="fr-FR"/>
          </a:p>
        </p:txBody>
      </p:sp>
      <p:sp>
        <p:nvSpPr>
          <p:cNvPr id="11" name="obj-n-23"/>
          <p:cNvSpPr txBox="1"/>
          <p:nvPr/>
        </p:nvSpPr>
        <p:spPr>
          <a:xfrm>
            <a:off x="3593592" y="1691640"/>
            <a:ext cx="566928" cy="566928"/>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12" name="obj-t-24"/>
          <p:cNvSpPr txBox="1"/>
          <p:nvPr/>
        </p:nvSpPr>
        <p:spPr>
          <a:xfrm>
            <a:off x="3593592" y="2423160"/>
            <a:ext cx="2148840" cy="411480"/>
          </a:xfrm>
          <a:prstGeom prst="rect">
            <a:avLst/>
          </a:prstGeom>
          <a:noFill/>
          <a:ln/>
        </p:spPr>
        <p:txBody>
          <a:bodyPr wrap="square" lIns="0" tIns="0" rIns="0" bIns="0" rtlCol="0" anchor="ctr"/>
          <a:lstStyle/>
          <a:p>
            <a:pPr marL="0" indent="0">
              <a:buNone/>
            </a:pPr>
            <a:r>
              <a:rPr lang="en-US" sz="2000" b="1" dirty="0">
                <a:solidFill>
                  <a:schemeClr val="tx1"/>
                </a:solidFill>
              </a:rPr>
              <a:t>Alerter</a:t>
            </a:r>
            <a:endParaRPr lang="en-US" sz="2000" dirty="0"/>
          </a:p>
        </p:txBody>
      </p:sp>
      <p:sp>
        <p:nvSpPr>
          <p:cNvPr id="13" name="obj-b-25"/>
          <p:cNvSpPr txBox="1"/>
          <p:nvPr/>
        </p:nvSpPr>
        <p:spPr>
          <a:xfrm>
            <a:off x="3593592" y="2880360"/>
            <a:ext cx="2148840" cy="1280160"/>
          </a:xfrm>
          <a:prstGeom prst="rect">
            <a:avLst/>
          </a:prstGeom>
          <a:noFill/>
          <a:ln/>
        </p:spPr>
        <p:txBody>
          <a:bodyPr wrap="square" lIns="0" tIns="0" rIns="0" bIns="0" rtlCol="0" anchor="t"/>
          <a:lstStyle/>
          <a:p>
            <a:pPr marL="0" indent="0">
              <a:buNone/>
            </a:pPr>
            <a:r>
              <a:rPr lang="en-US" sz="1400" dirty="0">
                <a:solidFill>
                  <a:schemeClr val="tx1"/>
                </a:solidFill>
              </a:rPr>
              <a:t>Déclencheurs Zabbix et Watcher Elasticsearch détectent les anomalies sans intervention humaine</a:t>
            </a:r>
            <a:endParaRPr lang="en-US" sz="1400" dirty="0"/>
          </a:p>
        </p:txBody>
      </p:sp>
      <p:sp>
        <p:nvSpPr>
          <p:cNvPr id="14" name="obj-m-26"/>
          <p:cNvSpPr txBox="1"/>
          <p:nvPr/>
        </p:nvSpPr>
        <p:spPr>
          <a:xfrm>
            <a:off x="3593592" y="4233672"/>
            <a:ext cx="2148840" cy="274320"/>
          </a:xfrm>
          <a:prstGeom prst="rect">
            <a:avLst/>
          </a:prstGeom>
          <a:noFill/>
          <a:ln/>
        </p:spPr>
        <p:txBody>
          <a:bodyPr wrap="square" lIns="0" tIns="0" rIns="0" bIns="0" rtlCol="0" anchor="ctr"/>
          <a:lstStyle/>
          <a:p>
            <a:pPr marL="0" indent="0">
              <a:buNone/>
            </a:pPr>
            <a:r>
              <a:rPr lang="en-US" sz="1200" b="1" dirty="0">
                <a:solidFill>
                  <a:schemeClr val="accent1"/>
                </a:solidFill>
              </a:rPr>
              <a:t>Missions 04 → 05</a:t>
            </a:r>
            <a:endParaRPr lang="en-US" sz="1200" dirty="0"/>
          </a:p>
        </p:txBody>
      </p:sp>
      <p:sp>
        <p:nvSpPr>
          <p:cNvPr id="15" name="obj-27"/>
          <p:cNvSpPr/>
          <p:nvPr/>
        </p:nvSpPr>
        <p:spPr>
          <a:xfrm>
            <a:off x="6181344" y="1417320"/>
            <a:ext cx="2606040" cy="3291840"/>
          </a:xfrm>
          <a:prstGeom prst="roundRect">
            <a:avLst>
              <a:gd name="adj" fmla="val 2807"/>
            </a:avLst>
          </a:prstGeom>
          <a:solidFill>
            <a:schemeClr val="bg2"/>
          </a:solidFill>
          <a:ln w="9525">
            <a:solidFill>
              <a:srgbClr val="D6DEEA"/>
            </a:solidFill>
            <a:prstDash val="solid"/>
          </a:ln>
        </p:spPr>
        <p:txBody>
          <a:bodyPr/>
          <a:lstStyle/>
          <a:p>
            <a:endParaRPr lang="fr-FR"/>
          </a:p>
        </p:txBody>
      </p:sp>
      <p:sp>
        <p:nvSpPr>
          <p:cNvPr id="16" name="obj-dot-28"/>
          <p:cNvSpPr/>
          <p:nvPr/>
        </p:nvSpPr>
        <p:spPr>
          <a:xfrm>
            <a:off x="6409944" y="1691640"/>
            <a:ext cx="566928" cy="566928"/>
          </a:xfrm>
          <a:prstGeom prst="ellipse">
            <a:avLst/>
          </a:prstGeom>
          <a:solidFill>
            <a:schemeClr val="accent4"/>
          </a:solidFill>
          <a:ln w="12700">
            <a:solidFill>
              <a:schemeClr val="accent4"/>
            </a:solidFill>
            <a:prstDash val="solid"/>
          </a:ln>
        </p:spPr>
        <p:txBody>
          <a:bodyPr/>
          <a:lstStyle/>
          <a:p>
            <a:endParaRPr lang="fr-FR"/>
          </a:p>
        </p:txBody>
      </p:sp>
      <p:sp>
        <p:nvSpPr>
          <p:cNvPr id="17" name="obj-n-29"/>
          <p:cNvSpPr txBox="1"/>
          <p:nvPr/>
        </p:nvSpPr>
        <p:spPr>
          <a:xfrm>
            <a:off x="6409944" y="1691640"/>
            <a:ext cx="566928" cy="566928"/>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8" name="obj-t-30"/>
          <p:cNvSpPr txBox="1"/>
          <p:nvPr/>
        </p:nvSpPr>
        <p:spPr>
          <a:xfrm>
            <a:off x="6409944" y="2423160"/>
            <a:ext cx="2148840" cy="411480"/>
          </a:xfrm>
          <a:prstGeom prst="rect">
            <a:avLst/>
          </a:prstGeom>
          <a:noFill/>
          <a:ln/>
        </p:spPr>
        <p:txBody>
          <a:bodyPr wrap="square" lIns="0" tIns="0" rIns="0" bIns="0" rtlCol="0" anchor="ctr"/>
          <a:lstStyle/>
          <a:p>
            <a:pPr marL="0" indent="0">
              <a:buNone/>
            </a:pPr>
            <a:r>
              <a:rPr lang="en-US" sz="2000" b="1" dirty="0">
                <a:solidFill>
                  <a:schemeClr val="tx1"/>
                </a:solidFill>
              </a:rPr>
              <a:t>Analyser</a:t>
            </a:r>
            <a:endParaRPr lang="en-US" sz="2000" dirty="0"/>
          </a:p>
        </p:txBody>
      </p:sp>
      <p:sp>
        <p:nvSpPr>
          <p:cNvPr id="19" name="obj-b-31"/>
          <p:cNvSpPr txBox="1"/>
          <p:nvPr/>
        </p:nvSpPr>
        <p:spPr>
          <a:xfrm>
            <a:off x="6409944" y="2880360"/>
            <a:ext cx="2148840" cy="1280160"/>
          </a:xfrm>
          <a:prstGeom prst="rect">
            <a:avLst/>
          </a:prstGeom>
          <a:noFill/>
          <a:ln/>
        </p:spPr>
        <p:txBody>
          <a:bodyPr wrap="square" lIns="0" tIns="0" rIns="0" bIns="0" rtlCol="0" anchor="t"/>
          <a:lstStyle/>
          <a:p>
            <a:pPr marL="0" indent="0">
              <a:buNone/>
            </a:pPr>
            <a:r>
              <a:rPr lang="en-US" sz="1400" dirty="0">
                <a:solidFill>
                  <a:schemeClr val="tx1"/>
                </a:solidFill>
              </a:rPr>
              <a:t>Capture réseau tshark/Wireshark, indexation ELK et recherches KQL dans Kibana</a:t>
            </a:r>
            <a:endParaRPr lang="en-US" sz="1400" dirty="0"/>
          </a:p>
        </p:txBody>
      </p:sp>
      <p:sp>
        <p:nvSpPr>
          <p:cNvPr id="20" name="obj-m-32"/>
          <p:cNvSpPr txBox="1"/>
          <p:nvPr/>
        </p:nvSpPr>
        <p:spPr>
          <a:xfrm>
            <a:off x="6409944" y="4233672"/>
            <a:ext cx="2148840" cy="274320"/>
          </a:xfrm>
          <a:prstGeom prst="rect">
            <a:avLst/>
          </a:prstGeom>
          <a:noFill/>
          <a:ln/>
        </p:spPr>
        <p:txBody>
          <a:bodyPr wrap="square" lIns="0" tIns="0" rIns="0" bIns="0" rtlCol="0" anchor="ctr"/>
          <a:lstStyle/>
          <a:p>
            <a:pPr marL="0" indent="0">
              <a:buNone/>
            </a:pPr>
            <a:r>
              <a:rPr lang="en-US" sz="1200" b="1" dirty="0">
                <a:solidFill>
                  <a:schemeClr val="accent4"/>
                </a:solidFill>
              </a:rPr>
              <a:t>Missions 05 → 07</a:t>
            </a:r>
            <a:endParaRPr lang="en-US" sz="1200" dirty="0"/>
          </a:p>
        </p:txBody>
      </p:sp>
      <p:sp>
        <p:nvSpPr>
          <p:cNvPr id="21" name="obj-33"/>
          <p:cNvSpPr/>
          <p:nvPr/>
        </p:nvSpPr>
        <p:spPr>
          <a:xfrm>
            <a:off x="8997696" y="1417320"/>
            <a:ext cx="2606040" cy="3291840"/>
          </a:xfrm>
          <a:prstGeom prst="roundRect">
            <a:avLst>
              <a:gd name="adj" fmla="val 2807"/>
            </a:avLst>
          </a:prstGeom>
          <a:solidFill>
            <a:schemeClr val="bg2"/>
          </a:solidFill>
          <a:ln w="9525">
            <a:solidFill>
              <a:srgbClr val="D6DEEA"/>
            </a:solidFill>
            <a:prstDash val="solid"/>
          </a:ln>
        </p:spPr>
        <p:txBody>
          <a:bodyPr/>
          <a:lstStyle/>
          <a:p>
            <a:endParaRPr lang="fr-FR"/>
          </a:p>
        </p:txBody>
      </p:sp>
      <p:sp>
        <p:nvSpPr>
          <p:cNvPr id="22" name="obj-dot-34"/>
          <p:cNvSpPr/>
          <p:nvPr/>
        </p:nvSpPr>
        <p:spPr>
          <a:xfrm>
            <a:off x="9226296" y="1691640"/>
            <a:ext cx="566928" cy="566928"/>
          </a:xfrm>
          <a:prstGeom prst="ellipse">
            <a:avLst/>
          </a:prstGeom>
          <a:solidFill>
            <a:schemeClr val="accent3"/>
          </a:solidFill>
          <a:ln w="12700">
            <a:solidFill>
              <a:schemeClr val="accent3"/>
            </a:solidFill>
            <a:prstDash val="solid"/>
          </a:ln>
        </p:spPr>
        <p:txBody>
          <a:bodyPr/>
          <a:lstStyle/>
          <a:p>
            <a:endParaRPr lang="fr-FR"/>
          </a:p>
        </p:txBody>
      </p:sp>
      <p:sp>
        <p:nvSpPr>
          <p:cNvPr id="23" name="obj-n-35"/>
          <p:cNvSpPr txBox="1"/>
          <p:nvPr/>
        </p:nvSpPr>
        <p:spPr>
          <a:xfrm>
            <a:off x="9226296" y="1691640"/>
            <a:ext cx="566928" cy="566928"/>
          </a:xfrm>
          <a:prstGeom prst="rect">
            <a:avLst/>
          </a:prstGeom>
          <a:no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24" name="obj-t-36"/>
          <p:cNvSpPr txBox="1"/>
          <p:nvPr/>
        </p:nvSpPr>
        <p:spPr>
          <a:xfrm>
            <a:off x="9226296" y="2423160"/>
            <a:ext cx="2148840" cy="411480"/>
          </a:xfrm>
          <a:prstGeom prst="rect">
            <a:avLst/>
          </a:prstGeom>
          <a:noFill/>
          <a:ln/>
        </p:spPr>
        <p:txBody>
          <a:bodyPr wrap="square" lIns="0" tIns="0" rIns="0" bIns="0" rtlCol="0" anchor="ctr"/>
          <a:lstStyle/>
          <a:p>
            <a:pPr marL="0" indent="0">
              <a:buNone/>
            </a:pPr>
            <a:r>
              <a:rPr lang="en-US" sz="2000" b="1" dirty="0">
                <a:solidFill>
                  <a:schemeClr val="tx1"/>
                </a:solidFill>
              </a:rPr>
              <a:t>Réagir</a:t>
            </a:r>
            <a:endParaRPr lang="en-US" sz="2000" dirty="0"/>
          </a:p>
        </p:txBody>
      </p:sp>
      <p:sp>
        <p:nvSpPr>
          <p:cNvPr id="25" name="obj-b-37"/>
          <p:cNvSpPr txBox="1"/>
          <p:nvPr/>
        </p:nvSpPr>
        <p:spPr>
          <a:xfrm>
            <a:off x="9226296" y="2880360"/>
            <a:ext cx="2148840" cy="1280160"/>
          </a:xfrm>
          <a:prstGeom prst="rect">
            <a:avLst/>
          </a:prstGeom>
          <a:noFill/>
          <a:ln/>
        </p:spPr>
        <p:txBody>
          <a:bodyPr wrap="square" lIns="0" tIns="0" rIns="0" bIns="0" rtlCol="0" anchor="t"/>
          <a:lstStyle/>
          <a:p>
            <a:pPr marL="0" indent="0">
              <a:buNone/>
            </a:pPr>
            <a:r>
              <a:rPr lang="en-US" sz="1400" dirty="0">
                <a:solidFill>
                  <a:schemeClr val="tx1"/>
                </a:solidFill>
              </a:rPr>
              <a:t>Playbooks de réponse, gestion de cas TheHive et partage d'IoC via MISP</a:t>
            </a:r>
            <a:endParaRPr lang="en-US" sz="1400" dirty="0"/>
          </a:p>
        </p:txBody>
      </p:sp>
      <p:sp>
        <p:nvSpPr>
          <p:cNvPr id="26" name="obj-m-38"/>
          <p:cNvSpPr txBox="1"/>
          <p:nvPr/>
        </p:nvSpPr>
        <p:spPr>
          <a:xfrm>
            <a:off x="9226296" y="4233672"/>
            <a:ext cx="2148840" cy="274320"/>
          </a:xfrm>
          <a:prstGeom prst="rect">
            <a:avLst/>
          </a:prstGeom>
          <a:noFill/>
          <a:ln/>
        </p:spPr>
        <p:txBody>
          <a:bodyPr wrap="square" lIns="0" tIns="0" rIns="0" bIns="0" rtlCol="0" anchor="ctr"/>
          <a:lstStyle/>
          <a:p>
            <a:pPr marL="0" indent="0">
              <a:buNone/>
            </a:pPr>
            <a:r>
              <a:rPr lang="en-US" sz="1200" b="1" dirty="0">
                <a:solidFill>
                  <a:schemeClr val="accent3"/>
                </a:solidFill>
              </a:rPr>
              <a:t>Missions 08 → 09</a:t>
            </a:r>
            <a:endParaRPr lang="en-US" sz="1200" dirty="0"/>
          </a:p>
        </p:txBody>
      </p:sp>
      <p:sp>
        <p:nvSpPr>
          <p:cNvPr id="27" name="competences"/>
          <p:cNvSpPr txBox="1"/>
          <p:nvPr/>
        </p:nvSpPr>
        <p:spPr>
          <a:xfrm>
            <a:off x="548640" y="5074920"/>
            <a:ext cx="11064240" cy="731520"/>
          </a:xfrm>
          <a:prstGeom prst="rect">
            <a:avLst/>
          </a:prstGeom>
          <a:noFill/>
          <a:ln/>
        </p:spPr>
        <p:txBody>
          <a:bodyPr wrap="square" lIns="0" tIns="0" rIns="0" bIns="0" rtlCol="0" anchor="ctr"/>
          <a:lstStyle/>
          <a:p>
            <a:pPr marL="0" indent="0">
              <a:buNone/>
            </a:pPr>
            <a:r>
              <a:rPr lang="en-US" sz="1400" i="1" dirty="0">
                <a:solidFill>
                  <a:schemeClr val="tx2"/>
                </a:solidFill>
              </a:rPr>
              <a:t>Compétences visées : administrer et sécuriser une infrastructure virtualisée · détecter et traiter les incidents · mesurer le niveau de sécurité · mettre en œuvre la supervision</a:t>
            </a:r>
            <a:endParaRPr lang="en-US" sz="14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Architecture du labo : 4 VM Debian 12 sur un réseau NAT</a:t>
            </a:r>
            <a:endParaRPr lang="en-US" sz="3000" dirty="0"/>
          </a:p>
        </p:txBody>
      </p:sp>
      <p:sp>
        <p:nvSpPr>
          <p:cNvPr id="3" name="vm-39"/>
          <p:cNvSpPr/>
          <p:nvPr/>
        </p:nvSpPr>
        <p:spPr>
          <a:xfrm>
            <a:off x="548640" y="1325880"/>
            <a:ext cx="2606040" cy="3246120"/>
          </a:xfrm>
          <a:prstGeom prst="roundRect">
            <a:avLst>
              <a:gd name="adj" fmla="val 2807"/>
            </a:avLst>
          </a:prstGeom>
          <a:solidFill>
            <a:schemeClr val="bg2"/>
          </a:solidFill>
          <a:ln w="19050">
            <a:solidFill>
              <a:schemeClr val="accent2"/>
            </a:solidFill>
            <a:prstDash val="solid"/>
          </a:ln>
        </p:spPr>
        <p:txBody>
          <a:bodyPr/>
          <a:lstStyle/>
          <a:p>
            <a:endParaRPr lang="fr-FR"/>
          </a:p>
        </p:txBody>
      </p:sp>
      <p:sp>
        <p:nvSpPr>
          <p:cNvPr id="4" name="vm-n-40"/>
          <p:cNvSpPr txBox="1"/>
          <p:nvPr/>
        </p:nvSpPr>
        <p:spPr>
          <a:xfrm>
            <a:off x="731520" y="1463040"/>
            <a:ext cx="2240280" cy="384048"/>
          </a:xfrm>
          <a:prstGeom prst="rect">
            <a:avLst/>
          </a:prstGeom>
          <a:noFill/>
          <a:ln/>
        </p:spPr>
        <p:txBody>
          <a:bodyPr wrap="square" lIns="0" tIns="0" rIns="0" bIns="0" rtlCol="0" anchor="ctr"/>
          <a:lstStyle/>
          <a:p>
            <a:pPr marL="0" indent="0">
              <a:buNone/>
            </a:pPr>
            <a:r>
              <a:rPr lang="en-US" sz="1900" b="1" dirty="0">
                <a:solidFill>
                  <a:schemeClr val="tx1"/>
                </a:solidFill>
              </a:rPr>
              <a:t>ENT-OPS</a:t>
            </a:r>
            <a:endParaRPr lang="en-US" sz="1900" dirty="0"/>
          </a:p>
        </p:txBody>
      </p:sp>
      <p:sp>
        <p:nvSpPr>
          <p:cNvPr id="5" name="vm-ip-41"/>
          <p:cNvSpPr txBox="1"/>
          <p:nvPr/>
        </p:nvSpPr>
        <p:spPr>
          <a:xfrm>
            <a:off x="731520" y="1847088"/>
            <a:ext cx="2240280" cy="274320"/>
          </a:xfrm>
          <a:prstGeom prst="rect">
            <a:avLst/>
          </a:prstGeom>
          <a:noFill/>
          <a:ln/>
        </p:spPr>
        <p:txBody>
          <a:bodyPr wrap="square" lIns="0" tIns="0" rIns="0" bIns="0" rtlCol="0" anchor="ctr"/>
          <a:lstStyle/>
          <a:p>
            <a:pPr marL="0" indent="0">
              <a:buNone/>
            </a:pPr>
            <a:r>
              <a:rPr lang="en-US" sz="1200" b="1" dirty="0">
                <a:solidFill>
                  <a:schemeClr val="accent2"/>
                </a:solidFill>
              </a:rPr>
              <a:t>172.16.0.10 · Supervision</a:t>
            </a:r>
            <a:endParaRPr lang="en-US" sz="1200" dirty="0"/>
          </a:p>
        </p:txBody>
      </p:sp>
      <p:sp>
        <p:nvSpPr>
          <p:cNvPr id="6" name="vm-b-42"/>
          <p:cNvSpPr txBox="1"/>
          <p:nvPr/>
        </p:nvSpPr>
        <p:spPr>
          <a:xfrm>
            <a:off x="731520" y="2240280"/>
            <a:ext cx="2240280" cy="160020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chemeClr val="tx1"/>
                </a:solidFill>
              </a:rPr>
              <a:t>Zabbix 7.0 (serveur + web)</a:t>
            </a:r>
            <a:endParaRPr lang="en-US" sz="1300" dirty="0"/>
          </a:p>
          <a:p>
            <a:pPr marL="152400" indent="-152400">
              <a:spcAft>
                <a:spcPts val="400"/>
              </a:spcAft>
              <a:buSzPct val="100000"/>
              <a:buChar char="•"/>
            </a:pPr>
            <a:r>
              <a:rPr lang="en-US" sz="1300" dirty="0">
                <a:solidFill>
                  <a:schemeClr val="tx1"/>
                </a:solidFill>
              </a:rPr>
              <a:t>Prometheus :9090</a:t>
            </a:r>
            <a:endParaRPr lang="en-US" sz="1300" dirty="0"/>
          </a:p>
          <a:p>
            <a:pPr marL="152400" indent="-152400">
              <a:spcAft>
                <a:spcPts val="400"/>
              </a:spcAft>
              <a:buSzPct val="100000"/>
              <a:buChar char="•"/>
            </a:pPr>
            <a:r>
              <a:rPr lang="en-US" sz="1300" dirty="0">
                <a:solidFill>
                  <a:schemeClr val="tx1"/>
                </a:solidFill>
              </a:rPr>
              <a:t>Grafana :3000</a:t>
            </a:r>
            <a:endParaRPr lang="en-US" sz="1300" dirty="0"/>
          </a:p>
        </p:txBody>
      </p:sp>
      <p:sp>
        <p:nvSpPr>
          <p:cNvPr id="7" name="vm-hw-43"/>
          <p:cNvSpPr txBox="1"/>
          <p:nvPr/>
        </p:nvSpPr>
        <p:spPr>
          <a:xfrm>
            <a:off x="731520" y="4160520"/>
            <a:ext cx="2240280" cy="274320"/>
          </a:xfrm>
          <a:prstGeom prst="rect">
            <a:avLst/>
          </a:prstGeom>
          <a:noFill/>
          <a:ln/>
        </p:spPr>
        <p:txBody>
          <a:bodyPr wrap="square" lIns="0" tIns="0" rIns="0" bIns="0" rtlCol="0" anchor="ctr"/>
          <a:lstStyle/>
          <a:p>
            <a:pPr marL="0" indent="0">
              <a:buNone/>
            </a:pPr>
            <a:r>
              <a:rPr lang="en-US" sz="1100" dirty="0">
                <a:solidFill>
                  <a:schemeClr val="accent5"/>
                </a:solidFill>
              </a:rPr>
              <a:t>4 Go · 2 vCPU · 20 Go</a:t>
            </a:r>
            <a:endParaRPr lang="en-US" sz="1100" dirty="0"/>
          </a:p>
        </p:txBody>
      </p:sp>
      <p:sp>
        <p:nvSpPr>
          <p:cNvPr id="8" name="vm-link-44"/>
          <p:cNvSpPr/>
          <p:nvPr/>
        </p:nvSpPr>
        <p:spPr>
          <a:xfrm>
            <a:off x="1851660" y="4572000"/>
            <a:ext cx="0" cy="411480"/>
          </a:xfrm>
          <a:prstGeom prst="line">
            <a:avLst/>
          </a:prstGeom>
          <a:noFill/>
          <a:ln w="19050">
            <a:solidFill>
              <a:schemeClr val="tx2"/>
            </a:solidFill>
            <a:prstDash val="solid"/>
          </a:ln>
        </p:spPr>
        <p:txBody>
          <a:bodyPr/>
          <a:lstStyle/>
          <a:p>
            <a:endParaRPr lang="fr-FR"/>
          </a:p>
        </p:txBody>
      </p:sp>
      <p:sp>
        <p:nvSpPr>
          <p:cNvPr id="9" name="vm-45"/>
          <p:cNvSpPr/>
          <p:nvPr/>
        </p:nvSpPr>
        <p:spPr>
          <a:xfrm>
            <a:off x="3364992" y="1325880"/>
            <a:ext cx="2606040" cy="3246120"/>
          </a:xfrm>
          <a:prstGeom prst="roundRect">
            <a:avLst>
              <a:gd name="adj" fmla="val 2807"/>
            </a:avLst>
          </a:prstGeom>
          <a:solidFill>
            <a:schemeClr val="bg2"/>
          </a:solidFill>
          <a:ln w="19050">
            <a:solidFill>
              <a:schemeClr val="accent1"/>
            </a:solidFill>
            <a:prstDash val="solid"/>
          </a:ln>
        </p:spPr>
        <p:txBody>
          <a:bodyPr/>
          <a:lstStyle/>
          <a:p>
            <a:endParaRPr lang="fr-FR"/>
          </a:p>
        </p:txBody>
      </p:sp>
      <p:sp>
        <p:nvSpPr>
          <p:cNvPr id="10" name="vm-n-46"/>
          <p:cNvSpPr txBox="1"/>
          <p:nvPr/>
        </p:nvSpPr>
        <p:spPr>
          <a:xfrm>
            <a:off x="3547872" y="1463040"/>
            <a:ext cx="2240280" cy="384048"/>
          </a:xfrm>
          <a:prstGeom prst="rect">
            <a:avLst/>
          </a:prstGeom>
          <a:noFill/>
          <a:ln/>
        </p:spPr>
        <p:txBody>
          <a:bodyPr wrap="square" lIns="0" tIns="0" rIns="0" bIns="0" rtlCol="0" anchor="ctr"/>
          <a:lstStyle/>
          <a:p>
            <a:pPr marL="0" indent="0">
              <a:buNone/>
            </a:pPr>
            <a:r>
              <a:rPr lang="en-US" sz="1900" b="1" dirty="0">
                <a:solidFill>
                  <a:schemeClr val="tx1"/>
                </a:solidFill>
              </a:rPr>
              <a:t>ENT-ELK</a:t>
            </a:r>
            <a:endParaRPr lang="en-US" sz="1900" dirty="0"/>
          </a:p>
        </p:txBody>
      </p:sp>
      <p:sp>
        <p:nvSpPr>
          <p:cNvPr id="11" name="vm-ip-47"/>
          <p:cNvSpPr txBox="1"/>
          <p:nvPr/>
        </p:nvSpPr>
        <p:spPr>
          <a:xfrm>
            <a:off x="3547872" y="1847088"/>
            <a:ext cx="2240280" cy="274320"/>
          </a:xfrm>
          <a:prstGeom prst="rect">
            <a:avLst/>
          </a:prstGeom>
          <a:noFill/>
          <a:ln/>
        </p:spPr>
        <p:txBody>
          <a:bodyPr wrap="square" lIns="0" tIns="0" rIns="0" bIns="0" rtlCol="0" anchor="ctr"/>
          <a:lstStyle/>
          <a:p>
            <a:pPr marL="0" indent="0">
              <a:buNone/>
            </a:pPr>
            <a:r>
              <a:rPr lang="en-US" sz="1200" b="1" dirty="0">
                <a:solidFill>
                  <a:schemeClr val="accent1"/>
                </a:solidFill>
              </a:rPr>
              <a:t>172.16.0.20 · Ordinateur central</a:t>
            </a:r>
            <a:endParaRPr lang="en-US" sz="1200" dirty="0"/>
          </a:p>
        </p:txBody>
      </p:sp>
      <p:sp>
        <p:nvSpPr>
          <p:cNvPr id="12" name="vm-b-48"/>
          <p:cNvSpPr txBox="1"/>
          <p:nvPr/>
        </p:nvSpPr>
        <p:spPr>
          <a:xfrm>
            <a:off x="3547872" y="2240280"/>
            <a:ext cx="2240280" cy="160020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chemeClr val="tx1"/>
                </a:solidFill>
              </a:rPr>
              <a:t>Elasticsearch 8.19 :9200</a:t>
            </a:r>
            <a:endParaRPr lang="en-US" sz="1300" dirty="0"/>
          </a:p>
          <a:p>
            <a:pPr marL="152400" indent="-152400">
              <a:spcAft>
                <a:spcPts val="400"/>
              </a:spcAft>
              <a:buSzPct val="100000"/>
              <a:buChar char="•"/>
            </a:pPr>
            <a:r>
              <a:rPr lang="en-US" sz="1300" dirty="0">
                <a:solidFill>
                  <a:schemeClr val="tx1"/>
                </a:solidFill>
              </a:rPr>
              <a:t>Logstash :5044</a:t>
            </a:r>
            <a:endParaRPr lang="en-US" sz="1300" dirty="0"/>
          </a:p>
          <a:p>
            <a:pPr marL="152400" indent="-152400">
              <a:spcAft>
                <a:spcPts val="400"/>
              </a:spcAft>
              <a:buSzPct val="100000"/>
              <a:buChar char="•"/>
            </a:pPr>
            <a:r>
              <a:rPr lang="en-US" sz="1300" dirty="0">
                <a:solidFill>
                  <a:schemeClr val="tx1"/>
                </a:solidFill>
              </a:rPr>
              <a:t>Kibana :5601 · Watcher</a:t>
            </a:r>
            <a:endParaRPr lang="en-US" sz="1300" dirty="0"/>
          </a:p>
        </p:txBody>
      </p:sp>
      <p:sp>
        <p:nvSpPr>
          <p:cNvPr id="13" name="vm-hw-49"/>
          <p:cNvSpPr txBox="1"/>
          <p:nvPr/>
        </p:nvSpPr>
        <p:spPr>
          <a:xfrm>
            <a:off x="3547872" y="4160520"/>
            <a:ext cx="2240280" cy="274320"/>
          </a:xfrm>
          <a:prstGeom prst="rect">
            <a:avLst/>
          </a:prstGeom>
          <a:noFill/>
          <a:ln/>
        </p:spPr>
        <p:txBody>
          <a:bodyPr wrap="square" lIns="0" tIns="0" rIns="0" bIns="0" rtlCol="0" anchor="ctr"/>
          <a:lstStyle/>
          <a:p>
            <a:pPr marL="0" indent="0">
              <a:buNone/>
            </a:pPr>
            <a:r>
              <a:rPr lang="en-US" sz="1100" dirty="0">
                <a:solidFill>
                  <a:schemeClr val="accent5"/>
                </a:solidFill>
              </a:rPr>
              <a:t>8 Go · 4 vCPU · 40 Go</a:t>
            </a:r>
            <a:endParaRPr lang="en-US" sz="1100" dirty="0"/>
          </a:p>
        </p:txBody>
      </p:sp>
      <p:sp>
        <p:nvSpPr>
          <p:cNvPr id="14" name="vm-link-50"/>
          <p:cNvSpPr/>
          <p:nvPr/>
        </p:nvSpPr>
        <p:spPr>
          <a:xfrm>
            <a:off x="4668012" y="4572000"/>
            <a:ext cx="0" cy="411480"/>
          </a:xfrm>
          <a:prstGeom prst="line">
            <a:avLst/>
          </a:prstGeom>
          <a:noFill/>
          <a:ln w="19050">
            <a:solidFill>
              <a:schemeClr val="tx2"/>
            </a:solidFill>
            <a:prstDash val="solid"/>
          </a:ln>
        </p:spPr>
        <p:txBody>
          <a:bodyPr/>
          <a:lstStyle/>
          <a:p>
            <a:endParaRPr lang="fr-FR"/>
          </a:p>
        </p:txBody>
      </p:sp>
      <p:sp>
        <p:nvSpPr>
          <p:cNvPr id="15" name="vm-51"/>
          <p:cNvSpPr/>
          <p:nvPr/>
        </p:nvSpPr>
        <p:spPr>
          <a:xfrm>
            <a:off x="6181344" y="1325880"/>
            <a:ext cx="2606040" cy="3246120"/>
          </a:xfrm>
          <a:prstGeom prst="roundRect">
            <a:avLst>
              <a:gd name="adj" fmla="val 2807"/>
            </a:avLst>
          </a:prstGeom>
          <a:solidFill>
            <a:schemeClr val="bg2"/>
          </a:solidFill>
          <a:ln w="19050">
            <a:solidFill>
              <a:schemeClr val="accent3"/>
            </a:solidFill>
            <a:prstDash val="solid"/>
          </a:ln>
        </p:spPr>
        <p:txBody>
          <a:bodyPr/>
          <a:lstStyle/>
          <a:p>
            <a:endParaRPr lang="fr-FR"/>
          </a:p>
        </p:txBody>
      </p:sp>
      <p:sp>
        <p:nvSpPr>
          <p:cNvPr id="16" name="vm-n-52"/>
          <p:cNvSpPr txBox="1"/>
          <p:nvPr/>
        </p:nvSpPr>
        <p:spPr>
          <a:xfrm>
            <a:off x="6364224" y="1463040"/>
            <a:ext cx="2240280" cy="384048"/>
          </a:xfrm>
          <a:prstGeom prst="rect">
            <a:avLst/>
          </a:prstGeom>
          <a:noFill/>
          <a:ln/>
        </p:spPr>
        <p:txBody>
          <a:bodyPr wrap="square" lIns="0" tIns="0" rIns="0" bIns="0" rtlCol="0" anchor="ctr"/>
          <a:lstStyle/>
          <a:p>
            <a:pPr marL="0" indent="0">
              <a:buNone/>
            </a:pPr>
            <a:r>
              <a:rPr lang="en-US" sz="1900" b="1" dirty="0">
                <a:solidFill>
                  <a:schemeClr val="tx1"/>
                </a:solidFill>
              </a:rPr>
              <a:t>ENT-SOC</a:t>
            </a:r>
            <a:endParaRPr lang="en-US" sz="1900" dirty="0"/>
          </a:p>
        </p:txBody>
      </p:sp>
      <p:sp>
        <p:nvSpPr>
          <p:cNvPr id="17" name="vm-ip-53"/>
          <p:cNvSpPr txBox="1"/>
          <p:nvPr/>
        </p:nvSpPr>
        <p:spPr>
          <a:xfrm>
            <a:off x="6364224" y="1847088"/>
            <a:ext cx="2240280" cy="274320"/>
          </a:xfrm>
          <a:prstGeom prst="rect">
            <a:avLst/>
          </a:prstGeom>
          <a:noFill/>
          <a:ln/>
        </p:spPr>
        <p:txBody>
          <a:bodyPr wrap="square" lIns="0" tIns="0" rIns="0" bIns="0" rtlCol="0" anchor="ctr"/>
          <a:lstStyle/>
          <a:p>
            <a:pPr marL="0" indent="0">
              <a:buNone/>
            </a:pPr>
            <a:r>
              <a:rPr lang="en-US" sz="1200" b="1" dirty="0">
                <a:solidFill>
                  <a:schemeClr val="accent3"/>
                </a:solidFill>
              </a:rPr>
              <a:t>172.16.0.30 · Centre de réponse</a:t>
            </a:r>
            <a:endParaRPr lang="en-US" sz="1200" dirty="0"/>
          </a:p>
        </p:txBody>
      </p:sp>
      <p:sp>
        <p:nvSpPr>
          <p:cNvPr id="18" name="vm-b-54"/>
          <p:cNvSpPr txBox="1"/>
          <p:nvPr/>
        </p:nvSpPr>
        <p:spPr>
          <a:xfrm>
            <a:off x="6364224" y="2240280"/>
            <a:ext cx="2240280" cy="160020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chemeClr val="tx1"/>
                </a:solidFill>
              </a:rPr>
              <a:t>TheHive (gestion de cas)</a:t>
            </a:r>
            <a:endParaRPr lang="en-US" sz="1300" dirty="0"/>
          </a:p>
          <a:p>
            <a:pPr marL="152400" indent="-152400">
              <a:spcAft>
                <a:spcPts val="400"/>
              </a:spcAft>
              <a:buSzPct val="100000"/>
              <a:buChar char="•"/>
            </a:pPr>
            <a:r>
              <a:rPr lang="en-US" sz="1300" dirty="0">
                <a:solidFill>
                  <a:schemeClr val="tx1"/>
                </a:solidFill>
              </a:rPr>
              <a:t>MISP (partage d'IoC)</a:t>
            </a:r>
            <a:endParaRPr lang="en-US" sz="1300" dirty="0"/>
          </a:p>
          <a:p>
            <a:pPr marL="152400" indent="-152400">
              <a:spcAft>
                <a:spcPts val="400"/>
              </a:spcAft>
              <a:buSzPct val="100000"/>
              <a:buChar char="•"/>
            </a:pPr>
            <a:r>
              <a:rPr lang="en-US" sz="1300" dirty="0">
                <a:solidFill>
                  <a:schemeClr val="tx1"/>
                </a:solidFill>
              </a:rPr>
              <a:t>Playbooks</a:t>
            </a:r>
            <a:endParaRPr lang="en-US" sz="1300" dirty="0"/>
          </a:p>
        </p:txBody>
      </p:sp>
      <p:sp>
        <p:nvSpPr>
          <p:cNvPr id="19" name="vm-hw-55"/>
          <p:cNvSpPr txBox="1"/>
          <p:nvPr/>
        </p:nvSpPr>
        <p:spPr>
          <a:xfrm>
            <a:off x="6364224" y="4160520"/>
            <a:ext cx="2240280" cy="274320"/>
          </a:xfrm>
          <a:prstGeom prst="rect">
            <a:avLst/>
          </a:prstGeom>
          <a:noFill/>
          <a:ln/>
        </p:spPr>
        <p:txBody>
          <a:bodyPr wrap="square" lIns="0" tIns="0" rIns="0" bIns="0" rtlCol="0" anchor="ctr"/>
          <a:lstStyle/>
          <a:p>
            <a:pPr marL="0" indent="0">
              <a:buNone/>
            </a:pPr>
            <a:r>
              <a:rPr lang="en-US" sz="1100" dirty="0">
                <a:solidFill>
                  <a:schemeClr val="accent5"/>
                </a:solidFill>
              </a:rPr>
              <a:t>10 Go · 4 vCPU · 60 Go</a:t>
            </a:r>
            <a:endParaRPr lang="en-US" sz="1100" dirty="0"/>
          </a:p>
        </p:txBody>
      </p:sp>
      <p:sp>
        <p:nvSpPr>
          <p:cNvPr id="20" name="vm-link-56"/>
          <p:cNvSpPr/>
          <p:nvPr/>
        </p:nvSpPr>
        <p:spPr>
          <a:xfrm>
            <a:off x="7484364" y="4572000"/>
            <a:ext cx="0" cy="411480"/>
          </a:xfrm>
          <a:prstGeom prst="line">
            <a:avLst/>
          </a:prstGeom>
          <a:noFill/>
          <a:ln w="19050">
            <a:solidFill>
              <a:schemeClr val="tx2"/>
            </a:solidFill>
            <a:prstDash val="solid"/>
          </a:ln>
        </p:spPr>
        <p:txBody>
          <a:bodyPr/>
          <a:lstStyle/>
          <a:p>
            <a:endParaRPr lang="fr-FR"/>
          </a:p>
        </p:txBody>
      </p:sp>
      <p:sp>
        <p:nvSpPr>
          <p:cNvPr id="21" name="vm-57"/>
          <p:cNvSpPr/>
          <p:nvPr/>
        </p:nvSpPr>
        <p:spPr>
          <a:xfrm>
            <a:off x="8997696" y="1325880"/>
            <a:ext cx="2606040" cy="3246120"/>
          </a:xfrm>
          <a:prstGeom prst="roundRect">
            <a:avLst>
              <a:gd name="adj" fmla="val 2807"/>
            </a:avLst>
          </a:prstGeom>
          <a:solidFill>
            <a:schemeClr val="bg2"/>
          </a:solidFill>
          <a:ln w="19050">
            <a:solidFill>
              <a:schemeClr val="accent4"/>
            </a:solidFill>
            <a:prstDash val="solid"/>
          </a:ln>
        </p:spPr>
        <p:txBody>
          <a:bodyPr/>
          <a:lstStyle/>
          <a:p>
            <a:endParaRPr lang="fr-FR"/>
          </a:p>
        </p:txBody>
      </p:sp>
      <p:sp>
        <p:nvSpPr>
          <p:cNvPr id="22" name="vm-n-58"/>
          <p:cNvSpPr txBox="1"/>
          <p:nvPr/>
        </p:nvSpPr>
        <p:spPr>
          <a:xfrm>
            <a:off x="9180576" y="1463040"/>
            <a:ext cx="2240280" cy="384048"/>
          </a:xfrm>
          <a:prstGeom prst="rect">
            <a:avLst/>
          </a:prstGeom>
          <a:noFill/>
          <a:ln/>
        </p:spPr>
        <p:txBody>
          <a:bodyPr wrap="square" lIns="0" tIns="0" rIns="0" bIns="0" rtlCol="0" anchor="ctr"/>
          <a:lstStyle/>
          <a:p>
            <a:pPr marL="0" indent="0">
              <a:buNone/>
            </a:pPr>
            <a:r>
              <a:rPr lang="en-US" sz="1900" b="1" dirty="0">
                <a:solidFill>
                  <a:schemeClr val="tx1"/>
                </a:solidFill>
              </a:rPr>
              <a:t>ENT-BRIDGE</a:t>
            </a:r>
            <a:endParaRPr lang="en-US" sz="1900" dirty="0"/>
          </a:p>
        </p:txBody>
      </p:sp>
      <p:sp>
        <p:nvSpPr>
          <p:cNvPr id="23" name="vm-ip-59"/>
          <p:cNvSpPr txBox="1"/>
          <p:nvPr/>
        </p:nvSpPr>
        <p:spPr>
          <a:xfrm>
            <a:off x="9180576" y="1847088"/>
            <a:ext cx="2240280" cy="274320"/>
          </a:xfrm>
          <a:prstGeom prst="rect">
            <a:avLst/>
          </a:prstGeom>
          <a:noFill/>
          <a:ln/>
        </p:spPr>
        <p:txBody>
          <a:bodyPr wrap="square" lIns="0" tIns="0" rIns="0" bIns="0" rtlCol="0" anchor="ctr"/>
          <a:lstStyle/>
          <a:p>
            <a:pPr marL="0" indent="0">
              <a:buNone/>
            </a:pPr>
            <a:r>
              <a:rPr lang="en-US" sz="1200" b="1" dirty="0">
                <a:solidFill>
                  <a:schemeClr val="accent4"/>
                </a:solidFill>
              </a:rPr>
              <a:t>172.16.0.40 · Passerelle / capteur</a:t>
            </a:r>
            <a:endParaRPr lang="en-US" sz="1200" dirty="0"/>
          </a:p>
        </p:txBody>
      </p:sp>
      <p:sp>
        <p:nvSpPr>
          <p:cNvPr id="24" name="vm-b-60"/>
          <p:cNvSpPr txBox="1"/>
          <p:nvPr/>
        </p:nvSpPr>
        <p:spPr>
          <a:xfrm>
            <a:off x="9180576" y="2240280"/>
            <a:ext cx="2240280" cy="160020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chemeClr val="tx1"/>
                </a:solidFill>
              </a:rPr>
              <a:t>tshark → capture.csv</a:t>
            </a:r>
            <a:endParaRPr lang="en-US" sz="1300" dirty="0"/>
          </a:p>
          <a:p>
            <a:pPr marL="152400" indent="-152400">
              <a:spcAft>
                <a:spcPts val="400"/>
              </a:spcAft>
              <a:buSzPct val="100000"/>
              <a:buChar char="•"/>
            </a:pPr>
            <a:r>
              <a:rPr lang="en-US" sz="1300" dirty="0">
                <a:solidFill>
                  <a:schemeClr val="tx1"/>
                </a:solidFill>
              </a:rPr>
              <a:t>Filebeat → Logstash</a:t>
            </a:r>
            <a:endParaRPr lang="en-US" sz="1300" dirty="0"/>
          </a:p>
          <a:p>
            <a:pPr marL="152400" indent="-152400">
              <a:spcAft>
                <a:spcPts val="400"/>
              </a:spcAft>
              <a:buSzPct val="100000"/>
              <a:buChar char="•"/>
            </a:pPr>
            <a:r>
              <a:rPr lang="en-US" sz="1300" dirty="0">
                <a:solidFill>
                  <a:schemeClr val="tx1"/>
                </a:solidFill>
              </a:rPr>
              <a:t>Agent Zabbix · node_exporter</a:t>
            </a:r>
            <a:endParaRPr lang="en-US" sz="1300" dirty="0"/>
          </a:p>
        </p:txBody>
      </p:sp>
      <p:sp>
        <p:nvSpPr>
          <p:cNvPr id="25" name="vm-hw-61"/>
          <p:cNvSpPr txBox="1"/>
          <p:nvPr/>
        </p:nvSpPr>
        <p:spPr>
          <a:xfrm>
            <a:off x="9180576" y="4160520"/>
            <a:ext cx="2240280" cy="274320"/>
          </a:xfrm>
          <a:prstGeom prst="rect">
            <a:avLst/>
          </a:prstGeom>
          <a:noFill/>
          <a:ln/>
        </p:spPr>
        <p:txBody>
          <a:bodyPr wrap="square" lIns="0" tIns="0" rIns="0" bIns="0" rtlCol="0" anchor="ctr"/>
          <a:lstStyle/>
          <a:p>
            <a:pPr marL="0" indent="0">
              <a:buNone/>
            </a:pPr>
            <a:r>
              <a:rPr lang="en-US" sz="1100" dirty="0">
                <a:solidFill>
                  <a:schemeClr val="accent5"/>
                </a:solidFill>
              </a:rPr>
              <a:t>2 Go · 1 vCPU · 20 Go</a:t>
            </a:r>
            <a:endParaRPr lang="en-US" sz="1100" dirty="0"/>
          </a:p>
        </p:txBody>
      </p:sp>
      <p:sp>
        <p:nvSpPr>
          <p:cNvPr id="26" name="vm-link-62"/>
          <p:cNvSpPr/>
          <p:nvPr/>
        </p:nvSpPr>
        <p:spPr>
          <a:xfrm>
            <a:off x="10300716" y="4572000"/>
            <a:ext cx="0" cy="411480"/>
          </a:xfrm>
          <a:prstGeom prst="line">
            <a:avLst/>
          </a:prstGeom>
          <a:noFill/>
          <a:ln w="19050">
            <a:solidFill>
              <a:schemeClr val="tx2"/>
            </a:solidFill>
            <a:prstDash val="solid"/>
          </a:ln>
        </p:spPr>
        <p:txBody>
          <a:bodyPr/>
          <a:lstStyle/>
          <a:p>
            <a:endParaRPr lang="fr-FR"/>
          </a:p>
        </p:txBody>
      </p:sp>
      <p:sp>
        <p:nvSpPr>
          <p:cNvPr id="27" name="bus"/>
          <p:cNvSpPr/>
          <p:nvPr/>
        </p:nvSpPr>
        <p:spPr>
          <a:xfrm>
            <a:off x="548640" y="4983480"/>
            <a:ext cx="11064240" cy="0"/>
          </a:xfrm>
          <a:prstGeom prst="line">
            <a:avLst/>
          </a:prstGeom>
          <a:noFill/>
          <a:ln w="38100">
            <a:solidFill>
              <a:schemeClr val="tx2"/>
            </a:solidFill>
            <a:prstDash val="solid"/>
          </a:ln>
        </p:spPr>
        <p:txBody>
          <a:bodyPr/>
          <a:lstStyle/>
          <a:p>
            <a:endParaRPr lang="fr-FR"/>
          </a:p>
        </p:txBody>
      </p:sp>
      <p:sp>
        <p:nvSpPr>
          <p:cNvPr id="28" name="bus-t"/>
          <p:cNvSpPr txBox="1"/>
          <p:nvPr/>
        </p:nvSpPr>
        <p:spPr>
          <a:xfrm>
            <a:off x="548640" y="5074920"/>
            <a:ext cx="11064240" cy="320040"/>
          </a:xfrm>
          <a:prstGeom prst="rect">
            <a:avLst/>
          </a:prstGeom>
          <a:noFill/>
          <a:ln/>
        </p:spPr>
        <p:txBody>
          <a:bodyPr wrap="square" lIns="0" tIns="0" rIns="0" bIns="0" rtlCol="0" anchor="ctr"/>
          <a:lstStyle/>
          <a:p>
            <a:pPr marL="0" indent="0">
              <a:buNone/>
            </a:pPr>
            <a:r>
              <a:rPr lang="en-US" sz="1300" b="1" dirty="0">
                <a:solidFill>
                  <a:schemeClr val="tx2"/>
                </a:solidFill>
              </a:rPr>
              <a:t>VMnet8 · NAT · 172.16.0.0/24 · passerelle/DNS 172.16.0.2 · chrony + fuseau Europe/Paris sur chaque VM</a:t>
            </a:r>
            <a:endParaRPr lang="en-US" sz="1300" dirty="0"/>
          </a:p>
        </p:txBody>
      </p:sp>
      <p:sp>
        <p:nvSpPr>
          <p:cNvPr id="29" name="flux"/>
          <p:cNvSpPr txBox="1"/>
          <p:nvPr/>
        </p:nvSpPr>
        <p:spPr>
          <a:xfrm>
            <a:off x="548640" y="5486400"/>
            <a:ext cx="11064240" cy="320040"/>
          </a:xfrm>
          <a:prstGeom prst="rect">
            <a:avLst/>
          </a:prstGeom>
          <a:noFill/>
          <a:ln/>
        </p:spPr>
        <p:txBody>
          <a:bodyPr wrap="square" lIns="0" tIns="0" rIns="0" bIns="0" rtlCol="0" anchor="ctr"/>
          <a:lstStyle/>
          <a:p>
            <a:pPr marL="0" indent="0">
              <a:buNone/>
            </a:pPr>
            <a:r>
              <a:rPr lang="en-US" sz="1300" dirty="0">
                <a:solidFill>
                  <a:schemeClr val="accent5"/>
                </a:solidFill>
              </a:rPr>
              <a:t>Flux : BRIDGE → ELK (Filebeat :5044) · OPS → BRIDGE/ELK (agent :10050, node_exporter :9100) · alertes ELK → SOC</a:t>
            </a:r>
            <a:endParaRPr lang="en-US" sz="1300" dirty="0"/>
          </a:p>
        </p:txBody>
      </p:sp>
      <p:sp>
        <p:nvSpPr>
          <p:cNvPr id="30"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Préparation des VM : clonage propre et réseau maîtrisé</a:t>
            </a:r>
            <a:endParaRPr lang="en-US" sz="3000" dirty="0"/>
          </a:p>
        </p:txBody>
      </p:sp>
      <p:sp>
        <p:nvSpPr>
          <p:cNvPr id="3" name="frame-63"/>
          <p:cNvSpPr/>
          <p:nvPr/>
        </p:nvSpPr>
        <p:spPr>
          <a:xfrm>
            <a:off x="884776" y="1207008"/>
            <a:ext cx="4997008" cy="2871216"/>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4" name="shot-64" descr="VMnet8 en NAT, sous-réseau 172.16.0.0/24, passerelle .2"/>
          <p:cNvPicPr>
            <a:picLocks noChangeAspect="1"/>
          </p:cNvPicPr>
          <p:nvPr/>
        </p:nvPicPr>
        <p:blipFill>
          <a:blip r:embed="rId3"/>
          <a:stretch>
            <a:fillRect/>
          </a:stretch>
        </p:blipFill>
        <p:spPr>
          <a:xfrm>
            <a:off x="912208" y="1234440"/>
            <a:ext cx="4942144" cy="2816352"/>
          </a:xfrm>
          <a:prstGeom prst="rect">
            <a:avLst/>
          </a:prstGeom>
        </p:spPr>
      </p:pic>
      <p:sp>
        <p:nvSpPr>
          <p:cNvPr id="5" name="cap-65"/>
          <p:cNvSpPr txBox="1"/>
          <p:nvPr/>
        </p:nvSpPr>
        <p:spPr>
          <a:xfrm>
            <a:off x="912208" y="4105656"/>
            <a:ext cx="4942144" cy="237744"/>
          </a:xfrm>
          <a:prstGeom prst="rect">
            <a:avLst/>
          </a:prstGeom>
          <a:noFill/>
          <a:ln/>
        </p:spPr>
        <p:txBody>
          <a:bodyPr wrap="square" lIns="0" tIns="0" rIns="0" bIns="0" rtlCol="0" anchor="ctr"/>
          <a:lstStyle/>
          <a:p>
            <a:pPr marL="0" indent="0">
              <a:buNone/>
            </a:pPr>
            <a:r>
              <a:rPr lang="en-US" sz="1000" i="1" dirty="0">
                <a:solidFill>
                  <a:schemeClr val="accent5"/>
                </a:solidFill>
              </a:rPr>
              <a:t>VMnet8 en NAT, sous-réseau 172.16.0.0/24, passerelle .2</a:t>
            </a:r>
            <a:endParaRPr lang="en-US" sz="1000" dirty="0"/>
          </a:p>
        </p:txBody>
      </p:sp>
      <p:sp>
        <p:nvSpPr>
          <p:cNvPr id="6" name="frame-66"/>
          <p:cNvSpPr/>
          <p:nvPr/>
        </p:nvSpPr>
        <p:spPr>
          <a:xfrm>
            <a:off x="6743590" y="1207008"/>
            <a:ext cx="4617940" cy="1728216"/>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7" name="shot-67" descr="Clone assaini : nouveau machine-id et clés SSH"/>
          <p:cNvPicPr>
            <a:picLocks noChangeAspect="1"/>
          </p:cNvPicPr>
          <p:nvPr/>
        </p:nvPicPr>
        <p:blipFill>
          <a:blip r:embed="rId4"/>
          <a:stretch>
            <a:fillRect/>
          </a:stretch>
        </p:blipFill>
        <p:spPr>
          <a:xfrm>
            <a:off x="6771022" y="1234440"/>
            <a:ext cx="4563076" cy="1673352"/>
          </a:xfrm>
          <a:prstGeom prst="rect">
            <a:avLst/>
          </a:prstGeom>
        </p:spPr>
      </p:pic>
      <p:sp>
        <p:nvSpPr>
          <p:cNvPr id="8" name="cap-68"/>
          <p:cNvSpPr txBox="1"/>
          <p:nvPr/>
        </p:nvSpPr>
        <p:spPr>
          <a:xfrm>
            <a:off x="6771022" y="2962656"/>
            <a:ext cx="4563076" cy="237744"/>
          </a:xfrm>
          <a:prstGeom prst="rect">
            <a:avLst/>
          </a:prstGeom>
          <a:noFill/>
          <a:ln/>
        </p:spPr>
        <p:txBody>
          <a:bodyPr wrap="square" lIns="0" tIns="0" rIns="0" bIns="0" rtlCol="0" anchor="ctr"/>
          <a:lstStyle/>
          <a:p>
            <a:pPr marL="0" indent="0">
              <a:buNone/>
            </a:pPr>
            <a:r>
              <a:rPr lang="en-US" sz="1000" i="1" dirty="0">
                <a:solidFill>
                  <a:schemeClr val="accent5"/>
                </a:solidFill>
              </a:rPr>
              <a:t>Clone assaini : nouveau machine-id et clés SSH</a:t>
            </a:r>
            <a:endParaRPr lang="en-US" sz="1000" dirty="0"/>
          </a:p>
        </p:txBody>
      </p:sp>
      <p:sp>
        <p:nvSpPr>
          <p:cNvPr id="9" name="frame-69"/>
          <p:cNvSpPr/>
          <p:nvPr/>
        </p:nvSpPr>
        <p:spPr>
          <a:xfrm>
            <a:off x="6464808" y="3358764"/>
            <a:ext cx="5175504" cy="1128024"/>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10" name="shot-70" descr="Résolution de noms commune dans /etc/hosts"/>
          <p:cNvPicPr>
            <a:picLocks noChangeAspect="1"/>
          </p:cNvPicPr>
          <p:nvPr/>
        </p:nvPicPr>
        <p:blipFill>
          <a:blip r:embed="rId5"/>
          <a:stretch>
            <a:fillRect/>
          </a:stretch>
        </p:blipFill>
        <p:spPr>
          <a:xfrm>
            <a:off x="6492240" y="3386196"/>
            <a:ext cx="5120640" cy="1073160"/>
          </a:xfrm>
          <a:prstGeom prst="rect">
            <a:avLst/>
          </a:prstGeom>
        </p:spPr>
      </p:pic>
      <p:sp>
        <p:nvSpPr>
          <p:cNvPr id="11" name="cap-71"/>
          <p:cNvSpPr txBox="1"/>
          <p:nvPr/>
        </p:nvSpPr>
        <p:spPr>
          <a:xfrm>
            <a:off x="6492240" y="4514220"/>
            <a:ext cx="5120640" cy="237744"/>
          </a:xfrm>
          <a:prstGeom prst="rect">
            <a:avLst/>
          </a:prstGeom>
          <a:noFill/>
          <a:ln/>
        </p:spPr>
        <p:txBody>
          <a:bodyPr wrap="square" lIns="0" tIns="0" rIns="0" bIns="0" rtlCol="0" anchor="ctr"/>
          <a:lstStyle/>
          <a:p>
            <a:pPr marL="0" indent="0">
              <a:buNone/>
            </a:pPr>
            <a:r>
              <a:rPr lang="en-US" sz="1000" i="1" dirty="0">
                <a:solidFill>
                  <a:schemeClr val="accent5"/>
                </a:solidFill>
              </a:rPr>
              <a:t>Résolution de noms commune dans /etc/hosts</a:t>
            </a:r>
            <a:endParaRPr lang="en-US" sz="1000" dirty="0"/>
          </a:p>
        </p:txBody>
      </p:sp>
      <p:sp>
        <p:nvSpPr>
          <p:cNvPr id="12" name="bullets-72"/>
          <p:cNvSpPr txBox="1"/>
          <p:nvPr/>
        </p:nvSpPr>
        <p:spPr>
          <a:xfrm>
            <a:off x="548640" y="4572000"/>
            <a:ext cx="5760720" cy="1737360"/>
          </a:xfrm>
          <a:prstGeom prst="rect">
            <a:avLst/>
          </a:prstGeom>
          <a:noFill/>
          <a:ln/>
        </p:spPr>
        <p:txBody>
          <a:bodyPr wrap="square" lIns="25400" tIns="0" rIns="50800" bIns="25400" rtlCol="0" anchor="t"/>
          <a:lstStyle/>
          <a:p>
            <a:pPr marL="203200" indent="-203200">
              <a:spcAft>
                <a:spcPts val="800"/>
              </a:spcAft>
              <a:buSzPct val="100000"/>
              <a:buChar char="•"/>
            </a:pPr>
            <a:r>
              <a:rPr lang="en-US" sz="1400" b="1" dirty="0">
                <a:solidFill>
                  <a:schemeClr val="tx1"/>
                </a:solidFill>
              </a:rPr>
              <a:t>Clonage depuis Debian12-Base : </a:t>
            </a:r>
            <a:r>
              <a:rPr lang="en-US" sz="1400" dirty="0">
                <a:solidFill>
                  <a:schemeClr val="tx1"/>
                </a:solidFill>
              </a:rPr>
              <a:t>regénérer machine-id et clés SSH, sinon les 4 VM partagent la même identité</a:t>
            </a:r>
            <a:endParaRPr lang="en-US" sz="1400" dirty="0"/>
          </a:p>
          <a:p>
            <a:pPr marL="203200" indent="-203200">
              <a:spcAft>
                <a:spcPts val="800"/>
              </a:spcAft>
              <a:buSzPct val="100000"/>
              <a:buChar char="•"/>
            </a:pPr>
            <a:r>
              <a:rPr lang="en-US" sz="1400" b="1" dirty="0">
                <a:solidFill>
                  <a:schemeClr val="tx1"/>
                </a:solidFill>
              </a:rPr>
              <a:t>IP fixes </a:t>
            </a:r>
            <a:r>
              <a:rPr lang="en-US" sz="1400" dirty="0">
                <a:solidFill>
                  <a:schemeClr val="tx1"/>
                </a:solidFill>
              </a:rPr>
              <a:t>(/etc/network/interfaces) .10 → .40, DNS 172.16.0.2, nom d'hôte par VM</a:t>
            </a:r>
            <a:endParaRPr lang="en-US" sz="1400" dirty="0"/>
          </a:p>
          <a:p>
            <a:pPr marL="203200" indent="-203200">
              <a:spcAft>
                <a:spcPts val="800"/>
              </a:spcAft>
              <a:buSzPct val="100000"/>
              <a:buChar char="•"/>
            </a:pPr>
            <a:r>
              <a:rPr lang="en-US" sz="1400" b="1" dirty="0">
                <a:solidFill>
                  <a:schemeClr val="tx1"/>
                </a:solidFill>
              </a:rPr>
              <a:t>Socle commun : </a:t>
            </a:r>
            <a:r>
              <a:rPr lang="en-US" sz="1400" dirty="0">
                <a:solidFill>
                  <a:schemeClr val="tx1"/>
                </a:solidFill>
              </a:rPr>
              <a:t>mises à jour, outils (curl, jq, chrony), horloge synchronisée — indispensable pour corréler les journaux</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743200"/>
            <a:ext cx="10515600" cy="1097280"/>
          </a:xfrm>
          <a:prstGeom prst="rect">
            <a:avLst/>
          </a:prstGeom>
          <a:noFill/>
          <a:ln/>
        </p:spPr>
        <p:txBody>
          <a:bodyPr wrap="square" lIns="0" tIns="0" rIns="0" bIns="0" rtlCol="0" anchor="ctr"/>
          <a:lstStyle/>
          <a:p>
            <a:pPr marL="0" indent="0" algn="l">
              <a:buNone/>
            </a:pPr>
            <a:r>
              <a:rPr lang="en-US" sz="4000" b="1" dirty="0">
                <a:solidFill>
                  <a:schemeClr val="bg1"/>
                </a:solidFill>
                <a:latin typeface="Arial" pitchFamily="34" charset="0"/>
                <a:ea typeface="Arial" pitchFamily="34" charset="-122"/>
                <a:cs typeface="Arial" pitchFamily="34" charset="-120"/>
              </a:rPr>
              <a:t>Supervision des systèmes</a:t>
            </a:r>
            <a:endParaRPr lang="en-US" sz="4000" dirty="0"/>
          </a:p>
        </p:txBody>
      </p:sp>
      <p:sp>
        <p:nvSpPr>
          <p:cNvPr id="3" name="Text 0"/>
          <p:cNvSpPr>
            <a:spLocks noGrp="1"/>
          </p:cNvSpPr>
          <p:nvPr>
            <p:ph type="body" idx="101" hasCustomPrompt="1"/>
          </p:nvPr>
        </p:nvSpPr>
        <p:spPr>
          <a:xfrm>
            <a:off x="731520" y="3886200"/>
            <a:ext cx="10515600" cy="822960"/>
          </a:xfrm>
          <a:prstGeom prst="rect">
            <a:avLst/>
          </a:prstGeom>
          <a:noFill/>
          <a:ln/>
        </p:spPr>
        <p:txBody>
          <a:bodyPr wrap="square" lIns="0" tIns="0" rIns="0" bIns="0" rtlCol="0" anchor="t"/>
          <a:lstStyle/>
          <a:p>
            <a:pPr marL="0" indent="0">
              <a:buNone/>
            </a:pPr>
            <a:r>
              <a:rPr lang="en-US" sz="1800" dirty="0">
                <a:solidFill>
                  <a:schemeClr val="accent5"/>
                </a:solidFill>
              </a:rPr>
              <a:t>Missions 01 à 04 · Zabbix, Prometheus, Grafana et alertes</a:t>
            </a:r>
            <a:endParaRPr lang="en-US" sz="1800" dirty="0"/>
          </a:p>
        </p:txBody>
      </p:sp>
      <p:sp>
        <p:nvSpPr>
          <p:cNvPr id="4" name="sec-n"/>
          <p:cNvSpPr txBox="1"/>
          <p:nvPr/>
        </p:nvSpPr>
        <p:spPr>
          <a:xfrm>
            <a:off x="731520" y="1463040"/>
            <a:ext cx="3657600" cy="914400"/>
          </a:xfrm>
          <a:prstGeom prst="rect">
            <a:avLst/>
          </a:prstGeom>
          <a:noFill/>
          <a:ln/>
        </p:spPr>
        <p:txBody>
          <a:bodyPr wrap="square" lIns="0" tIns="0" rIns="0" bIns="0" rtlCol="0" anchor="ctr"/>
          <a:lstStyle/>
          <a:p>
            <a:pPr marL="0" indent="0">
              <a:buNone/>
            </a:pPr>
            <a:r>
              <a:rPr lang="en-US" sz="5400" b="1" dirty="0">
                <a:solidFill>
                  <a:schemeClr val="accent1"/>
                </a:solidFill>
                <a:latin typeface="Arial" pitchFamily="34" charset="0"/>
                <a:ea typeface="Arial" pitchFamily="34" charset="-122"/>
                <a:cs typeface="Arial" pitchFamily="34" charset="-120"/>
              </a:rPr>
              <a:t>01 – 04</a:t>
            </a:r>
            <a:endParaRPr lang="en-US" sz="5400" dirty="0"/>
          </a:p>
        </p:txBody>
      </p:sp>
      <p:sp>
        <p:nvSpPr>
          <p:cNvPr id="25" name="Slide Number Placeholder 0"/>
          <p:cNvSpPr>
            <a:spLocks noGrp="1"/>
          </p:cNvSpPr>
          <p:nvPr>
            <p:ph type="sldNum" sz="quarter" idx="4294967295"/>
          </p:nvPr>
        </p:nvSpPr>
        <p:spPr>
          <a:xfrm>
            <a:off x="11155680" y="635508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08760" y="320040"/>
            <a:ext cx="1010412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Installation et configuration de Zabbix</a:t>
            </a:r>
            <a:endParaRPr lang="en-US" sz="3000" dirty="0"/>
          </a:p>
        </p:txBody>
      </p:sp>
      <p:sp>
        <p:nvSpPr>
          <p:cNvPr id="3" name="badge-73"/>
          <p:cNvSpPr/>
          <p:nvPr/>
        </p:nvSpPr>
        <p:spPr>
          <a:xfrm>
            <a:off x="548640" y="320040"/>
            <a:ext cx="731520" cy="731520"/>
          </a:xfrm>
          <a:prstGeom prst="ellipse">
            <a:avLst/>
          </a:prstGeom>
          <a:solidFill>
            <a:schemeClr val="accent1"/>
          </a:solidFill>
          <a:ln w="12700">
            <a:solidFill>
              <a:schemeClr val="accent1"/>
            </a:solidFill>
            <a:prstDash val="solid"/>
          </a:ln>
        </p:spPr>
        <p:txBody>
          <a:bodyPr/>
          <a:lstStyle/>
          <a:p>
            <a:endParaRPr lang="fr-FR"/>
          </a:p>
        </p:txBody>
      </p:sp>
      <p:sp>
        <p:nvSpPr>
          <p:cNvPr id="4" name="badge-num-74"/>
          <p:cNvSpPr txBox="1"/>
          <p:nvPr/>
        </p:nvSpPr>
        <p:spPr>
          <a:xfrm>
            <a:off x="548640" y="320040"/>
            <a:ext cx="731520" cy="731520"/>
          </a:xfrm>
          <a:prstGeom prst="rect">
            <a:avLst/>
          </a:prstGeom>
          <a:noFill/>
          <a:ln/>
        </p:spPr>
        <p:txBody>
          <a:bodyPr wrap="square" lIns="0" tIns="0" rIns="0" bIns="0" rtlCol="0" anchor="ctr"/>
          <a:lstStyle/>
          <a:p>
            <a:pPr marL="0" indent="0" algn="ctr">
              <a:buNone/>
            </a:pPr>
            <a:r>
              <a:rPr lang="en-US" sz="2200" b="1" dirty="0">
                <a:solidFill>
                  <a:schemeClr val="tx1"/>
                </a:solidFill>
                <a:latin typeface="Arial" pitchFamily="34" charset="0"/>
                <a:ea typeface="Arial" pitchFamily="34" charset="-122"/>
                <a:cs typeface="Arial" pitchFamily="34" charset="-120"/>
              </a:rPr>
              <a:t>01</a:t>
            </a:r>
            <a:endParaRPr lang="en-US" sz="2200" dirty="0"/>
          </a:p>
        </p:txBody>
      </p:sp>
      <p:sp>
        <p:nvSpPr>
          <p:cNvPr id="5" name="frame-75"/>
          <p:cNvSpPr/>
          <p:nvPr/>
        </p:nvSpPr>
        <p:spPr>
          <a:xfrm>
            <a:off x="1356761" y="1252728"/>
            <a:ext cx="4144479" cy="630936"/>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6" name="shot-76" descr="Dépôt officiel Zabbix 7.0 et paquets serveur/front/agent"/>
          <p:cNvPicPr>
            <a:picLocks noChangeAspect="1"/>
          </p:cNvPicPr>
          <p:nvPr/>
        </p:nvPicPr>
        <p:blipFill>
          <a:blip r:embed="rId3"/>
          <a:stretch>
            <a:fillRect/>
          </a:stretch>
        </p:blipFill>
        <p:spPr>
          <a:xfrm>
            <a:off x="1384193" y="1280160"/>
            <a:ext cx="4089615" cy="576072"/>
          </a:xfrm>
          <a:prstGeom prst="rect">
            <a:avLst/>
          </a:prstGeom>
        </p:spPr>
      </p:pic>
      <p:sp>
        <p:nvSpPr>
          <p:cNvPr id="7" name="cap-77"/>
          <p:cNvSpPr txBox="1"/>
          <p:nvPr/>
        </p:nvSpPr>
        <p:spPr>
          <a:xfrm>
            <a:off x="1384193" y="1911096"/>
            <a:ext cx="4089615" cy="237744"/>
          </a:xfrm>
          <a:prstGeom prst="rect">
            <a:avLst/>
          </a:prstGeom>
          <a:noFill/>
          <a:ln/>
        </p:spPr>
        <p:txBody>
          <a:bodyPr wrap="square" lIns="0" tIns="0" rIns="0" bIns="0" rtlCol="0" anchor="ctr"/>
          <a:lstStyle/>
          <a:p>
            <a:pPr marL="0" indent="0">
              <a:buNone/>
            </a:pPr>
            <a:r>
              <a:rPr lang="en-US" sz="1000" i="1" dirty="0">
                <a:solidFill>
                  <a:schemeClr val="accent5"/>
                </a:solidFill>
              </a:rPr>
              <a:t>Dépôt officiel Zabbix 7.0 et paquets serveur/front/agent</a:t>
            </a:r>
            <a:endParaRPr lang="en-US" sz="1000" dirty="0"/>
          </a:p>
        </p:txBody>
      </p:sp>
      <p:sp>
        <p:nvSpPr>
          <p:cNvPr id="8" name="frame-78"/>
          <p:cNvSpPr/>
          <p:nvPr/>
        </p:nvSpPr>
        <p:spPr>
          <a:xfrm>
            <a:off x="625209" y="2304288"/>
            <a:ext cx="5607583" cy="3328416"/>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9" name="shot-79" descr="Assistant web : connexion à la base MariaDB « zabbix »"/>
          <p:cNvPicPr>
            <a:picLocks noChangeAspect="1"/>
          </p:cNvPicPr>
          <p:nvPr/>
        </p:nvPicPr>
        <p:blipFill>
          <a:blip r:embed="rId4"/>
          <a:stretch>
            <a:fillRect/>
          </a:stretch>
        </p:blipFill>
        <p:spPr>
          <a:xfrm>
            <a:off x="652641" y="2331720"/>
            <a:ext cx="5552719" cy="3273552"/>
          </a:xfrm>
          <a:prstGeom prst="rect">
            <a:avLst/>
          </a:prstGeom>
        </p:spPr>
      </p:pic>
      <p:sp>
        <p:nvSpPr>
          <p:cNvPr id="10" name="cap-80"/>
          <p:cNvSpPr txBox="1"/>
          <p:nvPr/>
        </p:nvSpPr>
        <p:spPr>
          <a:xfrm>
            <a:off x="652641" y="5660136"/>
            <a:ext cx="5552719" cy="237744"/>
          </a:xfrm>
          <a:prstGeom prst="rect">
            <a:avLst/>
          </a:prstGeom>
          <a:noFill/>
          <a:ln/>
        </p:spPr>
        <p:txBody>
          <a:bodyPr wrap="square" lIns="0" tIns="0" rIns="0" bIns="0" rtlCol="0" anchor="ctr"/>
          <a:lstStyle/>
          <a:p>
            <a:pPr marL="0" indent="0">
              <a:buNone/>
            </a:pPr>
            <a:r>
              <a:rPr lang="en-US" sz="1000" i="1" dirty="0">
                <a:solidFill>
                  <a:schemeClr val="accent5"/>
                </a:solidFill>
              </a:rPr>
              <a:t>Assistant web : connexion à la base MariaDB « zabbix »</a:t>
            </a:r>
            <a:endParaRPr lang="en-US" sz="1000" dirty="0"/>
          </a:p>
        </p:txBody>
      </p:sp>
      <p:sp>
        <p:nvSpPr>
          <p:cNvPr id="11" name="card-81"/>
          <p:cNvSpPr/>
          <p:nvPr/>
        </p:nvSpPr>
        <p:spPr>
          <a:xfrm>
            <a:off x="6675120" y="1280160"/>
            <a:ext cx="4937760" cy="4617720"/>
          </a:xfrm>
          <a:prstGeom prst="roundRect">
            <a:avLst>
              <a:gd name="adj" fmla="val 1584"/>
            </a:avLst>
          </a:prstGeom>
          <a:solidFill>
            <a:schemeClr val="bg2"/>
          </a:solidFill>
          <a:ln w="9525">
            <a:solidFill>
              <a:srgbClr val="D6DEEA"/>
            </a:solidFill>
            <a:prstDash val="solid"/>
          </a:ln>
        </p:spPr>
        <p:txBody>
          <a:bodyPr/>
          <a:lstStyle/>
          <a:p>
            <a:endParaRPr lang="fr-FR"/>
          </a:p>
        </p:txBody>
      </p:sp>
      <p:sp>
        <p:nvSpPr>
          <p:cNvPr id="12" name="card-t-82"/>
          <p:cNvSpPr txBox="1"/>
          <p:nvPr/>
        </p:nvSpPr>
        <p:spPr>
          <a:xfrm>
            <a:off x="6858000" y="1417320"/>
            <a:ext cx="4572000" cy="365760"/>
          </a:xfrm>
          <a:prstGeom prst="rect">
            <a:avLst/>
          </a:prstGeom>
          <a:noFill/>
          <a:ln/>
        </p:spPr>
        <p:txBody>
          <a:bodyPr wrap="square" lIns="0" tIns="0" rIns="0" bIns="0" rtlCol="0" anchor="ctr"/>
          <a:lstStyle/>
          <a:p>
            <a:pPr marL="0" indent="0">
              <a:buNone/>
            </a:pPr>
            <a:r>
              <a:rPr lang="en-US" sz="1600" b="1" dirty="0">
                <a:solidFill>
                  <a:schemeClr val="tx1"/>
                </a:solidFill>
              </a:rPr>
              <a:t>Étapes sur ENT-OPS (172.16.0.10)</a:t>
            </a:r>
            <a:endParaRPr lang="en-US" sz="1600" dirty="0"/>
          </a:p>
        </p:txBody>
      </p:sp>
      <p:sp>
        <p:nvSpPr>
          <p:cNvPr id="13" name="card-b-83"/>
          <p:cNvSpPr txBox="1"/>
          <p:nvPr/>
        </p:nvSpPr>
        <p:spPr>
          <a:xfrm>
            <a:off x="6858000" y="1828800"/>
            <a:ext cx="4572000" cy="393192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chemeClr val="tx1"/>
                </a:solidFill>
              </a:rPr>
              <a:t>Ajout du dépôt zabbix-release 7.0 pour Debian 12</a:t>
            </a:r>
            <a:endParaRPr lang="en-US" sz="1400" dirty="0"/>
          </a:p>
          <a:p>
            <a:pPr marL="152400" indent="-152400">
              <a:spcAft>
                <a:spcPts val="400"/>
              </a:spcAft>
              <a:buSzPct val="100000"/>
              <a:buChar char="•"/>
            </a:pPr>
            <a:r>
              <a:rPr lang="en-US" sz="1400" dirty="0">
                <a:solidFill>
                  <a:schemeClr val="tx1"/>
                </a:solidFill>
              </a:rPr>
              <a:t>Installation : MariaDB, zabbix-server-mysql, frontend PHP (Apache), agent 2</a:t>
            </a:r>
            <a:endParaRPr lang="en-US" sz="1400" dirty="0"/>
          </a:p>
          <a:p>
            <a:pPr marL="152400" indent="-152400">
              <a:spcAft>
                <a:spcPts val="400"/>
              </a:spcAft>
              <a:buSzPct val="100000"/>
              <a:buChar char="•"/>
            </a:pPr>
            <a:r>
              <a:rPr lang="en-US" sz="1400" dirty="0">
                <a:solidFill>
                  <a:schemeClr val="tx1"/>
                </a:solidFill>
              </a:rPr>
              <a:t>Création de la base en utf8mb4_bin + import du schéma server.sql.gz</a:t>
            </a:r>
            <a:endParaRPr lang="en-US" sz="1400" dirty="0"/>
          </a:p>
          <a:p>
            <a:pPr marL="152400" indent="-152400">
              <a:spcAft>
                <a:spcPts val="400"/>
              </a:spcAft>
              <a:buSzPct val="100000"/>
              <a:buChar char="•"/>
            </a:pPr>
            <a:r>
              <a:rPr lang="en-US" sz="1400" dirty="0">
                <a:solidFill>
                  <a:schemeClr val="tx1"/>
                </a:solidFill>
              </a:rPr>
              <a:t>DBPassword renseigné dans zabbix_server.conf</a:t>
            </a:r>
            <a:endParaRPr lang="en-US" sz="1400" dirty="0"/>
          </a:p>
          <a:p>
            <a:pPr marL="152400" indent="-152400">
              <a:spcAft>
                <a:spcPts val="400"/>
              </a:spcAft>
              <a:buSzPct val="100000"/>
              <a:buChar char="•"/>
            </a:pPr>
            <a:r>
              <a:rPr lang="en-US" sz="1400" dirty="0">
                <a:solidFill>
                  <a:schemeClr val="tx1"/>
                </a:solidFill>
              </a:rPr>
              <a:t>Services activés : zabbix-server, zabbix-agent2, apache2</a:t>
            </a:r>
            <a:endParaRPr lang="en-US" sz="1400" dirty="0"/>
          </a:p>
          <a:p>
            <a:pPr marL="152400" indent="-152400">
              <a:spcAft>
                <a:spcPts val="400"/>
              </a:spcAft>
              <a:buSzPct val="100000"/>
              <a:buChar char="•"/>
            </a:pPr>
            <a:r>
              <a:rPr lang="en-US" sz="1400" dirty="0">
                <a:solidFill>
                  <a:schemeClr val="tx1"/>
                </a:solidFill>
              </a:rPr>
              <a:t>Vérification : ports 10051 (serveur), 10050 (agent), 80 (web) en écoute</a:t>
            </a:r>
            <a:endParaRPr lang="en-US" sz="1400" dirty="0"/>
          </a:p>
          <a:p>
            <a:pPr marL="152400" indent="-152400">
              <a:spcAft>
                <a:spcPts val="400"/>
              </a:spcAft>
              <a:buSzPct val="100000"/>
              <a:buChar char="•"/>
            </a:pPr>
            <a:r>
              <a:rPr lang="en-US" sz="1400" dirty="0">
                <a:solidFill>
                  <a:schemeClr val="tx1"/>
                </a:solidFill>
              </a:rPr>
              <a:t>Assistant web terminé → Zabbix 7.0.30 opérationnel, mot de passe Admin par défaut changé</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08760" y="320040"/>
            <a:ext cx="1010412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Systèmes du vaisseau ajoutés et métriques collectées</a:t>
            </a:r>
            <a:endParaRPr lang="en-US" sz="3000" dirty="0"/>
          </a:p>
        </p:txBody>
      </p:sp>
      <p:sp>
        <p:nvSpPr>
          <p:cNvPr id="3" name="badge-84"/>
          <p:cNvSpPr/>
          <p:nvPr/>
        </p:nvSpPr>
        <p:spPr>
          <a:xfrm>
            <a:off x="548640" y="320040"/>
            <a:ext cx="731520" cy="731520"/>
          </a:xfrm>
          <a:prstGeom prst="ellipse">
            <a:avLst/>
          </a:prstGeom>
          <a:solidFill>
            <a:schemeClr val="accent1"/>
          </a:solidFill>
          <a:ln w="12700">
            <a:solidFill>
              <a:schemeClr val="accent1"/>
            </a:solidFill>
            <a:prstDash val="solid"/>
          </a:ln>
        </p:spPr>
        <p:txBody>
          <a:bodyPr/>
          <a:lstStyle/>
          <a:p>
            <a:endParaRPr lang="fr-FR"/>
          </a:p>
        </p:txBody>
      </p:sp>
      <p:sp>
        <p:nvSpPr>
          <p:cNvPr id="4" name="badge-num-85"/>
          <p:cNvSpPr txBox="1"/>
          <p:nvPr/>
        </p:nvSpPr>
        <p:spPr>
          <a:xfrm>
            <a:off x="548640" y="320040"/>
            <a:ext cx="731520" cy="731520"/>
          </a:xfrm>
          <a:prstGeom prst="rect">
            <a:avLst/>
          </a:prstGeom>
          <a:noFill/>
          <a:ln/>
        </p:spPr>
        <p:txBody>
          <a:bodyPr wrap="square" lIns="0" tIns="0" rIns="0" bIns="0" rtlCol="0" anchor="ctr"/>
          <a:lstStyle/>
          <a:p>
            <a:pPr marL="0" indent="0" algn="ctr">
              <a:buNone/>
            </a:pPr>
            <a:r>
              <a:rPr lang="en-US" sz="2200" b="1" dirty="0">
                <a:solidFill>
                  <a:schemeClr val="tx1"/>
                </a:solidFill>
                <a:latin typeface="Arial" pitchFamily="34" charset="0"/>
                <a:ea typeface="Arial" pitchFamily="34" charset="-122"/>
                <a:cs typeface="Arial" pitchFamily="34" charset="-120"/>
              </a:rPr>
              <a:t>01</a:t>
            </a:r>
            <a:endParaRPr lang="en-US" sz="2200" dirty="0"/>
          </a:p>
        </p:txBody>
      </p:sp>
      <p:sp>
        <p:nvSpPr>
          <p:cNvPr id="5" name="frame-86"/>
          <p:cNvSpPr/>
          <p:nvPr/>
        </p:nvSpPr>
        <p:spPr>
          <a:xfrm>
            <a:off x="683551" y="1252728"/>
            <a:ext cx="6496739" cy="1362456"/>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6" name="shot-87" descr="Agent 2 sur ENT-BRIDGE : Server / ServerActive = 172.16.0.10"/>
          <p:cNvPicPr>
            <a:picLocks noChangeAspect="1"/>
          </p:cNvPicPr>
          <p:nvPr/>
        </p:nvPicPr>
        <p:blipFill>
          <a:blip r:embed="rId3"/>
          <a:stretch>
            <a:fillRect/>
          </a:stretch>
        </p:blipFill>
        <p:spPr>
          <a:xfrm>
            <a:off x="710983" y="1280160"/>
            <a:ext cx="6441875" cy="1307592"/>
          </a:xfrm>
          <a:prstGeom prst="rect">
            <a:avLst/>
          </a:prstGeom>
        </p:spPr>
      </p:pic>
      <p:sp>
        <p:nvSpPr>
          <p:cNvPr id="7" name="cap-88"/>
          <p:cNvSpPr txBox="1"/>
          <p:nvPr/>
        </p:nvSpPr>
        <p:spPr>
          <a:xfrm>
            <a:off x="710983" y="2642616"/>
            <a:ext cx="6441875" cy="237744"/>
          </a:xfrm>
          <a:prstGeom prst="rect">
            <a:avLst/>
          </a:prstGeom>
          <a:noFill/>
          <a:ln/>
        </p:spPr>
        <p:txBody>
          <a:bodyPr wrap="square" lIns="0" tIns="0" rIns="0" bIns="0" rtlCol="0" anchor="ctr"/>
          <a:lstStyle/>
          <a:p>
            <a:pPr marL="0" indent="0">
              <a:buNone/>
            </a:pPr>
            <a:r>
              <a:rPr lang="en-US" sz="1000" i="1" dirty="0">
                <a:solidFill>
                  <a:schemeClr val="accent5"/>
                </a:solidFill>
              </a:rPr>
              <a:t>Agent 2 sur ENT-BRIDGE : Server / ServerActive = 172.16.0.10</a:t>
            </a:r>
            <a:endParaRPr lang="en-US" sz="1000" dirty="0"/>
          </a:p>
        </p:txBody>
      </p:sp>
      <p:sp>
        <p:nvSpPr>
          <p:cNvPr id="8" name="frame-89"/>
          <p:cNvSpPr/>
          <p:nvPr/>
        </p:nvSpPr>
        <p:spPr>
          <a:xfrm>
            <a:off x="1247952" y="3035808"/>
            <a:ext cx="5367936" cy="2962656"/>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9" name="shot-90" descr="ENT-BRIDGE ajouté avec le modèle « Linux by Zabbix agent » — disponibilité ZBX verte"/>
          <p:cNvPicPr>
            <a:picLocks noChangeAspect="1"/>
          </p:cNvPicPr>
          <p:nvPr/>
        </p:nvPicPr>
        <p:blipFill>
          <a:blip r:embed="rId4"/>
          <a:stretch>
            <a:fillRect/>
          </a:stretch>
        </p:blipFill>
        <p:spPr>
          <a:xfrm>
            <a:off x="1275384" y="3063240"/>
            <a:ext cx="5313072" cy="2907792"/>
          </a:xfrm>
          <a:prstGeom prst="rect">
            <a:avLst/>
          </a:prstGeom>
        </p:spPr>
      </p:pic>
      <p:sp>
        <p:nvSpPr>
          <p:cNvPr id="10" name="cap-91"/>
          <p:cNvSpPr txBox="1"/>
          <p:nvPr/>
        </p:nvSpPr>
        <p:spPr>
          <a:xfrm>
            <a:off x="1275384" y="6025896"/>
            <a:ext cx="5313072" cy="237744"/>
          </a:xfrm>
          <a:prstGeom prst="rect">
            <a:avLst/>
          </a:prstGeom>
          <a:noFill/>
          <a:ln/>
        </p:spPr>
        <p:txBody>
          <a:bodyPr wrap="square" lIns="0" tIns="0" rIns="0" bIns="0" rtlCol="0" anchor="ctr"/>
          <a:lstStyle/>
          <a:p>
            <a:pPr marL="0" indent="0">
              <a:buNone/>
            </a:pPr>
            <a:r>
              <a:rPr lang="en-US" sz="1000" i="1" dirty="0">
                <a:solidFill>
                  <a:schemeClr val="accent5"/>
                </a:solidFill>
              </a:rPr>
              <a:t>ENT-BRIDGE ajouté avec le modèle « Linux by Zabbix agent » — disponibilité ZBX verte</a:t>
            </a:r>
            <a:endParaRPr lang="en-US" sz="1000" dirty="0"/>
          </a:p>
        </p:txBody>
      </p:sp>
      <p:sp>
        <p:nvSpPr>
          <p:cNvPr id="11" name="label-92"/>
          <p:cNvSpPr txBox="1"/>
          <p:nvPr/>
        </p:nvSpPr>
        <p:spPr>
          <a:xfrm>
            <a:off x="7680960" y="1325880"/>
            <a:ext cx="3931920" cy="292608"/>
          </a:xfrm>
          <a:prstGeom prst="rect">
            <a:avLst/>
          </a:prstGeom>
          <a:noFill/>
          <a:ln/>
        </p:spPr>
        <p:txBody>
          <a:bodyPr wrap="square" lIns="0" tIns="0" rIns="0" bIns="0" rtlCol="0" anchor="ctr"/>
          <a:lstStyle/>
          <a:p>
            <a:pPr marL="0" indent="0">
              <a:buNone/>
            </a:pPr>
            <a:r>
              <a:rPr lang="en-US" sz="1200" b="1" kern="0" spc="100" dirty="0">
                <a:solidFill>
                  <a:schemeClr val="accent2"/>
                </a:solidFill>
              </a:rPr>
              <a:t>RESSOURCES SURVEILLÉES SUR ENT-BRIDGE</a:t>
            </a:r>
            <a:endParaRPr lang="en-US" sz="1200" dirty="0"/>
          </a:p>
        </p:txBody>
      </p:sp>
      <p:graphicFrame>
        <p:nvGraphicFramePr>
          <p:cNvPr id="12" name="tab-m01"/>
          <p:cNvGraphicFramePr>
            <a:graphicFrameLocks noGrp="1"/>
          </p:cNvGraphicFramePr>
          <p:nvPr>
            <p:extLst>
              <p:ext uri="{D42A27DB-BD31-4B8C-83A1-F6EECF244321}">
                <p14:modId xmlns:p14="http://schemas.microsoft.com/office/powerpoint/2010/main" val="1579011935"/>
              </p:ext>
            </p:extLst>
          </p:nvPr>
        </p:nvGraphicFramePr>
        <p:xfrm>
          <a:off x="7680960" y="1691640"/>
          <a:ext cx="3931920" cy="914400"/>
        </p:xfrm>
        <a:graphic>
          <a:graphicData uri="http://schemas.openxmlformats.org/drawingml/2006/table">
            <a:tbl>
              <a:tblPr/>
              <a:tblGrid>
                <a:gridCol w="9144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384048">
                <a:tc>
                  <a:txBody>
                    <a:bodyPr/>
                    <a:lstStyle/>
                    <a:p>
                      <a:pPr marL="0" indent="0">
                        <a:buNone/>
                      </a:pPr>
                      <a:r>
                        <a:rPr lang="en-US" sz="1300" b="1" dirty="0">
                          <a:solidFill>
                            <a:schemeClr val="bg1"/>
                          </a:solidFill>
                        </a:rPr>
                        <a:t>Ressource</a:t>
                      </a:r>
                      <a:endParaRPr lang="en-US" sz="1300" dirty="0"/>
                    </a:p>
                  </a:txBody>
                  <a:tcPr marL="54864" marR="54864" marT="54864" marB="54864">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Élément Zabbix</a:t>
                      </a:r>
                      <a:endParaRPr lang="en-US" sz="1300" dirty="0"/>
                    </a:p>
                  </a:txBody>
                  <a:tcPr marL="54864" marR="54864" marT="54864" marB="54864">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tx2"/>
                    </a:solidFill>
                  </a:tcPr>
                </a:tc>
                <a:tc>
                  <a:txBody>
                    <a:bodyPr/>
                    <a:lstStyle/>
                    <a:p>
                      <a:pPr marL="0" indent="0" algn="r">
                        <a:buNone/>
                      </a:pPr>
                      <a:r>
                        <a:rPr lang="en-US" sz="1300" b="1" dirty="0">
                          <a:solidFill>
                            <a:schemeClr val="bg1"/>
                          </a:solidFill>
                        </a:rPr>
                        <a:t>Valeur</a:t>
                      </a:r>
                      <a:endParaRPr lang="en-US" sz="1300" dirty="0"/>
                    </a:p>
                  </a:txBody>
                  <a:tcPr marL="54864" marR="54864" marT="54864" marB="54864">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84048">
                <a:tc>
                  <a:txBody>
                    <a:bodyPr/>
                    <a:lstStyle/>
                    <a:p>
                      <a:pPr marL="0" indent="0">
                        <a:buNone/>
                      </a:pPr>
                      <a:r>
                        <a:rPr lang="en-US" sz="1300" dirty="0">
                          <a:solidFill>
                            <a:schemeClr val="tx1"/>
                          </a:solidFill>
                        </a:rPr>
                        <a:t>CPU</a:t>
                      </a:r>
                      <a:endParaRPr lang="en-US" sz="1300" dirty="0"/>
                    </a:p>
                  </a:txBody>
                  <a:tcPr marL="54864" marR="54864" marT="54864" marB="54864">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CPU utilization</a:t>
                      </a:r>
                      <a:endParaRPr lang="en-US" sz="1300" dirty="0"/>
                    </a:p>
                  </a:txBody>
                  <a:tcPr marL="54864" marR="54864" marT="54864" marB="54864">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tc>
                  <a:txBody>
                    <a:bodyPr/>
                    <a:lstStyle/>
                    <a:p>
                      <a:pPr marL="0" indent="0" algn="r">
                        <a:buNone/>
                      </a:pPr>
                      <a:r>
                        <a:rPr lang="en-US" sz="1300" dirty="0">
                          <a:solidFill>
                            <a:schemeClr val="tx1"/>
                          </a:solidFill>
                        </a:rPr>
                        <a:t>0,88 %</a:t>
                      </a:r>
                      <a:endParaRPr lang="en-US" sz="1300" dirty="0"/>
                    </a:p>
                  </a:txBody>
                  <a:tcPr marL="54864" marR="54864" marT="54864" marB="54864">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84048">
                <a:tc>
                  <a:txBody>
                    <a:bodyPr/>
                    <a:lstStyle/>
                    <a:p>
                      <a:pPr marL="0" indent="0">
                        <a:buNone/>
                      </a:pPr>
                      <a:r>
                        <a:rPr lang="en-US" sz="1300" dirty="0">
                          <a:solidFill>
                            <a:schemeClr val="tx1"/>
                          </a:solidFill>
                        </a:rPr>
                        <a:t>RAM</a:t>
                      </a:r>
                      <a:endParaRPr lang="en-US" sz="1300" dirty="0"/>
                    </a:p>
                  </a:txBody>
                  <a:tcPr marL="54864" marR="54864" marT="54864" marB="54864">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Available memory in %</a:t>
                      </a:r>
                      <a:endParaRPr lang="en-US" sz="1300" dirty="0"/>
                    </a:p>
                  </a:txBody>
                  <a:tcPr marL="54864" marR="54864" marT="54864" marB="54864">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tc>
                  <a:txBody>
                    <a:bodyPr/>
                    <a:lstStyle/>
                    <a:p>
                      <a:pPr marL="0" indent="0" algn="r">
                        <a:buNone/>
                      </a:pPr>
                      <a:r>
                        <a:rPr lang="en-US" sz="1300" dirty="0">
                          <a:solidFill>
                            <a:schemeClr val="tx1"/>
                          </a:solidFill>
                        </a:rPr>
                        <a:t>69,8 %</a:t>
                      </a:r>
                      <a:endParaRPr lang="en-US" sz="1300" dirty="0"/>
                    </a:p>
                  </a:txBody>
                  <a:tcPr marL="54864" marR="54864" marT="54864" marB="54864">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84048">
                <a:tc>
                  <a:txBody>
                    <a:bodyPr/>
                    <a:lstStyle/>
                    <a:p>
                      <a:pPr marL="0" indent="0">
                        <a:buNone/>
                      </a:pPr>
                      <a:r>
                        <a:rPr lang="en-US" sz="1300" dirty="0">
                          <a:solidFill>
                            <a:schemeClr val="tx1"/>
                          </a:solidFill>
                        </a:rPr>
                        <a:t>Disque</a:t>
                      </a:r>
                      <a:endParaRPr lang="en-US" sz="1300" dirty="0"/>
                    </a:p>
                  </a:txBody>
                  <a:tcPr marL="54864" marR="54864" marT="54864" marB="54864">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FS [/]: Space: Used, in %</a:t>
                      </a:r>
                      <a:endParaRPr lang="en-US" sz="1300" dirty="0"/>
                    </a:p>
                  </a:txBody>
                  <a:tcPr marL="54864" marR="54864" marT="54864" marB="54864">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tc>
                  <a:txBody>
                    <a:bodyPr/>
                    <a:lstStyle/>
                    <a:p>
                      <a:pPr marL="0" indent="0" algn="r">
                        <a:buNone/>
                      </a:pPr>
                      <a:r>
                        <a:rPr lang="en-US" sz="1300" dirty="0">
                          <a:solidFill>
                            <a:schemeClr val="tx1"/>
                          </a:solidFill>
                        </a:rPr>
                        <a:t>15,3 %</a:t>
                      </a:r>
                      <a:endParaRPr lang="en-US" sz="1300" dirty="0"/>
                    </a:p>
                  </a:txBody>
                  <a:tcPr marL="54864" marR="54864" marT="54864" marB="54864">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13" name="bullets-93"/>
          <p:cNvSpPr txBox="1"/>
          <p:nvPr/>
        </p:nvSpPr>
        <p:spPr>
          <a:xfrm>
            <a:off x="7680960" y="3520440"/>
            <a:ext cx="3931920" cy="2651760"/>
          </a:xfrm>
          <a:prstGeom prst="rect">
            <a:avLst/>
          </a:prstGeom>
          <a:noFill/>
          <a:ln/>
        </p:spPr>
        <p:txBody>
          <a:bodyPr wrap="square" lIns="25400" tIns="0" rIns="50800" bIns="25400" rtlCol="0" anchor="t"/>
          <a:lstStyle/>
          <a:p>
            <a:pPr marL="203200" indent="-203200">
              <a:spcAft>
                <a:spcPts val="800"/>
              </a:spcAft>
              <a:buSzPct val="100000"/>
              <a:buChar char="•"/>
            </a:pPr>
            <a:r>
              <a:rPr lang="en-US" sz="1400" dirty="0">
                <a:solidFill>
                  <a:schemeClr val="tx1"/>
                </a:solidFill>
              </a:rPr>
              <a:t>Agent Zabbix 2 installé sur ENT-BRIDGE, écoute sur :10050</a:t>
            </a:r>
            <a:endParaRPr lang="en-US" sz="1400" dirty="0"/>
          </a:p>
          <a:p>
            <a:pPr marL="203200" indent="-203200">
              <a:spcAft>
                <a:spcPts val="800"/>
              </a:spcAft>
              <a:buSzPct val="100000"/>
              <a:buChar char="•"/>
            </a:pPr>
            <a:r>
              <a:rPr lang="en-US" sz="1400" dirty="0">
                <a:solidFill>
                  <a:schemeClr val="tx1"/>
                </a:solidFill>
              </a:rPr>
              <a:t>Le modèle Linux fournit 68 éléments, 25 déclencheurs et 14 graphiques</a:t>
            </a:r>
            <a:endParaRPr lang="en-US" sz="1400" dirty="0"/>
          </a:p>
          <a:p>
            <a:pPr marL="203200" indent="-203200">
              <a:spcAft>
                <a:spcPts val="800"/>
              </a:spcAft>
              <a:buSzPct val="100000"/>
              <a:buChar char="•"/>
            </a:pPr>
            <a:r>
              <a:rPr lang="en-US" sz="1400" dirty="0">
                <a:solidFill>
                  <a:schemeClr val="tx1"/>
                </a:solidFill>
              </a:rPr>
              <a:t>Les 3 ressources exigées par la mission sont collectées toutes les minutes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08760" y="320040"/>
            <a:ext cx="1010412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Graphique personnalisé CPU / RAM / Disque</a:t>
            </a:r>
            <a:endParaRPr lang="en-US" sz="3000" dirty="0"/>
          </a:p>
        </p:txBody>
      </p:sp>
      <p:sp>
        <p:nvSpPr>
          <p:cNvPr id="3" name="badge-94"/>
          <p:cNvSpPr/>
          <p:nvPr/>
        </p:nvSpPr>
        <p:spPr>
          <a:xfrm>
            <a:off x="548640" y="320040"/>
            <a:ext cx="731520" cy="731520"/>
          </a:xfrm>
          <a:prstGeom prst="ellipse">
            <a:avLst/>
          </a:prstGeom>
          <a:solidFill>
            <a:schemeClr val="accent1"/>
          </a:solidFill>
          <a:ln w="12700">
            <a:solidFill>
              <a:schemeClr val="accent1"/>
            </a:solidFill>
            <a:prstDash val="solid"/>
          </a:ln>
        </p:spPr>
        <p:txBody>
          <a:bodyPr/>
          <a:lstStyle/>
          <a:p>
            <a:endParaRPr lang="fr-FR"/>
          </a:p>
        </p:txBody>
      </p:sp>
      <p:sp>
        <p:nvSpPr>
          <p:cNvPr id="4" name="badge-num-95"/>
          <p:cNvSpPr txBox="1"/>
          <p:nvPr/>
        </p:nvSpPr>
        <p:spPr>
          <a:xfrm>
            <a:off x="548640" y="320040"/>
            <a:ext cx="731520" cy="731520"/>
          </a:xfrm>
          <a:prstGeom prst="rect">
            <a:avLst/>
          </a:prstGeom>
          <a:noFill/>
          <a:ln/>
        </p:spPr>
        <p:txBody>
          <a:bodyPr wrap="square" lIns="0" tIns="0" rIns="0" bIns="0" rtlCol="0" anchor="ctr"/>
          <a:lstStyle/>
          <a:p>
            <a:pPr marL="0" indent="0" algn="ctr">
              <a:buNone/>
            </a:pPr>
            <a:r>
              <a:rPr lang="en-US" sz="2200" b="1" dirty="0">
                <a:solidFill>
                  <a:schemeClr val="tx1"/>
                </a:solidFill>
                <a:latin typeface="Arial" pitchFamily="34" charset="0"/>
                <a:ea typeface="Arial" pitchFamily="34" charset="-122"/>
                <a:cs typeface="Arial" pitchFamily="34" charset="-120"/>
              </a:rPr>
              <a:t>01</a:t>
            </a:r>
            <a:endParaRPr lang="en-US" sz="2200" dirty="0"/>
          </a:p>
        </p:txBody>
      </p:sp>
      <p:sp>
        <p:nvSpPr>
          <p:cNvPr id="5" name="frame-96"/>
          <p:cNvSpPr/>
          <p:nvPr/>
        </p:nvSpPr>
        <p:spPr>
          <a:xfrm>
            <a:off x="521208" y="1212969"/>
            <a:ext cx="5449824" cy="3087895"/>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6" name="shot-97" descr="Définition : 3 éléments, axe Y fixé de 0 à 100 %"/>
          <p:cNvPicPr>
            <a:picLocks noChangeAspect="1"/>
          </p:cNvPicPr>
          <p:nvPr/>
        </p:nvPicPr>
        <p:blipFill>
          <a:blip r:embed="rId3"/>
          <a:stretch>
            <a:fillRect/>
          </a:stretch>
        </p:blipFill>
        <p:spPr>
          <a:xfrm>
            <a:off x="548640" y="1240401"/>
            <a:ext cx="5394960" cy="3033031"/>
          </a:xfrm>
          <a:prstGeom prst="rect">
            <a:avLst/>
          </a:prstGeom>
        </p:spPr>
      </p:pic>
      <p:sp>
        <p:nvSpPr>
          <p:cNvPr id="7" name="cap-98"/>
          <p:cNvSpPr txBox="1"/>
          <p:nvPr/>
        </p:nvSpPr>
        <p:spPr>
          <a:xfrm>
            <a:off x="548640" y="4328295"/>
            <a:ext cx="5394960" cy="237744"/>
          </a:xfrm>
          <a:prstGeom prst="rect">
            <a:avLst/>
          </a:prstGeom>
          <a:noFill/>
          <a:ln/>
        </p:spPr>
        <p:txBody>
          <a:bodyPr wrap="square" lIns="0" tIns="0" rIns="0" bIns="0" rtlCol="0" anchor="ctr"/>
          <a:lstStyle/>
          <a:p>
            <a:pPr marL="0" indent="0">
              <a:buNone/>
            </a:pPr>
            <a:r>
              <a:rPr lang="en-US" sz="1000" i="1" dirty="0">
                <a:solidFill>
                  <a:schemeClr val="accent5"/>
                </a:solidFill>
              </a:rPr>
              <a:t>Définition : 3 éléments, axe Y fixé de 0 à 100 %</a:t>
            </a:r>
            <a:endParaRPr lang="en-US" sz="1000" dirty="0"/>
          </a:p>
        </p:txBody>
      </p:sp>
      <p:sp>
        <p:nvSpPr>
          <p:cNvPr id="8" name="frame-99"/>
          <p:cNvSpPr/>
          <p:nvPr/>
        </p:nvSpPr>
        <p:spPr>
          <a:xfrm>
            <a:off x="6284452" y="1207008"/>
            <a:ext cx="5261896" cy="3099816"/>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9" name="shot-100" descr="Rendu : pic CPU à 100 % vers 10 h 31 pendant le test de charge"/>
          <p:cNvPicPr>
            <a:picLocks noChangeAspect="1"/>
          </p:cNvPicPr>
          <p:nvPr/>
        </p:nvPicPr>
        <p:blipFill>
          <a:blip r:embed="rId4"/>
          <a:stretch>
            <a:fillRect/>
          </a:stretch>
        </p:blipFill>
        <p:spPr>
          <a:xfrm>
            <a:off x="6311884" y="1234440"/>
            <a:ext cx="5207032" cy="3044952"/>
          </a:xfrm>
          <a:prstGeom prst="rect">
            <a:avLst/>
          </a:prstGeom>
        </p:spPr>
      </p:pic>
      <p:sp>
        <p:nvSpPr>
          <p:cNvPr id="10" name="cap-101"/>
          <p:cNvSpPr txBox="1"/>
          <p:nvPr/>
        </p:nvSpPr>
        <p:spPr>
          <a:xfrm>
            <a:off x="6311884" y="4334256"/>
            <a:ext cx="5207032" cy="237744"/>
          </a:xfrm>
          <a:prstGeom prst="rect">
            <a:avLst/>
          </a:prstGeom>
          <a:noFill/>
          <a:ln/>
        </p:spPr>
        <p:txBody>
          <a:bodyPr wrap="square" lIns="0" tIns="0" rIns="0" bIns="0" rtlCol="0" anchor="ctr"/>
          <a:lstStyle/>
          <a:p>
            <a:pPr marL="0" indent="0">
              <a:buNone/>
            </a:pPr>
            <a:r>
              <a:rPr lang="en-US" sz="1000" i="1" dirty="0">
                <a:solidFill>
                  <a:schemeClr val="accent5"/>
                </a:solidFill>
              </a:rPr>
              <a:t>Rendu : pic CPU à 100 % vers 10 h 31 pendant le test de charge</a:t>
            </a:r>
            <a:endParaRPr lang="en-US" sz="1000" dirty="0"/>
          </a:p>
        </p:txBody>
      </p:sp>
      <p:sp>
        <p:nvSpPr>
          <p:cNvPr id="11" name="card-102"/>
          <p:cNvSpPr/>
          <p:nvPr/>
        </p:nvSpPr>
        <p:spPr>
          <a:xfrm>
            <a:off x="548640" y="4754880"/>
            <a:ext cx="5394960" cy="1508760"/>
          </a:xfrm>
          <a:prstGeom prst="roundRect">
            <a:avLst>
              <a:gd name="adj" fmla="val 4848"/>
            </a:avLst>
          </a:prstGeom>
          <a:solidFill>
            <a:schemeClr val="bg2"/>
          </a:solidFill>
          <a:ln w="9525">
            <a:solidFill>
              <a:srgbClr val="D6DEEA"/>
            </a:solidFill>
            <a:prstDash val="solid"/>
          </a:ln>
        </p:spPr>
        <p:txBody>
          <a:bodyPr/>
          <a:lstStyle/>
          <a:p>
            <a:endParaRPr lang="fr-FR"/>
          </a:p>
        </p:txBody>
      </p:sp>
      <p:sp>
        <p:nvSpPr>
          <p:cNvPr id="12" name="card-t-103"/>
          <p:cNvSpPr txBox="1"/>
          <p:nvPr/>
        </p:nvSpPr>
        <p:spPr>
          <a:xfrm>
            <a:off x="731520" y="4892040"/>
            <a:ext cx="5029200" cy="365760"/>
          </a:xfrm>
          <a:prstGeom prst="rect">
            <a:avLst/>
          </a:prstGeom>
          <a:noFill/>
          <a:ln/>
        </p:spPr>
        <p:txBody>
          <a:bodyPr wrap="square" lIns="0" tIns="0" rIns="0" bIns="0" rtlCol="0" anchor="ctr"/>
          <a:lstStyle/>
          <a:p>
            <a:pPr marL="0" indent="0">
              <a:buNone/>
            </a:pPr>
            <a:r>
              <a:rPr lang="en-US" sz="1600" b="1" dirty="0">
                <a:solidFill>
                  <a:schemeClr val="tx1"/>
                </a:solidFill>
              </a:rPr>
              <a:t>Construction</a:t>
            </a:r>
            <a:endParaRPr lang="en-US" sz="1600" dirty="0"/>
          </a:p>
        </p:txBody>
      </p:sp>
      <p:sp>
        <p:nvSpPr>
          <p:cNvPr id="13" name="card-b-104"/>
          <p:cNvSpPr txBox="1"/>
          <p:nvPr/>
        </p:nvSpPr>
        <p:spPr>
          <a:xfrm>
            <a:off x="731520" y="5303520"/>
            <a:ext cx="5029200" cy="822960"/>
          </a:xfrm>
          <a:prstGeom prst="rect">
            <a:avLst/>
          </a:prstGeom>
          <a:noFill/>
          <a:ln/>
        </p:spPr>
        <p:txBody>
          <a:bodyPr wrap="square" lIns="0" tIns="0" rIns="0" bIns="0" rtlCol="0" anchor="t"/>
          <a:lstStyle/>
          <a:p>
            <a:pPr marL="0" indent="0">
              <a:spcAft>
                <a:spcPts val="400"/>
              </a:spcAft>
              <a:buNone/>
            </a:pPr>
            <a:r>
              <a:rPr lang="en-US" sz="1300" dirty="0">
                <a:solidFill>
                  <a:schemeClr val="tx1"/>
                </a:solidFill>
              </a:rPr>
              <a:t>Rouge : CPU utilization · vert : Available memory in % · bleu : FS [/] Used in % — trois ressources sur une seule échelle en %.</a:t>
            </a:r>
            <a:endParaRPr lang="en-US" sz="1300" dirty="0"/>
          </a:p>
        </p:txBody>
      </p:sp>
      <p:sp>
        <p:nvSpPr>
          <p:cNvPr id="14" name="card-105"/>
          <p:cNvSpPr/>
          <p:nvPr/>
        </p:nvSpPr>
        <p:spPr>
          <a:xfrm>
            <a:off x="6217920" y="4754880"/>
            <a:ext cx="5394960" cy="1508760"/>
          </a:xfrm>
          <a:prstGeom prst="roundRect">
            <a:avLst>
              <a:gd name="adj" fmla="val 4848"/>
            </a:avLst>
          </a:prstGeom>
          <a:solidFill>
            <a:schemeClr val="bg2"/>
          </a:solidFill>
          <a:ln w="9525">
            <a:solidFill>
              <a:srgbClr val="D6DEEA"/>
            </a:solidFill>
            <a:prstDash val="solid"/>
          </a:ln>
        </p:spPr>
        <p:txBody>
          <a:bodyPr/>
          <a:lstStyle/>
          <a:p>
            <a:endParaRPr lang="fr-FR"/>
          </a:p>
        </p:txBody>
      </p:sp>
      <p:sp>
        <p:nvSpPr>
          <p:cNvPr id="15" name="card-t-106"/>
          <p:cNvSpPr txBox="1"/>
          <p:nvPr/>
        </p:nvSpPr>
        <p:spPr>
          <a:xfrm>
            <a:off x="6400800" y="4892040"/>
            <a:ext cx="5029200" cy="365760"/>
          </a:xfrm>
          <a:prstGeom prst="rect">
            <a:avLst/>
          </a:prstGeom>
          <a:noFill/>
          <a:ln/>
        </p:spPr>
        <p:txBody>
          <a:bodyPr wrap="square" lIns="0" tIns="0" rIns="0" bIns="0" rtlCol="0" anchor="ctr"/>
          <a:lstStyle/>
          <a:p>
            <a:pPr marL="0" indent="0">
              <a:buNone/>
            </a:pPr>
            <a:r>
              <a:rPr lang="en-US" sz="1600" b="1" dirty="0">
                <a:solidFill>
                  <a:schemeClr val="tx1"/>
                </a:solidFill>
              </a:rPr>
              <a:t>Lecture</a:t>
            </a:r>
            <a:endParaRPr lang="en-US" sz="1600" dirty="0"/>
          </a:p>
        </p:txBody>
      </p:sp>
      <p:sp>
        <p:nvSpPr>
          <p:cNvPr id="16" name="card-b-107"/>
          <p:cNvSpPr txBox="1"/>
          <p:nvPr/>
        </p:nvSpPr>
        <p:spPr>
          <a:xfrm>
            <a:off x="6400800" y="5303520"/>
            <a:ext cx="5029200" cy="822960"/>
          </a:xfrm>
          <a:prstGeom prst="rect">
            <a:avLst/>
          </a:prstGeom>
          <a:noFill/>
          <a:ln/>
        </p:spPr>
        <p:txBody>
          <a:bodyPr wrap="square" lIns="0" tIns="0" rIns="0" bIns="0" rtlCol="0" anchor="t"/>
          <a:lstStyle/>
          <a:p>
            <a:pPr marL="0" indent="0">
              <a:spcAft>
                <a:spcPts val="400"/>
              </a:spcAft>
              <a:buNone/>
            </a:pPr>
            <a:r>
              <a:rPr lang="en-US" sz="1300" dirty="0">
                <a:solidFill>
                  <a:schemeClr val="tx1"/>
                </a:solidFill>
              </a:rPr>
              <a:t>Seul le CPU réagit à la charge : la RAM et le disque restent stables. Les pointillés matérialisent les seuils des déclencheurs.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08760" y="320040"/>
            <a:ext cx="1010412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Installation de Prometheus et jobs de scrape</a:t>
            </a:r>
            <a:endParaRPr lang="en-US" sz="3000" dirty="0"/>
          </a:p>
        </p:txBody>
      </p:sp>
      <p:sp>
        <p:nvSpPr>
          <p:cNvPr id="3" name="badge-108"/>
          <p:cNvSpPr/>
          <p:nvPr/>
        </p:nvSpPr>
        <p:spPr>
          <a:xfrm>
            <a:off x="548640" y="320040"/>
            <a:ext cx="731520" cy="731520"/>
          </a:xfrm>
          <a:prstGeom prst="ellipse">
            <a:avLst/>
          </a:prstGeom>
          <a:solidFill>
            <a:schemeClr val="accent1"/>
          </a:solidFill>
          <a:ln w="12700">
            <a:solidFill>
              <a:schemeClr val="accent1"/>
            </a:solidFill>
            <a:prstDash val="solid"/>
          </a:ln>
        </p:spPr>
        <p:txBody>
          <a:bodyPr/>
          <a:lstStyle/>
          <a:p>
            <a:endParaRPr lang="fr-FR"/>
          </a:p>
        </p:txBody>
      </p:sp>
      <p:sp>
        <p:nvSpPr>
          <p:cNvPr id="4" name="badge-num-109"/>
          <p:cNvSpPr txBox="1"/>
          <p:nvPr/>
        </p:nvSpPr>
        <p:spPr>
          <a:xfrm>
            <a:off x="548640" y="320040"/>
            <a:ext cx="731520" cy="731520"/>
          </a:xfrm>
          <a:prstGeom prst="rect">
            <a:avLst/>
          </a:prstGeom>
          <a:noFill/>
          <a:ln/>
        </p:spPr>
        <p:txBody>
          <a:bodyPr wrap="square" lIns="0" tIns="0" rIns="0" bIns="0" rtlCol="0" anchor="ctr"/>
          <a:lstStyle/>
          <a:p>
            <a:pPr marL="0" indent="0" algn="ctr">
              <a:buNone/>
            </a:pPr>
            <a:r>
              <a:rPr lang="en-US" sz="2200" b="1" dirty="0">
                <a:solidFill>
                  <a:schemeClr val="tx1"/>
                </a:solidFill>
                <a:latin typeface="Arial" pitchFamily="34" charset="0"/>
                <a:ea typeface="Arial" pitchFamily="34" charset="-122"/>
                <a:cs typeface="Arial" pitchFamily="34" charset="-120"/>
              </a:rPr>
              <a:t>02</a:t>
            </a:r>
            <a:endParaRPr lang="en-US" sz="2200" dirty="0"/>
          </a:p>
        </p:txBody>
      </p:sp>
      <p:sp>
        <p:nvSpPr>
          <p:cNvPr id="5" name="frame-110"/>
          <p:cNvSpPr/>
          <p:nvPr/>
        </p:nvSpPr>
        <p:spPr>
          <a:xfrm>
            <a:off x="521208" y="1403214"/>
            <a:ext cx="6455664" cy="2204484"/>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6" name="shot-111" descr="Job « enterprise-d » ajouté à prometheus.yml, validé par promtool"/>
          <p:cNvPicPr>
            <a:picLocks noChangeAspect="1"/>
          </p:cNvPicPr>
          <p:nvPr/>
        </p:nvPicPr>
        <p:blipFill>
          <a:blip r:embed="rId3"/>
          <a:stretch>
            <a:fillRect/>
          </a:stretch>
        </p:blipFill>
        <p:spPr>
          <a:xfrm>
            <a:off x="548640" y="1430646"/>
            <a:ext cx="6400800" cy="2149620"/>
          </a:xfrm>
          <a:prstGeom prst="rect">
            <a:avLst/>
          </a:prstGeom>
        </p:spPr>
      </p:pic>
      <p:sp>
        <p:nvSpPr>
          <p:cNvPr id="7" name="cap-112"/>
          <p:cNvSpPr txBox="1"/>
          <p:nvPr/>
        </p:nvSpPr>
        <p:spPr>
          <a:xfrm>
            <a:off x="548640" y="3635130"/>
            <a:ext cx="6400800" cy="237744"/>
          </a:xfrm>
          <a:prstGeom prst="rect">
            <a:avLst/>
          </a:prstGeom>
          <a:noFill/>
          <a:ln/>
        </p:spPr>
        <p:txBody>
          <a:bodyPr wrap="square" lIns="0" tIns="0" rIns="0" bIns="0" rtlCol="0" anchor="ctr"/>
          <a:lstStyle/>
          <a:p>
            <a:pPr marL="0" indent="0">
              <a:buNone/>
            </a:pPr>
            <a:r>
              <a:rPr lang="en-US" sz="1000" i="1" dirty="0">
                <a:solidFill>
                  <a:schemeClr val="accent5"/>
                </a:solidFill>
              </a:rPr>
              <a:t>Job « enterprise-d » ajouté à prometheus.yml, validé par promtool</a:t>
            </a:r>
            <a:endParaRPr lang="en-US" sz="1000" dirty="0"/>
          </a:p>
        </p:txBody>
      </p:sp>
      <p:sp>
        <p:nvSpPr>
          <p:cNvPr id="8" name="frame-113"/>
          <p:cNvSpPr/>
          <p:nvPr/>
        </p:nvSpPr>
        <p:spPr>
          <a:xfrm>
            <a:off x="667636" y="4178808"/>
            <a:ext cx="6162807" cy="676656"/>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9" name="shot-114" descr="node_exporter installé sur ENT-ELK (idem ENT-BRIDGE)"/>
          <p:cNvPicPr>
            <a:picLocks noChangeAspect="1"/>
          </p:cNvPicPr>
          <p:nvPr/>
        </p:nvPicPr>
        <p:blipFill>
          <a:blip r:embed="rId4"/>
          <a:stretch>
            <a:fillRect/>
          </a:stretch>
        </p:blipFill>
        <p:spPr>
          <a:xfrm>
            <a:off x="695068" y="4206240"/>
            <a:ext cx="6107943" cy="621792"/>
          </a:xfrm>
          <a:prstGeom prst="rect">
            <a:avLst/>
          </a:prstGeom>
        </p:spPr>
      </p:pic>
      <p:sp>
        <p:nvSpPr>
          <p:cNvPr id="10" name="cap-115"/>
          <p:cNvSpPr txBox="1"/>
          <p:nvPr/>
        </p:nvSpPr>
        <p:spPr>
          <a:xfrm>
            <a:off x="695068" y="4882896"/>
            <a:ext cx="6107943" cy="237744"/>
          </a:xfrm>
          <a:prstGeom prst="rect">
            <a:avLst/>
          </a:prstGeom>
          <a:noFill/>
          <a:ln/>
        </p:spPr>
        <p:txBody>
          <a:bodyPr wrap="square" lIns="0" tIns="0" rIns="0" bIns="0" rtlCol="0" anchor="ctr"/>
          <a:lstStyle/>
          <a:p>
            <a:pPr marL="0" indent="0">
              <a:buNone/>
            </a:pPr>
            <a:r>
              <a:rPr lang="en-US" sz="1000" i="1" dirty="0">
                <a:solidFill>
                  <a:schemeClr val="accent5"/>
                </a:solidFill>
              </a:rPr>
              <a:t>node_exporter installé sur ENT-ELK (idem ENT-BRIDGE)</a:t>
            </a:r>
            <a:endParaRPr lang="en-US" sz="1000" dirty="0"/>
          </a:p>
        </p:txBody>
      </p:sp>
      <p:sp>
        <p:nvSpPr>
          <p:cNvPr id="11" name="card-116"/>
          <p:cNvSpPr/>
          <p:nvPr/>
        </p:nvSpPr>
        <p:spPr>
          <a:xfrm>
            <a:off x="7269480" y="1280160"/>
            <a:ext cx="4343400" cy="2331720"/>
          </a:xfrm>
          <a:prstGeom prst="roundRect">
            <a:avLst>
              <a:gd name="adj" fmla="val 3137"/>
            </a:avLst>
          </a:prstGeom>
          <a:solidFill>
            <a:schemeClr val="bg2"/>
          </a:solidFill>
          <a:ln w="9525">
            <a:solidFill>
              <a:srgbClr val="D6DEEA"/>
            </a:solidFill>
            <a:prstDash val="solid"/>
          </a:ln>
        </p:spPr>
        <p:txBody>
          <a:bodyPr/>
          <a:lstStyle/>
          <a:p>
            <a:endParaRPr lang="fr-FR"/>
          </a:p>
        </p:txBody>
      </p:sp>
      <p:sp>
        <p:nvSpPr>
          <p:cNvPr id="12" name="card-t-117"/>
          <p:cNvSpPr txBox="1"/>
          <p:nvPr/>
        </p:nvSpPr>
        <p:spPr>
          <a:xfrm>
            <a:off x="7452360" y="1417320"/>
            <a:ext cx="3977640" cy="365760"/>
          </a:xfrm>
          <a:prstGeom prst="rect">
            <a:avLst/>
          </a:prstGeom>
          <a:noFill/>
          <a:ln/>
        </p:spPr>
        <p:txBody>
          <a:bodyPr wrap="square" lIns="0" tIns="0" rIns="0" bIns="0" rtlCol="0" anchor="ctr"/>
          <a:lstStyle/>
          <a:p>
            <a:pPr marL="0" indent="0">
              <a:buNone/>
            </a:pPr>
            <a:r>
              <a:rPr lang="en-US" sz="1600" b="1" dirty="0">
                <a:solidFill>
                  <a:schemeClr val="tx1"/>
                </a:solidFill>
              </a:rPr>
              <a:t>Modèle « pull »</a:t>
            </a:r>
            <a:endParaRPr lang="en-US" sz="1600" dirty="0"/>
          </a:p>
        </p:txBody>
      </p:sp>
      <p:sp>
        <p:nvSpPr>
          <p:cNvPr id="13" name="card-b-118"/>
          <p:cNvSpPr txBox="1"/>
          <p:nvPr/>
        </p:nvSpPr>
        <p:spPr>
          <a:xfrm>
            <a:off x="7452360" y="1828800"/>
            <a:ext cx="3977640" cy="1645920"/>
          </a:xfrm>
          <a:prstGeom prst="rect">
            <a:avLst/>
          </a:prstGeom>
          <a:noFill/>
          <a:ln/>
        </p:spPr>
        <p:txBody>
          <a:bodyPr wrap="square" lIns="0" tIns="0" rIns="0" bIns="0" rtlCol="0" anchor="t"/>
          <a:lstStyle/>
          <a:p>
            <a:pPr marL="0" indent="0">
              <a:spcAft>
                <a:spcPts val="400"/>
              </a:spcAft>
              <a:buNone/>
            </a:pPr>
            <a:r>
              <a:rPr lang="en-US" sz="1400" dirty="0">
                <a:solidFill>
                  <a:schemeClr val="tx1"/>
                </a:solidFill>
              </a:rPr>
              <a:t>Contrairement à Zabbix, Prometheus va lui-même chercher les métriques en HTTP auprès d'exporters. node_exporter publie CPU, RAM et disque sur le port 9100.</a:t>
            </a:r>
            <a:endParaRPr lang="en-US" sz="1400" dirty="0"/>
          </a:p>
        </p:txBody>
      </p:sp>
      <p:sp>
        <p:nvSpPr>
          <p:cNvPr id="14" name="card-119"/>
          <p:cNvSpPr/>
          <p:nvPr/>
        </p:nvSpPr>
        <p:spPr>
          <a:xfrm>
            <a:off x="7269480" y="3794760"/>
            <a:ext cx="4343400" cy="2468880"/>
          </a:xfrm>
          <a:prstGeom prst="roundRect">
            <a:avLst>
              <a:gd name="adj" fmla="val 2963"/>
            </a:avLst>
          </a:prstGeom>
          <a:solidFill>
            <a:schemeClr val="bg2"/>
          </a:solidFill>
          <a:ln w="9525">
            <a:solidFill>
              <a:srgbClr val="D6DEEA"/>
            </a:solidFill>
            <a:prstDash val="solid"/>
          </a:ln>
        </p:spPr>
        <p:txBody>
          <a:bodyPr/>
          <a:lstStyle/>
          <a:p>
            <a:endParaRPr lang="fr-FR"/>
          </a:p>
        </p:txBody>
      </p:sp>
      <p:sp>
        <p:nvSpPr>
          <p:cNvPr id="15" name="card-t-120"/>
          <p:cNvSpPr txBox="1"/>
          <p:nvPr/>
        </p:nvSpPr>
        <p:spPr>
          <a:xfrm>
            <a:off x="7452360" y="3931920"/>
            <a:ext cx="3977640" cy="365760"/>
          </a:xfrm>
          <a:prstGeom prst="rect">
            <a:avLst/>
          </a:prstGeom>
          <a:noFill/>
          <a:ln/>
        </p:spPr>
        <p:txBody>
          <a:bodyPr wrap="square" lIns="0" tIns="0" rIns="0" bIns="0" rtlCol="0" anchor="ctr"/>
          <a:lstStyle/>
          <a:p>
            <a:pPr marL="0" indent="0">
              <a:buNone/>
            </a:pPr>
            <a:r>
              <a:rPr lang="en-US" sz="1600" b="1" dirty="0">
                <a:solidFill>
                  <a:schemeClr val="tx1"/>
                </a:solidFill>
              </a:rPr>
              <a:t>Job enterprise-d</a:t>
            </a:r>
            <a:endParaRPr lang="en-US" sz="1600" dirty="0"/>
          </a:p>
        </p:txBody>
      </p:sp>
      <p:sp>
        <p:nvSpPr>
          <p:cNvPr id="16" name="card-b-121"/>
          <p:cNvSpPr txBox="1"/>
          <p:nvPr/>
        </p:nvSpPr>
        <p:spPr>
          <a:xfrm>
            <a:off x="7452360" y="4343400"/>
            <a:ext cx="3977640" cy="178308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chemeClr val="tx1"/>
                </a:solidFill>
              </a:rPr>
              <a:t>scrape_interval : 15 s</a:t>
            </a:r>
            <a:endParaRPr lang="en-US" sz="1400" dirty="0"/>
          </a:p>
          <a:p>
            <a:pPr marL="152400" indent="-152400">
              <a:spcAft>
                <a:spcPts val="400"/>
              </a:spcAft>
              <a:buSzPct val="100000"/>
              <a:buChar char="•"/>
            </a:pPr>
            <a:r>
              <a:rPr lang="en-US" sz="1400" dirty="0">
                <a:solidFill>
                  <a:schemeClr val="tx1"/>
                </a:solidFill>
              </a:rPr>
              <a:t>172.16.0.40:9100 → systeme = pont</a:t>
            </a:r>
            <a:endParaRPr lang="en-US" sz="1400" dirty="0"/>
          </a:p>
          <a:p>
            <a:pPr marL="152400" indent="-152400">
              <a:spcAft>
                <a:spcPts val="400"/>
              </a:spcAft>
              <a:buSzPct val="100000"/>
              <a:buChar char="•"/>
            </a:pPr>
            <a:r>
              <a:rPr lang="en-US" sz="1400" dirty="0">
                <a:solidFill>
                  <a:schemeClr val="tx1"/>
                </a:solidFill>
              </a:rPr>
              <a:t>172.16.0.20:9100 → systeme = ordinateur-central</a:t>
            </a:r>
            <a:endParaRPr lang="en-US" sz="1400" dirty="0"/>
          </a:p>
          <a:p>
            <a:pPr marL="152400" indent="-152400">
              <a:spcAft>
                <a:spcPts val="400"/>
              </a:spcAft>
              <a:buSzPct val="100000"/>
              <a:buChar char="•"/>
            </a:pPr>
            <a:r>
              <a:rPr lang="en-US" sz="1400" dirty="0">
                <a:solidFill>
                  <a:schemeClr val="tx1"/>
                </a:solidFill>
              </a:rPr>
              <a:t>Labels métier pour filtrer dans Grafana</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08760" y="320040"/>
            <a:ext cx="1010412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Cibles actives et première requête PromQL</a:t>
            </a:r>
            <a:endParaRPr lang="en-US" sz="3000" dirty="0"/>
          </a:p>
        </p:txBody>
      </p:sp>
      <p:sp>
        <p:nvSpPr>
          <p:cNvPr id="3" name="badge-122"/>
          <p:cNvSpPr/>
          <p:nvPr/>
        </p:nvSpPr>
        <p:spPr>
          <a:xfrm>
            <a:off x="548640" y="320040"/>
            <a:ext cx="731520" cy="731520"/>
          </a:xfrm>
          <a:prstGeom prst="ellipse">
            <a:avLst/>
          </a:prstGeom>
          <a:solidFill>
            <a:schemeClr val="accent1"/>
          </a:solidFill>
          <a:ln w="12700">
            <a:solidFill>
              <a:schemeClr val="accent1"/>
            </a:solidFill>
            <a:prstDash val="solid"/>
          </a:ln>
        </p:spPr>
        <p:txBody>
          <a:bodyPr/>
          <a:lstStyle/>
          <a:p>
            <a:endParaRPr lang="fr-FR"/>
          </a:p>
        </p:txBody>
      </p:sp>
      <p:sp>
        <p:nvSpPr>
          <p:cNvPr id="4" name="badge-num-123"/>
          <p:cNvSpPr txBox="1"/>
          <p:nvPr/>
        </p:nvSpPr>
        <p:spPr>
          <a:xfrm>
            <a:off x="548640" y="320040"/>
            <a:ext cx="731520" cy="731520"/>
          </a:xfrm>
          <a:prstGeom prst="rect">
            <a:avLst/>
          </a:prstGeom>
          <a:noFill/>
          <a:ln/>
        </p:spPr>
        <p:txBody>
          <a:bodyPr wrap="square" lIns="0" tIns="0" rIns="0" bIns="0" rtlCol="0" anchor="ctr"/>
          <a:lstStyle/>
          <a:p>
            <a:pPr marL="0" indent="0" algn="ctr">
              <a:buNone/>
            </a:pPr>
            <a:r>
              <a:rPr lang="en-US" sz="2200" b="1" dirty="0">
                <a:solidFill>
                  <a:schemeClr val="tx1"/>
                </a:solidFill>
                <a:latin typeface="Arial" pitchFamily="34" charset="0"/>
                <a:ea typeface="Arial" pitchFamily="34" charset="-122"/>
                <a:cs typeface="Arial" pitchFamily="34" charset="-120"/>
              </a:rPr>
              <a:t>02</a:t>
            </a:r>
            <a:endParaRPr lang="en-US" sz="2200" dirty="0"/>
          </a:p>
        </p:txBody>
      </p:sp>
      <p:sp>
        <p:nvSpPr>
          <p:cNvPr id="5" name="frame-124"/>
          <p:cNvSpPr/>
          <p:nvPr/>
        </p:nvSpPr>
        <p:spPr>
          <a:xfrm>
            <a:off x="521208" y="1230846"/>
            <a:ext cx="5815584" cy="3326460"/>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6" name="shot-125" descr="Status → Targets : enterprise-d 2/2 UP, node et prometheus UP"/>
          <p:cNvPicPr>
            <a:picLocks noChangeAspect="1"/>
          </p:cNvPicPr>
          <p:nvPr/>
        </p:nvPicPr>
        <p:blipFill>
          <a:blip r:embed="rId3"/>
          <a:stretch>
            <a:fillRect/>
          </a:stretch>
        </p:blipFill>
        <p:spPr>
          <a:xfrm>
            <a:off x="548640" y="1258278"/>
            <a:ext cx="5760720" cy="3271596"/>
          </a:xfrm>
          <a:prstGeom prst="rect">
            <a:avLst/>
          </a:prstGeom>
        </p:spPr>
      </p:pic>
      <p:sp>
        <p:nvSpPr>
          <p:cNvPr id="7" name="cap-126"/>
          <p:cNvSpPr txBox="1"/>
          <p:nvPr/>
        </p:nvSpPr>
        <p:spPr>
          <a:xfrm>
            <a:off x="548640" y="4584738"/>
            <a:ext cx="5760720" cy="237744"/>
          </a:xfrm>
          <a:prstGeom prst="rect">
            <a:avLst/>
          </a:prstGeom>
          <a:noFill/>
          <a:ln/>
        </p:spPr>
        <p:txBody>
          <a:bodyPr wrap="square" lIns="0" tIns="0" rIns="0" bIns="0" rtlCol="0" anchor="ctr"/>
          <a:lstStyle/>
          <a:p>
            <a:pPr marL="0" indent="0">
              <a:buNone/>
            </a:pPr>
            <a:r>
              <a:rPr lang="en-US" sz="1000" i="1" dirty="0">
                <a:solidFill>
                  <a:schemeClr val="accent5"/>
                </a:solidFill>
              </a:rPr>
              <a:t>Status → Targets : enterprise-d 2/2 UP, node et prometheus UP</a:t>
            </a:r>
            <a:endParaRPr lang="en-US" sz="1000" dirty="0"/>
          </a:p>
        </p:txBody>
      </p:sp>
      <p:sp>
        <p:nvSpPr>
          <p:cNvPr id="8" name="frame-127"/>
          <p:cNvSpPr/>
          <p:nvPr/>
        </p:nvSpPr>
        <p:spPr>
          <a:xfrm>
            <a:off x="6545251" y="1207008"/>
            <a:ext cx="5060337" cy="2368296"/>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9" name="shot-128" descr="CPU utilisé par instance calculé en PromQL"/>
          <p:cNvPicPr>
            <a:picLocks noChangeAspect="1"/>
          </p:cNvPicPr>
          <p:nvPr/>
        </p:nvPicPr>
        <p:blipFill>
          <a:blip r:embed="rId4"/>
          <a:stretch>
            <a:fillRect/>
          </a:stretch>
        </p:blipFill>
        <p:spPr>
          <a:xfrm>
            <a:off x="6572683" y="1234440"/>
            <a:ext cx="5005473" cy="2313432"/>
          </a:xfrm>
          <a:prstGeom prst="rect">
            <a:avLst/>
          </a:prstGeom>
        </p:spPr>
      </p:pic>
      <p:sp>
        <p:nvSpPr>
          <p:cNvPr id="10" name="cap-129"/>
          <p:cNvSpPr txBox="1"/>
          <p:nvPr/>
        </p:nvSpPr>
        <p:spPr>
          <a:xfrm>
            <a:off x="6572683" y="3602736"/>
            <a:ext cx="5005473" cy="237744"/>
          </a:xfrm>
          <a:prstGeom prst="rect">
            <a:avLst/>
          </a:prstGeom>
          <a:noFill/>
          <a:ln/>
        </p:spPr>
        <p:txBody>
          <a:bodyPr wrap="square" lIns="0" tIns="0" rIns="0" bIns="0" rtlCol="0" anchor="ctr"/>
          <a:lstStyle/>
          <a:p>
            <a:pPr marL="0" indent="0">
              <a:buNone/>
            </a:pPr>
            <a:r>
              <a:rPr lang="en-US" sz="1000" i="1" dirty="0">
                <a:solidFill>
                  <a:schemeClr val="accent5"/>
                </a:solidFill>
              </a:rPr>
              <a:t>CPU utilisé par instance calculé en PromQL</a:t>
            </a:r>
            <a:endParaRPr lang="en-US" sz="1000" dirty="0"/>
          </a:p>
        </p:txBody>
      </p:sp>
      <p:sp>
        <p:nvSpPr>
          <p:cNvPr id="11" name="code"/>
          <p:cNvSpPr/>
          <p:nvPr/>
        </p:nvSpPr>
        <p:spPr>
          <a:xfrm>
            <a:off x="6537960" y="4069080"/>
            <a:ext cx="5074920" cy="822960"/>
          </a:xfrm>
          <a:prstGeom prst="roundRect">
            <a:avLst>
              <a:gd name="adj" fmla="val 8889"/>
            </a:avLst>
          </a:prstGeom>
          <a:solidFill>
            <a:schemeClr val="tx1"/>
          </a:solidFill>
          <a:ln w="12700">
            <a:solidFill>
              <a:schemeClr val="tx1"/>
            </a:solidFill>
            <a:prstDash val="solid"/>
          </a:ln>
        </p:spPr>
        <p:txBody>
          <a:bodyPr/>
          <a:lstStyle/>
          <a:p>
            <a:endParaRPr lang="fr-FR"/>
          </a:p>
        </p:txBody>
      </p:sp>
      <p:sp>
        <p:nvSpPr>
          <p:cNvPr id="12" name="code-t"/>
          <p:cNvSpPr txBox="1"/>
          <p:nvPr/>
        </p:nvSpPr>
        <p:spPr>
          <a:xfrm>
            <a:off x="6675120" y="4069080"/>
            <a:ext cx="4800600" cy="822960"/>
          </a:xfrm>
          <a:prstGeom prst="rect">
            <a:avLst/>
          </a:prstGeom>
          <a:noFill/>
          <a:ln/>
        </p:spPr>
        <p:txBody>
          <a:bodyPr wrap="square" lIns="0" tIns="0" rIns="0" bIns="0" rtlCol="0" anchor="ctr"/>
          <a:lstStyle/>
          <a:p>
            <a:pPr marL="0" indent="0">
              <a:buNone/>
            </a:pPr>
            <a:r>
              <a:rPr lang="en-US" sz="1200" dirty="0">
                <a:solidFill>
                  <a:schemeClr val="accent1"/>
                </a:solidFill>
                <a:latin typeface="Courier New" pitchFamily="34" charset="0"/>
                <a:ea typeface="Courier New" pitchFamily="34" charset="-122"/>
                <a:cs typeface="Courier New" pitchFamily="34" charset="-120"/>
              </a:rPr>
              <a:t>100 - (avg by (instance) (rate(node_cpu_seconds_total{mode="idle"}[2m])) * 100)</a:t>
            </a:r>
            <a:endParaRPr lang="en-US" sz="1200" dirty="0"/>
          </a:p>
        </p:txBody>
      </p:sp>
      <p:sp>
        <p:nvSpPr>
          <p:cNvPr id="13" name="bullets-130"/>
          <p:cNvSpPr txBox="1"/>
          <p:nvPr/>
        </p:nvSpPr>
        <p:spPr>
          <a:xfrm>
            <a:off x="6537960" y="5074920"/>
            <a:ext cx="5074920" cy="1188720"/>
          </a:xfrm>
          <a:prstGeom prst="rect">
            <a:avLst/>
          </a:prstGeom>
          <a:noFill/>
          <a:ln/>
        </p:spPr>
        <p:txBody>
          <a:bodyPr wrap="square" lIns="25400" tIns="0" rIns="50800" bIns="25400" rtlCol="0" anchor="t"/>
          <a:lstStyle/>
          <a:p>
            <a:pPr marL="203200" indent="-203200">
              <a:spcAft>
                <a:spcPts val="800"/>
              </a:spcAft>
              <a:buSzPct val="100000"/>
              <a:buChar char="•"/>
            </a:pPr>
            <a:r>
              <a:rPr lang="en-US" sz="1400" dirty="0">
                <a:solidFill>
                  <a:schemeClr val="tx1"/>
                </a:solidFill>
              </a:rPr>
              <a:t>4 cibles scrapées sans erreur, durée &lt; 130 ms</a:t>
            </a:r>
            <a:endParaRPr lang="en-US" sz="1400" dirty="0"/>
          </a:p>
          <a:p>
            <a:pPr marL="203200" indent="-203200">
              <a:spcAft>
                <a:spcPts val="800"/>
              </a:spcAft>
              <a:buSzPct val="100000"/>
              <a:buChar char="•"/>
            </a:pPr>
            <a:r>
              <a:rPr lang="en-US" sz="1400" dirty="0">
                <a:solidFill>
                  <a:schemeClr val="tx1"/>
                </a:solidFill>
              </a:rPr>
              <a:t>Lecture : le temps « idle » du CPU est inversé pour obtenir le % utilisé</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08760" y="320040"/>
            <a:ext cx="1010412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Installation de Grafana et source Prometheus</a:t>
            </a:r>
            <a:endParaRPr lang="en-US" sz="3000" dirty="0"/>
          </a:p>
        </p:txBody>
      </p:sp>
      <p:sp>
        <p:nvSpPr>
          <p:cNvPr id="3" name="badge-131"/>
          <p:cNvSpPr/>
          <p:nvPr/>
        </p:nvSpPr>
        <p:spPr>
          <a:xfrm>
            <a:off x="548640" y="320040"/>
            <a:ext cx="731520" cy="731520"/>
          </a:xfrm>
          <a:prstGeom prst="ellipse">
            <a:avLst/>
          </a:prstGeom>
          <a:solidFill>
            <a:schemeClr val="accent1"/>
          </a:solidFill>
          <a:ln w="12700">
            <a:solidFill>
              <a:schemeClr val="accent1"/>
            </a:solidFill>
            <a:prstDash val="solid"/>
          </a:ln>
        </p:spPr>
        <p:txBody>
          <a:bodyPr/>
          <a:lstStyle/>
          <a:p>
            <a:endParaRPr lang="fr-FR"/>
          </a:p>
        </p:txBody>
      </p:sp>
      <p:sp>
        <p:nvSpPr>
          <p:cNvPr id="4" name="badge-num-132"/>
          <p:cNvSpPr txBox="1"/>
          <p:nvPr/>
        </p:nvSpPr>
        <p:spPr>
          <a:xfrm>
            <a:off x="548640" y="320040"/>
            <a:ext cx="731520" cy="731520"/>
          </a:xfrm>
          <a:prstGeom prst="rect">
            <a:avLst/>
          </a:prstGeom>
          <a:noFill/>
          <a:ln/>
        </p:spPr>
        <p:txBody>
          <a:bodyPr wrap="square" lIns="0" tIns="0" rIns="0" bIns="0" rtlCol="0" anchor="ctr"/>
          <a:lstStyle/>
          <a:p>
            <a:pPr marL="0" indent="0" algn="ctr">
              <a:buNone/>
            </a:pPr>
            <a:r>
              <a:rPr lang="en-US" sz="2200" b="1" dirty="0">
                <a:solidFill>
                  <a:schemeClr val="tx1"/>
                </a:solidFill>
                <a:latin typeface="Arial" pitchFamily="34" charset="0"/>
                <a:ea typeface="Arial" pitchFamily="34" charset="-122"/>
                <a:cs typeface="Arial" pitchFamily="34" charset="-120"/>
              </a:rPr>
              <a:t>03</a:t>
            </a:r>
            <a:endParaRPr lang="en-US" sz="2200" dirty="0"/>
          </a:p>
        </p:txBody>
      </p:sp>
      <p:sp>
        <p:nvSpPr>
          <p:cNvPr id="5" name="frame-133"/>
          <p:cNvSpPr/>
          <p:nvPr/>
        </p:nvSpPr>
        <p:spPr>
          <a:xfrm>
            <a:off x="521208" y="1617697"/>
            <a:ext cx="5724144" cy="1226879"/>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6" name="shot-134" descr="Dépôt APT officiel Grafana signé par clé GPG"/>
          <p:cNvPicPr>
            <a:picLocks noChangeAspect="1"/>
          </p:cNvPicPr>
          <p:nvPr/>
        </p:nvPicPr>
        <p:blipFill>
          <a:blip r:embed="rId3"/>
          <a:stretch>
            <a:fillRect/>
          </a:stretch>
        </p:blipFill>
        <p:spPr>
          <a:xfrm>
            <a:off x="548640" y="1645129"/>
            <a:ext cx="5669280" cy="1172015"/>
          </a:xfrm>
          <a:prstGeom prst="rect">
            <a:avLst/>
          </a:prstGeom>
        </p:spPr>
      </p:pic>
      <p:sp>
        <p:nvSpPr>
          <p:cNvPr id="7" name="cap-135"/>
          <p:cNvSpPr txBox="1"/>
          <p:nvPr/>
        </p:nvSpPr>
        <p:spPr>
          <a:xfrm>
            <a:off x="548640" y="2872007"/>
            <a:ext cx="5669280" cy="237744"/>
          </a:xfrm>
          <a:prstGeom prst="rect">
            <a:avLst/>
          </a:prstGeom>
          <a:noFill/>
          <a:ln/>
        </p:spPr>
        <p:txBody>
          <a:bodyPr wrap="square" lIns="0" tIns="0" rIns="0" bIns="0" rtlCol="0" anchor="ctr"/>
          <a:lstStyle/>
          <a:p>
            <a:pPr marL="0" indent="0">
              <a:buNone/>
            </a:pPr>
            <a:r>
              <a:rPr lang="en-US" sz="1000" i="1" dirty="0">
                <a:solidFill>
                  <a:schemeClr val="accent5"/>
                </a:solidFill>
              </a:rPr>
              <a:t>Dépôt APT officiel Grafana signé par clé GPG</a:t>
            </a:r>
            <a:endParaRPr lang="en-US" sz="1000" dirty="0"/>
          </a:p>
        </p:txBody>
      </p:sp>
      <p:sp>
        <p:nvSpPr>
          <p:cNvPr id="8" name="frame-136"/>
          <p:cNvSpPr/>
          <p:nvPr/>
        </p:nvSpPr>
        <p:spPr>
          <a:xfrm>
            <a:off x="1489329" y="3630168"/>
            <a:ext cx="3787902" cy="265176"/>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9" name="shot-137" descr="grafana-server en écoute sur :3000"/>
          <p:cNvPicPr>
            <a:picLocks noChangeAspect="1"/>
          </p:cNvPicPr>
          <p:nvPr/>
        </p:nvPicPr>
        <p:blipFill>
          <a:blip r:embed="rId4"/>
          <a:stretch>
            <a:fillRect/>
          </a:stretch>
        </p:blipFill>
        <p:spPr>
          <a:xfrm>
            <a:off x="1516761" y="3657600"/>
            <a:ext cx="3733038" cy="210312"/>
          </a:xfrm>
          <a:prstGeom prst="rect">
            <a:avLst/>
          </a:prstGeom>
        </p:spPr>
      </p:pic>
      <p:sp>
        <p:nvSpPr>
          <p:cNvPr id="10" name="cap-138"/>
          <p:cNvSpPr txBox="1"/>
          <p:nvPr/>
        </p:nvSpPr>
        <p:spPr>
          <a:xfrm>
            <a:off x="1516761" y="3922776"/>
            <a:ext cx="3733038" cy="237744"/>
          </a:xfrm>
          <a:prstGeom prst="rect">
            <a:avLst/>
          </a:prstGeom>
          <a:noFill/>
          <a:ln/>
        </p:spPr>
        <p:txBody>
          <a:bodyPr wrap="square" lIns="0" tIns="0" rIns="0" bIns="0" rtlCol="0" anchor="ctr"/>
          <a:lstStyle/>
          <a:p>
            <a:pPr marL="0" indent="0">
              <a:buNone/>
            </a:pPr>
            <a:r>
              <a:rPr lang="en-US" sz="1000" i="1" dirty="0">
                <a:solidFill>
                  <a:schemeClr val="accent5"/>
                </a:solidFill>
              </a:rPr>
              <a:t>grafana-server en écoute sur :3000</a:t>
            </a:r>
            <a:endParaRPr lang="en-US" sz="1000" dirty="0"/>
          </a:p>
        </p:txBody>
      </p:sp>
      <p:sp>
        <p:nvSpPr>
          <p:cNvPr id="11" name="frame-139"/>
          <p:cNvSpPr/>
          <p:nvPr/>
        </p:nvSpPr>
        <p:spPr>
          <a:xfrm>
            <a:off x="6556556" y="1252728"/>
            <a:ext cx="4992008" cy="2734056"/>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12" name="shot-140" descr="Save &amp; test : l'API Prometheus répond"/>
          <p:cNvPicPr>
            <a:picLocks noChangeAspect="1"/>
          </p:cNvPicPr>
          <p:nvPr/>
        </p:nvPicPr>
        <p:blipFill>
          <a:blip r:embed="rId5"/>
          <a:stretch>
            <a:fillRect/>
          </a:stretch>
        </p:blipFill>
        <p:spPr>
          <a:xfrm>
            <a:off x="6583988" y="1280160"/>
            <a:ext cx="4937144" cy="2679192"/>
          </a:xfrm>
          <a:prstGeom prst="rect">
            <a:avLst/>
          </a:prstGeom>
        </p:spPr>
      </p:pic>
      <p:sp>
        <p:nvSpPr>
          <p:cNvPr id="13" name="cap-141"/>
          <p:cNvSpPr txBox="1"/>
          <p:nvPr/>
        </p:nvSpPr>
        <p:spPr>
          <a:xfrm>
            <a:off x="6583988" y="4014216"/>
            <a:ext cx="4937144" cy="237744"/>
          </a:xfrm>
          <a:prstGeom prst="rect">
            <a:avLst/>
          </a:prstGeom>
          <a:noFill/>
          <a:ln/>
        </p:spPr>
        <p:txBody>
          <a:bodyPr wrap="square" lIns="0" tIns="0" rIns="0" bIns="0" rtlCol="0" anchor="ctr"/>
          <a:lstStyle/>
          <a:p>
            <a:pPr marL="0" indent="0">
              <a:buNone/>
            </a:pPr>
            <a:r>
              <a:rPr lang="en-US" sz="1000" i="1" dirty="0">
                <a:solidFill>
                  <a:schemeClr val="accent5"/>
                </a:solidFill>
              </a:rPr>
              <a:t>Save &amp; test : l'API Prometheus répond</a:t>
            </a:r>
            <a:endParaRPr lang="en-US" sz="1000" dirty="0"/>
          </a:p>
        </p:txBody>
      </p:sp>
      <p:sp>
        <p:nvSpPr>
          <p:cNvPr id="14" name="frame-142"/>
          <p:cNvSpPr/>
          <p:nvPr/>
        </p:nvSpPr>
        <p:spPr>
          <a:xfrm>
            <a:off x="7658487" y="4407408"/>
            <a:ext cx="2788146" cy="1591056"/>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15" name="shot-143" descr="Explore : requête up sur la source Prometheus"/>
          <p:cNvPicPr>
            <a:picLocks noChangeAspect="1"/>
          </p:cNvPicPr>
          <p:nvPr/>
        </p:nvPicPr>
        <p:blipFill>
          <a:blip r:embed="rId6"/>
          <a:stretch>
            <a:fillRect/>
          </a:stretch>
        </p:blipFill>
        <p:spPr>
          <a:xfrm>
            <a:off x="7685919" y="4434840"/>
            <a:ext cx="2733282" cy="1536192"/>
          </a:xfrm>
          <a:prstGeom prst="rect">
            <a:avLst/>
          </a:prstGeom>
        </p:spPr>
      </p:pic>
      <p:sp>
        <p:nvSpPr>
          <p:cNvPr id="16" name="cap-144"/>
          <p:cNvSpPr txBox="1"/>
          <p:nvPr/>
        </p:nvSpPr>
        <p:spPr>
          <a:xfrm>
            <a:off x="7685919" y="6025896"/>
            <a:ext cx="2733282" cy="237744"/>
          </a:xfrm>
          <a:prstGeom prst="rect">
            <a:avLst/>
          </a:prstGeom>
          <a:noFill/>
          <a:ln/>
        </p:spPr>
        <p:txBody>
          <a:bodyPr wrap="square" lIns="0" tIns="0" rIns="0" bIns="0" rtlCol="0" anchor="ctr"/>
          <a:lstStyle/>
          <a:p>
            <a:pPr marL="0" indent="0">
              <a:buNone/>
            </a:pPr>
            <a:r>
              <a:rPr lang="en-US" sz="1000" i="1" dirty="0">
                <a:solidFill>
                  <a:schemeClr val="accent5"/>
                </a:solidFill>
              </a:rPr>
              <a:t>Explore : requête up sur la source Prometheus</a:t>
            </a:r>
            <a:endParaRPr lang="en-US" sz="1000" dirty="0"/>
          </a:p>
        </p:txBody>
      </p:sp>
      <p:sp>
        <p:nvSpPr>
          <p:cNvPr id="17" name="bullets-145"/>
          <p:cNvSpPr txBox="1"/>
          <p:nvPr/>
        </p:nvSpPr>
        <p:spPr>
          <a:xfrm>
            <a:off x="548640" y="4434840"/>
            <a:ext cx="5669280" cy="1828800"/>
          </a:xfrm>
          <a:prstGeom prst="rect">
            <a:avLst/>
          </a:prstGeom>
          <a:noFill/>
          <a:ln/>
        </p:spPr>
        <p:txBody>
          <a:bodyPr wrap="square" lIns="25400" tIns="0" rIns="50800" bIns="25400" rtlCol="0" anchor="t"/>
          <a:lstStyle/>
          <a:p>
            <a:pPr marL="203200" indent="-203200">
              <a:spcAft>
                <a:spcPts val="800"/>
              </a:spcAft>
              <a:buSzPct val="100000"/>
              <a:buChar char="•"/>
            </a:pPr>
            <a:r>
              <a:rPr lang="en-US" sz="1400" b="1" dirty="0">
                <a:solidFill>
                  <a:schemeClr val="tx1"/>
                </a:solidFill>
              </a:rPr>
              <a:t>Dépôt signé : </a:t>
            </a:r>
            <a:r>
              <a:rPr lang="en-US" sz="1400" dirty="0">
                <a:solidFill>
                  <a:schemeClr val="tx1"/>
                </a:solidFill>
              </a:rPr>
              <a:t>clé importée dans /etc/apt/keyrings, jamais de paquet non vérifié</a:t>
            </a:r>
            <a:endParaRPr lang="en-US" sz="1400" dirty="0"/>
          </a:p>
          <a:p>
            <a:pPr marL="203200" indent="-203200">
              <a:spcAft>
                <a:spcPts val="800"/>
              </a:spcAft>
              <a:buSzPct val="100000"/>
              <a:buChar char="•"/>
            </a:pPr>
            <a:r>
              <a:rPr lang="en-US" sz="1400" b="1" dirty="0">
                <a:solidFill>
                  <a:schemeClr val="tx1"/>
                </a:solidFill>
              </a:rPr>
              <a:t>Source de données : </a:t>
            </a:r>
            <a:r>
              <a:rPr lang="en-US" sz="1400" dirty="0">
                <a:solidFill>
                  <a:schemeClr val="tx1"/>
                </a:solidFill>
              </a:rPr>
              <a:t>Prometheus local (http://localhost:9090)</a:t>
            </a:r>
            <a:endParaRPr lang="en-US" sz="1400" dirty="0"/>
          </a:p>
          <a:p>
            <a:pPr marL="203200" indent="-203200">
              <a:spcAft>
                <a:spcPts val="800"/>
              </a:spcAft>
              <a:buSzPct val="100000"/>
              <a:buChar char="•"/>
            </a:pPr>
            <a:r>
              <a:rPr lang="en-US" sz="1400" b="1" dirty="0">
                <a:solidFill>
                  <a:schemeClr val="tx1"/>
                </a:solidFill>
              </a:rPr>
              <a:t>Mot de passe admin par défaut changé </a:t>
            </a:r>
            <a:r>
              <a:rPr lang="en-US" sz="1400" dirty="0">
                <a:solidFill>
                  <a:schemeClr val="tx1"/>
                </a:solidFill>
              </a:rPr>
              <a:t>à la première connexion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08760" y="320040"/>
            <a:ext cx="1010412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Grafana : « Enterprise-D – Systèmes du vaisseau »</a:t>
            </a:r>
            <a:endParaRPr lang="en-US" sz="3000" dirty="0"/>
          </a:p>
        </p:txBody>
      </p:sp>
      <p:sp>
        <p:nvSpPr>
          <p:cNvPr id="3" name="badge-146"/>
          <p:cNvSpPr/>
          <p:nvPr/>
        </p:nvSpPr>
        <p:spPr>
          <a:xfrm>
            <a:off x="548640" y="320040"/>
            <a:ext cx="731520" cy="731520"/>
          </a:xfrm>
          <a:prstGeom prst="ellipse">
            <a:avLst/>
          </a:prstGeom>
          <a:solidFill>
            <a:schemeClr val="accent1"/>
          </a:solidFill>
          <a:ln w="12700">
            <a:solidFill>
              <a:schemeClr val="accent1"/>
            </a:solidFill>
            <a:prstDash val="solid"/>
          </a:ln>
        </p:spPr>
        <p:txBody>
          <a:bodyPr/>
          <a:lstStyle/>
          <a:p>
            <a:endParaRPr lang="fr-FR"/>
          </a:p>
        </p:txBody>
      </p:sp>
      <p:sp>
        <p:nvSpPr>
          <p:cNvPr id="4" name="badge-num-147"/>
          <p:cNvSpPr txBox="1"/>
          <p:nvPr/>
        </p:nvSpPr>
        <p:spPr>
          <a:xfrm>
            <a:off x="548640" y="320040"/>
            <a:ext cx="731520" cy="731520"/>
          </a:xfrm>
          <a:prstGeom prst="rect">
            <a:avLst/>
          </a:prstGeom>
          <a:noFill/>
          <a:ln/>
        </p:spPr>
        <p:txBody>
          <a:bodyPr wrap="square" lIns="0" tIns="0" rIns="0" bIns="0" rtlCol="0" anchor="ctr"/>
          <a:lstStyle/>
          <a:p>
            <a:pPr marL="0" indent="0" algn="ctr">
              <a:buNone/>
            </a:pPr>
            <a:r>
              <a:rPr lang="en-US" sz="2200" b="1" dirty="0">
                <a:solidFill>
                  <a:schemeClr val="tx1"/>
                </a:solidFill>
                <a:latin typeface="Arial" pitchFamily="34" charset="0"/>
                <a:ea typeface="Arial" pitchFamily="34" charset="-122"/>
                <a:cs typeface="Arial" pitchFamily="34" charset="-120"/>
              </a:rPr>
              <a:t>03</a:t>
            </a:r>
            <a:endParaRPr lang="en-US" sz="2200" dirty="0"/>
          </a:p>
        </p:txBody>
      </p:sp>
      <p:sp>
        <p:nvSpPr>
          <p:cNvPr id="5" name="frame-148"/>
          <p:cNvSpPr/>
          <p:nvPr/>
        </p:nvSpPr>
        <p:spPr>
          <a:xfrm>
            <a:off x="521208" y="1559380"/>
            <a:ext cx="7370064" cy="4086712"/>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6" name="shot-149" descr="Tableau de bord exporté en JSON (enterprise-d-systemes.json), rafraîchi toutes les 10 s"/>
          <p:cNvPicPr>
            <a:picLocks noChangeAspect="1"/>
          </p:cNvPicPr>
          <p:nvPr/>
        </p:nvPicPr>
        <p:blipFill>
          <a:blip r:embed="rId3"/>
          <a:stretch>
            <a:fillRect/>
          </a:stretch>
        </p:blipFill>
        <p:spPr>
          <a:xfrm>
            <a:off x="548640" y="1586812"/>
            <a:ext cx="7315200" cy="4031848"/>
          </a:xfrm>
          <a:prstGeom prst="rect">
            <a:avLst/>
          </a:prstGeom>
        </p:spPr>
      </p:pic>
      <p:sp>
        <p:nvSpPr>
          <p:cNvPr id="7" name="cap-150"/>
          <p:cNvSpPr txBox="1"/>
          <p:nvPr/>
        </p:nvSpPr>
        <p:spPr>
          <a:xfrm>
            <a:off x="548640" y="5673524"/>
            <a:ext cx="7315200" cy="237744"/>
          </a:xfrm>
          <a:prstGeom prst="rect">
            <a:avLst/>
          </a:prstGeom>
          <a:noFill/>
          <a:ln/>
        </p:spPr>
        <p:txBody>
          <a:bodyPr wrap="square" lIns="0" tIns="0" rIns="0" bIns="0" rtlCol="0" anchor="ctr"/>
          <a:lstStyle/>
          <a:p>
            <a:pPr marL="0" indent="0">
              <a:buNone/>
            </a:pPr>
            <a:r>
              <a:rPr lang="en-US" sz="1000" i="1" dirty="0">
                <a:solidFill>
                  <a:schemeClr val="accent5"/>
                </a:solidFill>
              </a:rPr>
              <a:t>Tableau de bord exporté en JSON (enterprise-d-systemes.json), rafraîchi toutes les 10 s</a:t>
            </a:r>
            <a:endParaRPr lang="en-US" sz="1000" dirty="0"/>
          </a:p>
        </p:txBody>
      </p:sp>
      <p:sp>
        <p:nvSpPr>
          <p:cNvPr id="8" name="label-151"/>
          <p:cNvSpPr txBox="1"/>
          <p:nvPr/>
        </p:nvSpPr>
        <p:spPr>
          <a:xfrm>
            <a:off x="8183880" y="1325880"/>
            <a:ext cx="3429000" cy="292608"/>
          </a:xfrm>
          <a:prstGeom prst="rect">
            <a:avLst/>
          </a:prstGeom>
          <a:noFill/>
          <a:ln/>
        </p:spPr>
        <p:txBody>
          <a:bodyPr wrap="square" lIns="0" tIns="0" rIns="0" bIns="0" rtlCol="0" anchor="ctr"/>
          <a:lstStyle/>
          <a:p>
            <a:pPr marL="0" indent="0">
              <a:buNone/>
            </a:pPr>
            <a:r>
              <a:rPr lang="en-US" sz="1200" b="1" kern="0" spc="100" dirty="0">
                <a:solidFill>
                  <a:schemeClr val="accent2"/>
                </a:solidFill>
              </a:rPr>
              <a:t>4 PANNEAUX, 4 REQUÊTES</a:t>
            </a:r>
            <a:endParaRPr lang="en-US" sz="1200" dirty="0"/>
          </a:p>
        </p:txBody>
      </p:sp>
      <p:sp>
        <p:nvSpPr>
          <p:cNvPr id="9" name="pan-152"/>
          <p:cNvSpPr/>
          <p:nvPr/>
        </p:nvSpPr>
        <p:spPr>
          <a:xfrm>
            <a:off x="8183880" y="1737360"/>
            <a:ext cx="3429000" cy="960120"/>
          </a:xfrm>
          <a:prstGeom prst="roundRect">
            <a:avLst>
              <a:gd name="adj" fmla="val 7619"/>
            </a:avLst>
          </a:prstGeom>
          <a:solidFill>
            <a:schemeClr val="bg2"/>
          </a:solidFill>
          <a:ln w="9525">
            <a:solidFill>
              <a:srgbClr val="D6DEEA"/>
            </a:solidFill>
            <a:prstDash val="solid"/>
          </a:ln>
        </p:spPr>
        <p:txBody>
          <a:bodyPr/>
          <a:lstStyle/>
          <a:p>
            <a:endParaRPr lang="fr-FR"/>
          </a:p>
        </p:txBody>
      </p:sp>
      <p:sp>
        <p:nvSpPr>
          <p:cNvPr id="10" name="pan-t-153"/>
          <p:cNvSpPr txBox="1"/>
          <p:nvPr/>
        </p:nvSpPr>
        <p:spPr>
          <a:xfrm>
            <a:off x="8321040" y="1737360"/>
            <a:ext cx="3154680" cy="960120"/>
          </a:xfrm>
          <a:prstGeom prst="rect">
            <a:avLst/>
          </a:prstGeom>
          <a:noFill/>
          <a:ln/>
        </p:spPr>
        <p:txBody>
          <a:bodyPr wrap="square" lIns="0" tIns="0" rIns="0" bIns="0" rtlCol="0" anchor="ctr"/>
          <a:lstStyle/>
          <a:p>
            <a:pPr marL="0" indent="0">
              <a:buNone/>
            </a:pPr>
            <a:r>
              <a:rPr lang="en-US" sz="1400" b="1" dirty="0">
                <a:solidFill>
                  <a:schemeClr val="tx1"/>
                </a:solidFill>
              </a:rPr>
              <a:t>Systèmes en ligne</a:t>
            </a:r>
            <a:endParaRPr lang="en-US" sz="1400" dirty="0"/>
          </a:p>
          <a:p>
            <a:pPr marL="0" indent="0">
              <a:buNone/>
            </a:pPr>
            <a:r>
              <a:rPr lang="en-US" sz="1200" dirty="0">
                <a:solidFill>
                  <a:schemeClr val="tx2"/>
                </a:solidFill>
              </a:rPr>
              <a:t>up → EN LIGNE / HORS LIGNE</a:t>
            </a:r>
            <a:endParaRPr lang="en-US" sz="1400" dirty="0"/>
          </a:p>
        </p:txBody>
      </p:sp>
      <p:sp>
        <p:nvSpPr>
          <p:cNvPr id="11" name="pan-154"/>
          <p:cNvSpPr/>
          <p:nvPr/>
        </p:nvSpPr>
        <p:spPr>
          <a:xfrm>
            <a:off x="8183880" y="2852928"/>
            <a:ext cx="3429000" cy="960120"/>
          </a:xfrm>
          <a:prstGeom prst="roundRect">
            <a:avLst>
              <a:gd name="adj" fmla="val 7619"/>
            </a:avLst>
          </a:prstGeom>
          <a:solidFill>
            <a:schemeClr val="bg2"/>
          </a:solidFill>
          <a:ln w="9525">
            <a:solidFill>
              <a:srgbClr val="D6DEEA"/>
            </a:solidFill>
            <a:prstDash val="solid"/>
          </a:ln>
        </p:spPr>
        <p:txBody>
          <a:bodyPr/>
          <a:lstStyle/>
          <a:p>
            <a:endParaRPr lang="fr-FR"/>
          </a:p>
        </p:txBody>
      </p:sp>
      <p:sp>
        <p:nvSpPr>
          <p:cNvPr id="12" name="pan-t-155"/>
          <p:cNvSpPr txBox="1"/>
          <p:nvPr/>
        </p:nvSpPr>
        <p:spPr>
          <a:xfrm>
            <a:off x="8321040" y="2852928"/>
            <a:ext cx="3154680" cy="960120"/>
          </a:xfrm>
          <a:prstGeom prst="rect">
            <a:avLst/>
          </a:prstGeom>
          <a:noFill/>
          <a:ln/>
        </p:spPr>
        <p:txBody>
          <a:bodyPr wrap="square" lIns="0" tIns="0" rIns="0" bIns="0" rtlCol="0" anchor="ctr"/>
          <a:lstStyle/>
          <a:p>
            <a:pPr marL="0" indent="0">
              <a:buNone/>
            </a:pPr>
            <a:r>
              <a:rPr lang="en-US" sz="1400" b="1" dirty="0">
                <a:solidFill>
                  <a:schemeClr val="tx1"/>
                </a:solidFill>
              </a:rPr>
              <a:t>CPU utilisé</a:t>
            </a:r>
            <a:endParaRPr lang="en-US" sz="1400" dirty="0"/>
          </a:p>
          <a:p>
            <a:pPr marL="0" indent="0">
              <a:buNone/>
            </a:pPr>
            <a:r>
              <a:rPr lang="en-US" sz="1200" dirty="0">
                <a:solidFill>
                  <a:schemeClr val="tx2"/>
                </a:solidFill>
              </a:rPr>
              <a:t>100 − idle rate × 100, seuil rouge 90 %</a:t>
            </a:r>
            <a:endParaRPr lang="en-US" sz="1400" dirty="0"/>
          </a:p>
        </p:txBody>
      </p:sp>
      <p:sp>
        <p:nvSpPr>
          <p:cNvPr id="13" name="pan-156"/>
          <p:cNvSpPr/>
          <p:nvPr/>
        </p:nvSpPr>
        <p:spPr>
          <a:xfrm>
            <a:off x="8183880" y="3968496"/>
            <a:ext cx="3429000" cy="960120"/>
          </a:xfrm>
          <a:prstGeom prst="roundRect">
            <a:avLst>
              <a:gd name="adj" fmla="val 7619"/>
            </a:avLst>
          </a:prstGeom>
          <a:solidFill>
            <a:schemeClr val="bg2"/>
          </a:solidFill>
          <a:ln w="9525">
            <a:solidFill>
              <a:srgbClr val="D6DEEA"/>
            </a:solidFill>
            <a:prstDash val="solid"/>
          </a:ln>
        </p:spPr>
        <p:txBody>
          <a:bodyPr/>
          <a:lstStyle/>
          <a:p>
            <a:endParaRPr lang="fr-FR"/>
          </a:p>
        </p:txBody>
      </p:sp>
      <p:sp>
        <p:nvSpPr>
          <p:cNvPr id="14" name="pan-t-157"/>
          <p:cNvSpPr txBox="1"/>
          <p:nvPr/>
        </p:nvSpPr>
        <p:spPr>
          <a:xfrm>
            <a:off x="8321040" y="3968496"/>
            <a:ext cx="3154680" cy="960120"/>
          </a:xfrm>
          <a:prstGeom prst="rect">
            <a:avLst/>
          </a:prstGeom>
          <a:noFill/>
          <a:ln/>
        </p:spPr>
        <p:txBody>
          <a:bodyPr wrap="square" lIns="0" tIns="0" rIns="0" bIns="0" rtlCol="0" anchor="ctr"/>
          <a:lstStyle/>
          <a:p>
            <a:pPr marL="0" indent="0">
              <a:buNone/>
            </a:pPr>
            <a:r>
              <a:rPr lang="en-US" sz="1400" b="1" dirty="0">
                <a:solidFill>
                  <a:schemeClr val="tx1"/>
                </a:solidFill>
              </a:rPr>
              <a:t>RAM utilisée</a:t>
            </a:r>
            <a:endParaRPr lang="en-US" sz="1400" dirty="0"/>
          </a:p>
          <a:p>
            <a:pPr marL="0" indent="0">
              <a:buNone/>
            </a:pPr>
            <a:r>
              <a:rPr lang="en-US" sz="1200" dirty="0">
                <a:solidFill>
                  <a:schemeClr val="tx2"/>
                </a:solidFill>
              </a:rPr>
              <a:t>1 − MemAvailable / MemTotal</a:t>
            </a:r>
            <a:endParaRPr lang="en-US" sz="1400" dirty="0"/>
          </a:p>
        </p:txBody>
      </p:sp>
      <p:sp>
        <p:nvSpPr>
          <p:cNvPr id="15" name="pan-158"/>
          <p:cNvSpPr/>
          <p:nvPr/>
        </p:nvSpPr>
        <p:spPr>
          <a:xfrm>
            <a:off x="8183880" y="5084064"/>
            <a:ext cx="3429000" cy="960120"/>
          </a:xfrm>
          <a:prstGeom prst="roundRect">
            <a:avLst>
              <a:gd name="adj" fmla="val 7619"/>
            </a:avLst>
          </a:prstGeom>
          <a:solidFill>
            <a:schemeClr val="bg2"/>
          </a:solidFill>
          <a:ln w="9525">
            <a:solidFill>
              <a:srgbClr val="D6DEEA"/>
            </a:solidFill>
            <a:prstDash val="solid"/>
          </a:ln>
        </p:spPr>
        <p:txBody>
          <a:bodyPr/>
          <a:lstStyle/>
          <a:p>
            <a:endParaRPr lang="fr-FR"/>
          </a:p>
        </p:txBody>
      </p:sp>
      <p:sp>
        <p:nvSpPr>
          <p:cNvPr id="16" name="pan-t-159"/>
          <p:cNvSpPr txBox="1"/>
          <p:nvPr/>
        </p:nvSpPr>
        <p:spPr>
          <a:xfrm>
            <a:off x="8321040" y="5084064"/>
            <a:ext cx="3154680" cy="960120"/>
          </a:xfrm>
          <a:prstGeom prst="rect">
            <a:avLst/>
          </a:prstGeom>
          <a:noFill/>
          <a:ln/>
        </p:spPr>
        <p:txBody>
          <a:bodyPr wrap="square" lIns="0" tIns="0" rIns="0" bIns="0" rtlCol="0" anchor="ctr"/>
          <a:lstStyle/>
          <a:p>
            <a:pPr marL="0" indent="0">
              <a:buNone/>
            </a:pPr>
            <a:r>
              <a:rPr lang="en-US" sz="1400" b="1" dirty="0">
                <a:solidFill>
                  <a:schemeClr val="tx1"/>
                </a:solidFill>
              </a:rPr>
              <a:t>Disque / utilisé</a:t>
            </a:r>
            <a:endParaRPr lang="en-US" sz="1400" dirty="0"/>
          </a:p>
          <a:p>
            <a:pPr marL="0" indent="0">
              <a:buNone/>
            </a:pPr>
            <a:r>
              <a:rPr lang="en-US" sz="1200" dirty="0">
                <a:solidFill>
                  <a:schemeClr val="tx2"/>
                </a:solidFill>
              </a:rPr>
              <a:t>1 − avail / size sur « / »</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08760" y="320040"/>
            <a:ext cx="1010412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Alertes Zabbix : déclencheurs et notifications</a:t>
            </a:r>
            <a:endParaRPr lang="en-US" sz="3000" dirty="0"/>
          </a:p>
        </p:txBody>
      </p:sp>
      <p:sp>
        <p:nvSpPr>
          <p:cNvPr id="3" name="badge-160"/>
          <p:cNvSpPr/>
          <p:nvPr/>
        </p:nvSpPr>
        <p:spPr>
          <a:xfrm>
            <a:off x="548640" y="320040"/>
            <a:ext cx="731520" cy="731520"/>
          </a:xfrm>
          <a:prstGeom prst="ellipse">
            <a:avLst/>
          </a:prstGeom>
          <a:solidFill>
            <a:schemeClr val="accent1"/>
          </a:solidFill>
          <a:ln w="12700">
            <a:solidFill>
              <a:schemeClr val="accent1"/>
            </a:solidFill>
            <a:prstDash val="solid"/>
          </a:ln>
        </p:spPr>
        <p:txBody>
          <a:bodyPr/>
          <a:lstStyle/>
          <a:p>
            <a:endParaRPr lang="fr-FR"/>
          </a:p>
        </p:txBody>
      </p:sp>
      <p:sp>
        <p:nvSpPr>
          <p:cNvPr id="4" name="badge-num-161"/>
          <p:cNvSpPr txBox="1"/>
          <p:nvPr/>
        </p:nvSpPr>
        <p:spPr>
          <a:xfrm>
            <a:off x="548640" y="320040"/>
            <a:ext cx="731520" cy="731520"/>
          </a:xfrm>
          <a:prstGeom prst="rect">
            <a:avLst/>
          </a:prstGeom>
          <a:noFill/>
          <a:ln/>
        </p:spPr>
        <p:txBody>
          <a:bodyPr wrap="square" lIns="0" tIns="0" rIns="0" bIns="0" rtlCol="0" anchor="ctr"/>
          <a:lstStyle/>
          <a:p>
            <a:pPr marL="0" indent="0" algn="ctr">
              <a:buNone/>
            </a:pPr>
            <a:r>
              <a:rPr lang="en-US" sz="2200" b="1" dirty="0">
                <a:solidFill>
                  <a:schemeClr val="tx1"/>
                </a:solidFill>
                <a:latin typeface="Arial" pitchFamily="34" charset="0"/>
                <a:ea typeface="Arial" pitchFamily="34" charset="-122"/>
                <a:cs typeface="Arial" pitchFamily="34" charset="-120"/>
              </a:rPr>
              <a:t>04</a:t>
            </a:r>
            <a:endParaRPr lang="en-US" sz="2200" dirty="0"/>
          </a:p>
        </p:txBody>
      </p:sp>
      <p:sp>
        <p:nvSpPr>
          <p:cNvPr id="5" name="card-162"/>
          <p:cNvSpPr/>
          <p:nvPr/>
        </p:nvSpPr>
        <p:spPr>
          <a:xfrm>
            <a:off x="548640" y="1280160"/>
            <a:ext cx="3566160" cy="2331720"/>
          </a:xfrm>
          <a:prstGeom prst="roundRect">
            <a:avLst>
              <a:gd name="adj" fmla="val 3137"/>
            </a:avLst>
          </a:prstGeom>
          <a:solidFill>
            <a:schemeClr val="bg2"/>
          </a:solidFill>
          <a:ln w="9525">
            <a:solidFill>
              <a:srgbClr val="D6DEEA"/>
            </a:solidFill>
            <a:prstDash val="solid"/>
          </a:ln>
        </p:spPr>
        <p:txBody>
          <a:bodyPr/>
          <a:lstStyle/>
          <a:p>
            <a:endParaRPr lang="fr-FR"/>
          </a:p>
        </p:txBody>
      </p:sp>
      <p:sp>
        <p:nvSpPr>
          <p:cNvPr id="6" name="card-t-163"/>
          <p:cNvSpPr txBox="1"/>
          <p:nvPr/>
        </p:nvSpPr>
        <p:spPr>
          <a:xfrm>
            <a:off x="731520" y="1417320"/>
            <a:ext cx="3200400" cy="365760"/>
          </a:xfrm>
          <a:prstGeom prst="rect">
            <a:avLst/>
          </a:prstGeom>
          <a:noFill/>
          <a:ln/>
        </p:spPr>
        <p:txBody>
          <a:bodyPr wrap="square" lIns="0" tIns="0" rIns="0" bIns="0" rtlCol="0" anchor="ctr"/>
          <a:lstStyle/>
          <a:p>
            <a:pPr marL="0" indent="0">
              <a:buNone/>
            </a:pPr>
            <a:r>
              <a:rPr lang="en-US" sz="1600" b="1" dirty="0">
                <a:solidFill>
                  <a:schemeClr val="tx1"/>
                </a:solidFill>
              </a:rPr>
              <a:t>Seuils du modèle Linux</a:t>
            </a:r>
            <a:endParaRPr lang="en-US" sz="1600" dirty="0"/>
          </a:p>
        </p:txBody>
      </p:sp>
      <p:sp>
        <p:nvSpPr>
          <p:cNvPr id="7" name="card-b-164"/>
          <p:cNvSpPr txBox="1"/>
          <p:nvPr/>
        </p:nvSpPr>
        <p:spPr>
          <a:xfrm>
            <a:off x="731520" y="1828800"/>
            <a:ext cx="3200400" cy="164592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chemeClr val="tx1"/>
                </a:solidFill>
              </a:rPr>
              <a:t>CPU : moyenne 5 min &gt; 90 %</a:t>
            </a:r>
            <a:endParaRPr lang="en-US" sz="1300" dirty="0"/>
          </a:p>
          <a:p>
            <a:pPr marL="152400" indent="-152400">
              <a:spcAft>
                <a:spcPts val="400"/>
              </a:spcAft>
              <a:buSzPct val="100000"/>
              <a:buChar char="•"/>
            </a:pPr>
            <a:r>
              <a:rPr lang="en-US" sz="1300" dirty="0">
                <a:solidFill>
                  <a:schemeClr val="tx1"/>
                </a:solidFill>
              </a:rPr>
              <a:t>Mémoire utilisée : moyenne 5 min &gt; 90 %</a:t>
            </a:r>
            <a:endParaRPr lang="en-US" sz="1300" dirty="0"/>
          </a:p>
          <a:p>
            <a:pPr marL="152400" indent="-152400">
              <a:spcAft>
                <a:spcPts val="400"/>
              </a:spcAft>
              <a:buSzPct val="100000"/>
              <a:buChar char="•"/>
            </a:pPr>
            <a:r>
              <a:rPr lang="en-US" sz="1300" dirty="0">
                <a:solidFill>
                  <a:schemeClr val="tx1"/>
                </a:solidFill>
              </a:rPr>
              <a:t>Disque « / » : &gt; 80 % (avert.), &gt; 90 % (haut)</a:t>
            </a:r>
            <a:endParaRPr lang="en-US" sz="1300" dirty="0"/>
          </a:p>
        </p:txBody>
      </p:sp>
      <p:sp>
        <p:nvSpPr>
          <p:cNvPr id="8" name="frame-165"/>
          <p:cNvSpPr/>
          <p:nvPr/>
        </p:nvSpPr>
        <p:spPr>
          <a:xfrm>
            <a:off x="4407900" y="1207008"/>
            <a:ext cx="3620039" cy="2139696"/>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9" name="shot-166" descr="Test de charge : 100 % pendant 2 min"/>
          <p:cNvPicPr>
            <a:picLocks noChangeAspect="1"/>
          </p:cNvPicPr>
          <p:nvPr/>
        </p:nvPicPr>
        <p:blipFill>
          <a:blip r:embed="rId3"/>
          <a:stretch>
            <a:fillRect/>
          </a:stretch>
        </p:blipFill>
        <p:spPr>
          <a:xfrm>
            <a:off x="4435332" y="1234440"/>
            <a:ext cx="3565175" cy="2084832"/>
          </a:xfrm>
          <a:prstGeom prst="rect">
            <a:avLst/>
          </a:prstGeom>
        </p:spPr>
      </p:pic>
      <p:sp>
        <p:nvSpPr>
          <p:cNvPr id="10" name="cap-167"/>
          <p:cNvSpPr txBox="1"/>
          <p:nvPr/>
        </p:nvSpPr>
        <p:spPr>
          <a:xfrm>
            <a:off x="4435332" y="3374136"/>
            <a:ext cx="3565175" cy="237744"/>
          </a:xfrm>
          <a:prstGeom prst="rect">
            <a:avLst/>
          </a:prstGeom>
          <a:noFill/>
          <a:ln/>
        </p:spPr>
        <p:txBody>
          <a:bodyPr wrap="square" lIns="0" tIns="0" rIns="0" bIns="0" rtlCol="0" anchor="ctr"/>
          <a:lstStyle/>
          <a:p>
            <a:pPr marL="0" indent="0">
              <a:buNone/>
            </a:pPr>
            <a:r>
              <a:rPr lang="en-US" sz="1000" i="1" dirty="0">
                <a:solidFill>
                  <a:schemeClr val="accent5"/>
                </a:solidFill>
              </a:rPr>
              <a:t>Test de charge : 100 % pendant 2 min</a:t>
            </a:r>
            <a:endParaRPr lang="en-US" sz="1000" dirty="0"/>
          </a:p>
        </p:txBody>
      </p:sp>
      <p:sp>
        <p:nvSpPr>
          <p:cNvPr id="11" name="card-168"/>
          <p:cNvSpPr/>
          <p:nvPr/>
        </p:nvSpPr>
        <p:spPr>
          <a:xfrm>
            <a:off x="8321040" y="1280160"/>
            <a:ext cx="3291840" cy="2331720"/>
          </a:xfrm>
          <a:prstGeom prst="roundRect">
            <a:avLst>
              <a:gd name="adj" fmla="val 3137"/>
            </a:avLst>
          </a:prstGeom>
          <a:solidFill>
            <a:schemeClr val="bg2"/>
          </a:solidFill>
          <a:ln w="9525">
            <a:solidFill>
              <a:srgbClr val="D6DEEA"/>
            </a:solidFill>
            <a:prstDash val="solid"/>
          </a:ln>
        </p:spPr>
        <p:txBody>
          <a:bodyPr/>
          <a:lstStyle/>
          <a:p>
            <a:endParaRPr lang="fr-FR"/>
          </a:p>
        </p:txBody>
      </p:sp>
      <p:sp>
        <p:nvSpPr>
          <p:cNvPr id="12" name="card-t-169"/>
          <p:cNvSpPr txBox="1"/>
          <p:nvPr/>
        </p:nvSpPr>
        <p:spPr>
          <a:xfrm>
            <a:off x="8503920" y="1417320"/>
            <a:ext cx="2926080" cy="365760"/>
          </a:xfrm>
          <a:prstGeom prst="rect">
            <a:avLst/>
          </a:prstGeom>
          <a:noFill/>
          <a:ln/>
        </p:spPr>
        <p:txBody>
          <a:bodyPr wrap="square" lIns="0" tIns="0" rIns="0" bIns="0" rtlCol="0" anchor="ctr"/>
          <a:lstStyle/>
          <a:p>
            <a:pPr marL="0" indent="0">
              <a:buNone/>
            </a:pPr>
            <a:r>
              <a:rPr lang="en-US" sz="1600" b="1" dirty="0">
                <a:solidFill>
                  <a:schemeClr val="tx1"/>
                </a:solidFill>
              </a:rPr>
              <a:t>Constat du test</a:t>
            </a:r>
            <a:endParaRPr lang="en-US" sz="1600" dirty="0"/>
          </a:p>
        </p:txBody>
      </p:sp>
      <p:sp>
        <p:nvSpPr>
          <p:cNvPr id="13" name="card-b-170"/>
          <p:cNvSpPr txBox="1"/>
          <p:nvPr/>
        </p:nvSpPr>
        <p:spPr>
          <a:xfrm>
            <a:off x="8503920" y="1828800"/>
            <a:ext cx="2926080" cy="1645920"/>
          </a:xfrm>
          <a:prstGeom prst="rect">
            <a:avLst/>
          </a:prstGeom>
          <a:noFill/>
          <a:ln/>
        </p:spPr>
        <p:txBody>
          <a:bodyPr wrap="square" lIns="0" tIns="0" rIns="0" bIns="0" rtlCol="0" anchor="t"/>
          <a:lstStyle/>
          <a:p>
            <a:pPr marL="0" indent="0">
              <a:spcAft>
                <a:spcPts val="400"/>
              </a:spcAft>
              <a:buNone/>
            </a:pPr>
            <a:r>
              <a:rPr lang="en-US" sz="1300" dirty="0">
                <a:solidFill>
                  <a:schemeClr val="tx1"/>
                </a:solidFill>
              </a:rPr>
              <a:t>Le pic de 2 min n'a levé aucune alerte : la moyenne sur 5 min reste sous 90 %. C'est voulu, cela évite les fausses alertes sur des pics brefs.</a:t>
            </a:r>
            <a:endParaRPr lang="en-US" sz="1300" dirty="0"/>
          </a:p>
        </p:txBody>
      </p:sp>
      <p:sp>
        <p:nvSpPr>
          <p:cNvPr id="14" name="card-171"/>
          <p:cNvSpPr/>
          <p:nvPr/>
        </p:nvSpPr>
        <p:spPr>
          <a:xfrm>
            <a:off x="548640" y="3840480"/>
            <a:ext cx="5486400" cy="2423160"/>
          </a:xfrm>
          <a:prstGeom prst="roundRect">
            <a:avLst>
              <a:gd name="adj" fmla="val 3019"/>
            </a:avLst>
          </a:prstGeom>
          <a:solidFill>
            <a:schemeClr val="bg2"/>
          </a:solidFill>
          <a:ln w="9525">
            <a:solidFill>
              <a:srgbClr val="D6DEEA"/>
            </a:solidFill>
            <a:prstDash val="solid"/>
          </a:ln>
        </p:spPr>
        <p:txBody>
          <a:bodyPr/>
          <a:lstStyle/>
          <a:p>
            <a:endParaRPr lang="fr-FR"/>
          </a:p>
        </p:txBody>
      </p:sp>
      <p:sp>
        <p:nvSpPr>
          <p:cNvPr id="15" name="card-t-172"/>
          <p:cNvSpPr txBox="1"/>
          <p:nvPr/>
        </p:nvSpPr>
        <p:spPr>
          <a:xfrm>
            <a:off x="731520" y="3977640"/>
            <a:ext cx="5120640" cy="365760"/>
          </a:xfrm>
          <a:prstGeom prst="rect">
            <a:avLst/>
          </a:prstGeom>
          <a:noFill/>
          <a:ln/>
        </p:spPr>
        <p:txBody>
          <a:bodyPr wrap="square" lIns="0" tIns="0" rIns="0" bIns="0" rtlCol="0" anchor="ctr"/>
          <a:lstStyle/>
          <a:p>
            <a:pPr marL="0" indent="0">
              <a:buNone/>
            </a:pPr>
            <a:r>
              <a:rPr lang="en-US" sz="1600" b="1" dirty="0">
                <a:solidFill>
                  <a:schemeClr val="tx1"/>
                </a:solidFill>
              </a:rPr>
              <a:t>Déclencheur et action « subespace e-mail »</a:t>
            </a:r>
            <a:endParaRPr lang="en-US" sz="1600" dirty="0"/>
          </a:p>
        </p:txBody>
      </p:sp>
      <p:sp>
        <p:nvSpPr>
          <p:cNvPr id="16" name="card-b-173"/>
          <p:cNvSpPr txBox="1"/>
          <p:nvPr/>
        </p:nvSpPr>
        <p:spPr>
          <a:xfrm>
            <a:off x="731520" y="4389120"/>
            <a:ext cx="5120640" cy="173736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chemeClr val="tx1"/>
                </a:solidFill>
              </a:rPr>
              <a:t>Déclencheur de test : min(/ENT-BRIDGE/system.cpu.util,1m)&gt;90 — sévérité Haut</a:t>
            </a:r>
            <a:endParaRPr lang="en-US" sz="1300" dirty="0"/>
          </a:p>
          <a:p>
            <a:pPr marL="152400" indent="-152400">
              <a:spcAft>
                <a:spcPts val="400"/>
              </a:spcAft>
              <a:buSzPct val="100000"/>
              <a:buChar char="•"/>
            </a:pPr>
            <a:r>
              <a:rPr lang="en-US" sz="1300" dirty="0">
                <a:solidFill>
                  <a:schemeClr val="tx1"/>
                </a:solidFill>
              </a:rPr>
              <a:t>Type de média E-mail (SMTP) associé à l'utilisateur Admin</a:t>
            </a:r>
            <a:endParaRPr lang="en-US" sz="1300" dirty="0"/>
          </a:p>
          <a:p>
            <a:pPr marL="152400" indent="-152400">
              <a:spcAft>
                <a:spcPts val="400"/>
              </a:spcAft>
              <a:buSzPct val="100000"/>
              <a:buChar char="•"/>
            </a:pPr>
            <a:r>
              <a:rPr lang="en-US" sz="1300" dirty="0">
                <a:solidFill>
                  <a:schemeClr val="tx1"/>
                </a:solidFill>
              </a:rPr>
              <a:t>Action : sévérité ≥ Avertissement → message hôte, problème, valeur, heure</a:t>
            </a:r>
            <a:endParaRPr lang="en-US" sz="1300" dirty="0"/>
          </a:p>
        </p:txBody>
      </p:sp>
      <p:sp>
        <p:nvSpPr>
          <p:cNvPr id="17" name="frame-174"/>
          <p:cNvSpPr/>
          <p:nvPr/>
        </p:nvSpPr>
        <p:spPr>
          <a:xfrm>
            <a:off x="6236208" y="3828570"/>
            <a:ext cx="5404104" cy="462733"/>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18" name="shot-175" descr="Surveillance → Problèmes : « Alerte CPU élevé », sévérité Haut"/>
          <p:cNvPicPr>
            <a:picLocks noChangeAspect="1"/>
          </p:cNvPicPr>
          <p:nvPr/>
        </p:nvPicPr>
        <p:blipFill>
          <a:blip r:embed="rId4"/>
          <a:stretch>
            <a:fillRect/>
          </a:stretch>
        </p:blipFill>
        <p:spPr>
          <a:xfrm>
            <a:off x="6263640" y="3856002"/>
            <a:ext cx="5349240" cy="407869"/>
          </a:xfrm>
          <a:prstGeom prst="rect">
            <a:avLst/>
          </a:prstGeom>
        </p:spPr>
      </p:pic>
      <p:sp>
        <p:nvSpPr>
          <p:cNvPr id="19" name="cap-176"/>
          <p:cNvSpPr txBox="1"/>
          <p:nvPr/>
        </p:nvSpPr>
        <p:spPr>
          <a:xfrm>
            <a:off x="6263640" y="4318734"/>
            <a:ext cx="5349240" cy="237744"/>
          </a:xfrm>
          <a:prstGeom prst="rect">
            <a:avLst/>
          </a:prstGeom>
          <a:noFill/>
          <a:ln/>
        </p:spPr>
        <p:txBody>
          <a:bodyPr wrap="square" lIns="0" tIns="0" rIns="0" bIns="0" rtlCol="0" anchor="ctr"/>
          <a:lstStyle/>
          <a:p>
            <a:pPr marL="0" indent="0">
              <a:buNone/>
            </a:pPr>
            <a:r>
              <a:rPr lang="en-US" sz="1000" i="1" dirty="0">
                <a:solidFill>
                  <a:schemeClr val="accent5"/>
                </a:solidFill>
              </a:rPr>
              <a:t>Surveillance → Problèmes : « Alerte CPU élevé », sévérité Haut</a:t>
            </a:r>
            <a:endParaRPr lang="en-US" sz="1000" dirty="0"/>
          </a:p>
        </p:txBody>
      </p:sp>
      <p:sp>
        <p:nvSpPr>
          <p:cNvPr id="20" name="frame-177"/>
          <p:cNvSpPr/>
          <p:nvPr/>
        </p:nvSpPr>
        <p:spPr>
          <a:xfrm>
            <a:off x="7492487" y="4590288"/>
            <a:ext cx="2891547" cy="1408176"/>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21" name="shot-178" descr="E-mail reçu (capture du labo de Vincent, hôte « cible »)"/>
          <p:cNvPicPr>
            <a:picLocks noChangeAspect="1"/>
          </p:cNvPicPr>
          <p:nvPr/>
        </p:nvPicPr>
        <p:blipFill>
          <a:blip r:embed="rId5"/>
          <a:stretch>
            <a:fillRect/>
          </a:stretch>
        </p:blipFill>
        <p:spPr>
          <a:xfrm>
            <a:off x="7519919" y="4617720"/>
            <a:ext cx="2836683" cy="1353312"/>
          </a:xfrm>
          <a:prstGeom prst="rect">
            <a:avLst/>
          </a:prstGeom>
        </p:spPr>
      </p:pic>
      <p:sp>
        <p:nvSpPr>
          <p:cNvPr id="22" name="cap-179"/>
          <p:cNvSpPr txBox="1"/>
          <p:nvPr/>
        </p:nvSpPr>
        <p:spPr>
          <a:xfrm>
            <a:off x="7519919" y="6025896"/>
            <a:ext cx="2836683" cy="237744"/>
          </a:xfrm>
          <a:prstGeom prst="rect">
            <a:avLst/>
          </a:prstGeom>
          <a:noFill/>
          <a:ln/>
        </p:spPr>
        <p:txBody>
          <a:bodyPr wrap="square" lIns="0" tIns="0" rIns="0" bIns="0" rtlCol="0" anchor="ctr"/>
          <a:lstStyle/>
          <a:p>
            <a:pPr marL="0" indent="0">
              <a:buNone/>
            </a:pPr>
            <a:r>
              <a:rPr lang="en-US" sz="1000" i="1" dirty="0">
                <a:solidFill>
                  <a:schemeClr val="accent5"/>
                </a:solidFill>
              </a:rPr>
              <a:t>E-mail reçu (capture du labo de Vincent, hôte « cible »)</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743200"/>
            <a:ext cx="10515600" cy="1097280"/>
          </a:xfrm>
          <a:prstGeom prst="rect">
            <a:avLst/>
          </a:prstGeom>
          <a:noFill/>
          <a:ln/>
        </p:spPr>
        <p:txBody>
          <a:bodyPr wrap="square" lIns="0" tIns="0" rIns="0" bIns="0" rtlCol="0" anchor="ctr"/>
          <a:lstStyle/>
          <a:p>
            <a:pPr marL="0" indent="0" algn="l">
              <a:buNone/>
            </a:pPr>
            <a:r>
              <a:rPr lang="en-US" sz="4000" b="1" dirty="0">
                <a:solidFill>
                  <a:schemeClr val="bg1"/>
                </a:solidFill>
                <a:latin typeface="Arial" pitchFamily="34" charset="0"/>
                <a:ea typeface="Arial" pitchFamily="34" charset="-122"/>
                <a:cs typeface="Arial" pitchFamily="34" charset="-120"/>
              </a:rPr>
              <a:t>Journalisation et analyse des menaces</a:t>
            </a:r>
            <a:endParaRPr lang="en-US" sz="4000" dirty="0"/>
          </a:p>
        </p:txBody>
      </p:sp>
      <p:sp>
        <p:nvSpPr>
          <p:cNvPr id="3" name="Text 0"/>
          <p:cNvSpPr>
            <a:spLocks noGrp="1"/>
          </p:cNvSpPr>
          <p:nvPr>
            <p:ph type="body" idx="101" hasCustomPrompt="1"/>
          </p:nvPr>
        </p:nvSpPr>
        <p:spPr>
          <a:xfrm>
            <a:off x="731520" y="3886200"/>
            <a:ext cx="10515600" cy="822960"/>
          </a:xfrm>
          <a:prstGeom prst="rect">
            <a:avLst/>
          </a:prstGeom>
          <a:noFill/>
          <a:ln/>
        </p:spPr>
        <p:txBody>
          <a:bodyPr wrap="square" lIns="0" tIns="0" rIns="0" bIns="0" rtlCol="0" anchor="t"/>
          <a:lstStyle/>
          <a:p>
            <a:pPr marL="0" indent="0">
              <a:buNone/>
            </a:pPr>
            <a:r>
              <a:rPr lang="en-US" sz="1800" dirty="0">
                <a:solidFill>
                  <a:schemeClr val="accent5"/>
                </a:solidFill>
              </a:rPr>
              <a:t>Missions 05 à 07 · ELK, Watcher, Wireshark et Kibana</a:t>
            </a:r>
            <a:endParaRPr lang="en-US" sz="1800" dirty="0"/>
          </a:p>
        </p:txBody>
      </p:sp>
      <p:sp>
        <p:nvSpPr>
          <p:cNvPr id="4" name="sec-n2"/>
          <p:cNvSpPr txBox="1"/>
          <p:nvPr/>
        </p:nvSpPr>
        <p:spPr>
          <a:xfrm>
            <a:off x="731520" y="1463040"/>
            <a:ext cx="3657600" cy="914400"/>
          </a:xfrm>
          <a:prstGeom prst="rect">
            <a:avLst/>
          </a:prstGeom>
          <a:noFill/>
          <a:ln/>
        </p:spPr>
        <p:txBody>
          <a:bodyPr wrap="square" lIns="0" tIns="0" rIns="0" bIns="0" rtlCol="0" anchor="ctr"/>
          <a:lstStyle/>
          <a:p>
            <a:pPr marL="0" indent="0">
              <a:buNone/>
            </a:pPr>
            <a:r>
              <a:rPr lang="en-US" sz="5400" b="1" dirty="0">
                <a:solidFill>
                  <a:schemeClr val="accent1"/>
                </a:solidFill>
                <a:latin typeface="Arial" pitchFamily="34" charset="0"/>
                <a:ea typeface="Arial" pitchFamily="34" charset="-122"/>
                <a:cs typeface="Arial" pitchFamily="34" charset="-120"/>
              </a:rPr>
              <a:t>05 – 07</a:t>
            </a:r>
            <a:endParaRPr lang="en-US" sz="5400" dirty="0"/>
          </a:p>
        </p:txBody>
      </p:sp>
      <p:sp>
        <p:nvSpPr>
          <p:cNvPr id="25" name="Slide Number Placeholder 0"/>
          <p:cNvSpPr>
            <a:spLocks noGrp="1"/>
          </p:cNvSpPr>
          <p:nvPr>
            <p:ph type="sldNum" sz="quarter" idx="4294967295"/>
          </p:nvPr>
        </p:nvSpPr>
        <p:spPr>
          <a:xfrm>
            <a:off x="11155680" y="635508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08760" y="320040"/>
            <a:ext cx="1010412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Installation de la stack ELK sur ENT-ELK</a:t>
            </a:r>
            <a:endParaRPr lang="en-US" sz="3000" dirty="0"/>
          </a:p>
        </p:txBody>
      </p:sp>
      <p:sp>
        <p:nvSpPr>
          <p:cNvPr id="3" name="badge-180"/>
          <p:cNvSpPr/>
          <p:nvPr/>
        </p:nvSpPr>
        <p:spPr>
          <a:xfrm>
            <a:off x="548640" y="320040"/>
            <a:ext cx="731520" cy="731520"/>
          </a:xfrm>
          <a:prstGeom prst="ellipse">
            <a:avLst/>
          </a:prstGeom>
          <a:solidFill>
            <a:schemeClr val="accent1"/>
          </a:solidFill>
          <a:ln w="12700">
            <a:solidFill>
              <a:schemeClr val="accent1"/>
            </a:solidFill>
            <a:prstDash val="solid"/>
          </a:ln>
        </p:spPr>
        <p:txBody>
          <a:bodyPr/>
          <a:lstStyle/>
          <a:p>
            <a:endParaRPr lang="fr-FR"/>
          </a:p>
        </p:txBody>
      </p:sp>
      <p:sp>
        <p:nvSpPr>
          <p:cNvPr id="4" name="badge-num-181"/>
          <p:cNvSpPr txBox="1"/>
          <p:nvPr/>
        </p:nvSpPr>
        <p:spPr>
          <a:xfrm>
            <a:off x="548640" y="320040"/>
            <a:ext cx="731520" cy="731520"/>
          </a:xfrm>
          <a:prstGeom prst="rect">
            <a:avLst/>
          </a:prstGeom>
          <a:noFill/>
          <a:ln/>
        </p:spPr>
        <p:txBody>
          <a:bodyPr wrap="square" lIns="0" tIns="0" rIns="0" bIns="0" rtlCol="0" anchor="ctr"/>
          <a:lstStyle/>
          <a:p>
            <a:pPr marL="0" indent="0" algn="ctr">
              <a:buNone/>
            </a:pPr>
            <a:r>
              <a:rPr lang="en-US" sz="2200" b="1" dirty="0">
                <a:solidFill>
                  <a:schemeClr val="tx1"/>
                </a:solidFill>
                <a:latin typeface="Arial" pitchFamily="34" charset="0"/>
                <a:ea typeface="Arial" pitchFamily="34" charset="-122"/>
                <a:cs typeface="Arial" pitchFamily="34" charset="-120"/>
              </a:rPr>
              <a:t>05</a:t>
            </a:r>
            <a:endParaRPr lang="en-US" sz="2200" dirty="0"/>
          </a:p>
        </p:txBody>
      </p:sp>
      <p:sp>
        <p:nvSpPr>
          <p:cNvPr id="5" name="frame-182"/>
          <p:cNvSpPr/>
          <p:nvPr/>
        </p:nvSpPr>
        <p:spPr>
          <a:xfrm>
            <a:off x="521208" y="1382859"/>
            <a:ext cx="5541264" cy="2016594"/>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6" name="shot-183" descr="elasticsearch.yml : cluster enterprise-d, nœud unique, écoute 0.0.0.0"/>
          <p:cNvPicPr>
            <a:picLocks noChangeAspect="1"/>
          </p:cNvPicPr>
          <p:nvPr/>
        </p:nvPicPr>
        <p:blipFill>
          <a:blip r:embed="rId3"/>
          <a:stretch>
            <a:fillRect/>
          </a:stretch>
        </p:blipFill>
        <p:spPr>
          <a:xfrm>
            <a:off x="548640" y="1410291"/>
            <a:ext cx="5486400" cy="1961730"/>
          </a:xfrm>
          <a:prstGeom prst="rect">
            <a:avLst/>
          </a:prstGeom>
        </p:spPr>
      </p:pic>
      <p:sp>
        <p:nvSpPr>
          <p:cNvPr id="7" name="cap-184"/>
          <p:cNvSpPr txBox="1"/>
          <p:nvPr/>
        </p:nvSpPr>
        <p:spPr>
          <a:xfrm>
            <a:off x="548640" y="3426885"/>
            <a:ext cx="5486400" cy="237744"/>
          </a:xfrm>
          <a:prstGeom prst="rect">
            <a:avLst/>
          </a:prstGeom>
          <a:noFill/>
          <a:ln/>
        </p:spPr>
        <p:txBody>
          <a:bodyPr wrap="square" lIns="0" tIns="0" rIns="0" bIns="0" rtlCol="0" anchor="ctr"/>
          <a:lstStyle/>
          <a:p>
            <a:pPr marL="0" indent="0">
              <a:buNone/>
            </a:pPr>
            <a:r>
              <a:rPr lang="en-US" sz="1000" i="1" dirty="0">
                <a:solidFill>
                  <a:schemeClr val="accent5"/>
                </a:solidFill>
              </a:rPr>
              <a:t>elasticsearch.yml : cluster enterprise-d, nœud unique, écoute 0.0.0.0</a:t>
            </a:r>
            <a:endParaRPr lang="en-US" sz="1000" dirty="0"/>
          </a:p>
        </p:txBody>
      </p:sp>
      <p:sp>
        <p:nvSpPr>
          <p:cNvPr id="8" name="frame-185"/>
          <p:cNvSpPr/>
          <p:nvPr/>
        </p:nvSpPr>
        <p:spPr>
          <a:xfrm>
            <a:off x="6327648" y="1933423"/>
            <a:ext cx="2798064" cy="3338627"/>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9" name="shot-186" descr="Cluster santé « green »"/>
          <p:cNvPicPr>
            <a:picLocks noChangeAspect="1"/>
          </p:cNvPicPr>
          <p:nvPr/>
        </p:nvPicPr>
        <p:blipFill>
          <a:blip r:embed="rId4"/>
          <a:stretch>
            <a:fillRect/>
          </a:stretch>
        </p:blipFill>
        <p:spPr>
          <a:xfrm>
            <a:off x="6355080" y="1960855"/>
            <a:ext cx="2743200" cy="3283763"/>
          </a:xfrm>
          <a:prstGeom prst="rect">
            <a:avLst/>
          </a:prstGeom>
        </p:spPr>
      </p:pic>
      <p:sp>
        <p:nvSpPr>
          <p:cNvPr id="10" name="cap-187"/>
          <p:cNvSpPr txBox="1"/>
          <p:nvPr/>
        </p:nvSpPr>
        <p:spPr>
          <a:xfrm>
            <a:off x="6355080" y="5299481"/>
            <a:ext cx="2743200" cy="237744"/>
          </a:xfrm>
          <a:prstGeom prst="rect">
            <a:avLst/>
          </a:prstGeom>
          <a:noFill/>
          <a:ln/>
        </p:spPr>
        <p:txBody>
          <a:bodyPr wrap="square" lIns="0" tIns="0" rIns="0" bIns="0" rtlCol="0" anchor="ctr"/>
          <a:lstStyle/>
          <a:p>
            <a:pPr marL="0" indent="0">
              <a:buNone/>
            </a:pPr>
            <a:r>
              <a:rPr lang="en-US" sz="1000" i="1" dirty="0">
                <a:solidFill>
                  <a:schemeClr val="accent5"/>
                </a:solidFill>
              </a:rPr>
              <a:t>Cluster santé « green »</a:t>
            </a:r>
            <a:endParaRPr lang="en-US" sz="1000" dirty="0"/>
          </a:p>
        </p:txBody>
      </p:sp>
      <p:sp>
        <p:nvSpPr>
          <p:cNvPr id="11" name="frame-188"/>
          <p:cNvSpPr/>
          <p:nvPr/>
        </p:nvSpPr>
        <p:spPr>
          <a:xfrm>
            <a:off x="1562126" y="3950208"/>
            <a:ext cx="3459428" cy="2048256"/>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12" name="shot-189" descr="Kibana accessible sur 172.16.0.20:5601"/>
          <p:cNvPicPr>
            <a:picLocks noChangeAspect="1"/>
          </p:cNvPicPr>
          <p:nvPr/>
        </p:nvPicPr>
        <p:blipFill>
          <a:blip r:embed="rId5"/>
          <a:stretch>
            <a:fillRect/>
          </a:stretch>
        </p:blipFill>
        <p:spPr>
          <a:xfrm>
            <a:off x="1589558" y="3977640"/>
            <a:ext cx="3404564" cy="1993392"/>
          </a:xfrm>
          <a:prstGeom prst="rect">
            <a:avLst/>
          </a:prstGeom>
        </p:spPr>
      </p:pic>
      <p:sp>
        <p:nvSpPr>
          <p:cNvPr id="13" name="cap-190"/>
          <p:cNvSpPr txBox="1"/>
          <p:nvPr/>
        </p:nvSpPr>
        <p:spPr>
          <a:xfrm>
            <a:off x="1589558" y="6025896"/>
            <a:ext cx="3404564" cy="237744"/>
          </a:xfrm>
          <a:prstGeom prst="rect">
            <a:avLst/>
          </a:prstGeom>
          <a:noFill/>
          <a:ln/>
        </p:spPr>
        <p:txBody>
          <a:bodyPr wrap="square" lIns="0" tIns="0" rIns="0" bIns="0" rtlCol="0" anchor="ctr"/>
          <a:lstStyle/>
          <a:p>
            <a:pPr marL="0" indent="0">
              <a:buNone/>
            </a:pPr>
            <a:r>
              <a:rPr lang="en-US" sz="1000" i="1" dirty="0">
                <a:solidFill>
                  <a:schemeClr val="accent5"/>
                </a:solidFill>
              </a:rPr>
              <a:t>Kibana accessible sur 172.16.0.20:5601</a:t>
            </a:r>
            <a:endParaRPr lang="en-US" sz="1000" dirty="0"/>
          </a:p>
        </p:txBody>
      </p:sp>
      <p:sp>
        <p:nvSpPr>
          <p:cNvPr id="14" name="card-191"/>
          <p:cNvSpPr/>
          <p:nvPr/>
        </p:nvSpPr>
        <p:spPr>
          <a:xfrm>
            <a:off x="9326880" y="1280160"/>
            <a:ext cx="2286000" cy="4983480"/>
          </a:xfrm>
          <a:prstGeom prst="roundRect">
            <a:avLst>
              <a:gd name="adj" fmla="val 3200"/>
            </a:avLst>
          </a:prstGeom>
          <a:solidFill>
            <a:schemeClr val="bg2"/>
          </a:solidFill>
          <a:ln w="9525">
            <a:solidFill>
              <a:srgbClr val="D6DEEA"/>
            </a:solidFill>
            <a:prstDash val="solid"/>
          </a:ln>
        </p:spPr>
        <p:txBody>
          <a:bodyPr/>
          <a:lstStyle/>
          <a:p>
            <a:endParaRPr lang="fr-FR"/>
          </a:p>
        </p:txBody>
      </p:sp>
      <p:sp>
        <p:nvSpPr>
          <p:cNvPr id="15" name="card-t-192"/>
          <p:cNvSpPr txBox="1"/>
          <p:nvPr/>
        </p:nvSpPr>
        <p:spPr>
          <a:xfrm>
            <a:off x="9509760" y="1417320"/>
            <a:ext cx="1920240" cy="365760"/>
          </a:xfrm>
          <a:prstGeom prst="rect">
            <a:avLst/>
          </a:prstGeom>
          <a:noFill/>
          <a:ln/>
        </p:spPr>
        <p:txBody>
          <a:bodyPr wrap="square" lIns="0" tIns="0" rIns="0" bIns="0" rtlCol="0" anchor="ctr"/>
          <a:lstStyle/>
          <a:p>
            <a:pPr marL="0" indent="0">
              <a:buNone/>
            </a:pPr>
            <a:r>
              <a:rPr lang="en-US" sz="1600" b="1" dirty="0">
                <a:solidFill>
                  <a:schemeClr val="tx1"/>
                </a:solidFill>
              </a:rPr>
              <a:t>Stack 8.19</a:t>
            </a:r>
            <a:endParaRPr lang="en-US" sz="1600" dirty="0"/>
          </a:p>
        </p:txBody>
      </p:sp>
      <p:sp>
        <p:nvSpPr>
          <p:cNvPr id="16" name="card-b-193"/>
          <p:cNvSpPr txBox="1"/>
          <p:nvPr/>
        </p:nvSpPr>
        <p:spPr>
          <a:xfrm>
            <a:off x="9509760" y="1828800"/>
            <a:ext cx="1920240" cy="429768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chemeClr val="tx1"/>
                </a:solidFill>
              </a:rPr>
              <a:t>Elasticsearch :9200</a:t>
            </a:r>
            <a:endParaRPr lang="en-US" sz="1300" dirty="0"/>
          </a:p>
          <a:p>
            <a:pPr marL="152400" indent="-152400">
              <a:spcAft>
                <a:spcPts val="400"/>
              </a:spcAft>
              <a:buSzPct val="100000"/>
              <a:buChar char="•"/>
            </a:pPr>
            <a:r>
              <a:rPr lang="en-US" sz="1300" dirty="0">
                <a:solidFill>
                  <a:schemeClr val="tx1"/>
                </a:solidFill>
              </a:rPr>
              <a:t>Logstash :5044 (Beats)</a:t>
            </a:r>
            <a:endParaRPr lang="en-US" sz="1300" dirty="0"/>
          </a:p>
          <a:p>
            <a:pPr marL="152400" indent="-152400">
              <a:spcAft>
                <a:spcPts val="400"/>
              </a:spcAft>
              <a:buSzPct val="100000"/>
              <a:buChar char="•"/>
            </a:pPr>
            <a:r>
              <a:rPr lang="en-US" sz="1300" dirty="0">
                <a:solidFill>
                  <a:schemeClr val="tx1"/>
                </a:solidFill>
              </a:rPr>
              <a:t>Kibana :5601</a:t>
            </a:r>
            <a:endParaRPr lang="en-US" sz="1300" dirty="0"/>
          </a:p>
          <a:p>
            <a:pPr marL="152400" indent="-152400">
              <a:spcAft>
                <a:spcPts val="400"/>
              </a:spcAft>
              <a:buSzPct val="100000"/>
              <a:buChar char="•"/>
            </a:pPr>
            <a:r>
              <a:rPr lang="en-US" sz="1300" dirty="0">
                <a:solidFill>
                  <a:schemeClr val="tx1"/>
                </a:solidFill>
              </a:rPr>
              <a:t>Heap ES 4 Go, Logstash 1 Go</a:t>
            </a:r>
            <a:endParaRPr lang="en-US" sz="1300" dirty="0"/>
          </a:p>
          <a:p>
            <a:pPr marL="152400" indent="-152400">
              <a:spcAft>
                <a:spcPts val="400"/>
              </a:spcAft>
              <a:buSzPct val="100000"/>
              <a:buChar char="•"/>
            </a:pPr>
            <a:r>
              <a:rPr lang="en-US" sz="1300" dirty="0">
                <a:solidFill>
                  <a:schemeClr val="tx1"/>
                </a:solidFill>
              </a:rPr>
              <a:t>Licence d'essai activée : requise pour Watcher</a:t>
            </a:r>
            <a:endParaRPr lang="en-US" sz="1300" dirty="0"/>
          </a:p>
          <a:p>
            <a:pPr marL="152400" indent="-152400">
              <a:spcAft>
                <a:spcPts val="400"/>
              </a:spcAft>
              <a:buSzPct val="100000"/>
              <a:buChar char="•"/>
            </a:pPr>
            <a:r>
              <a:rPr lang="en-US" sz="1300" dirty="0">
                <a:solidFill>
                  <a:schemeClr val="tx1"/>
                </a:solidFill>
              </a:rPr>
              <a:t>xpack.security désactivé : choix de labo, à réactiver en production</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08760" y="320040"/>
            <a:ext cx="1010412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Logstash : import des journaux réseau du vaisseau</a:t>
            </a:r>
            <a:endParaRPr lang="en-US" sz="3000" dirty="0"/>
          </a:p>
        </p:txBody>
      </p:sp>
      <p:sp>
        <p:nvSpPr>
          <p:cNvPr id="3" name="badge-194"/>
          <p:cNvSpPr/>
          <p:nvPr/>
        </p:nvSpPr>
        <p:spPr>
          <a:xfrm>
            <a:off x="548640" y="320040"/>
            <a:ext cx="731520" cy="731520"/>
          </a:xfrm>
          <a:prstGeom prst="ellipse">
            <a:avLst/>
          </a:prstGeom>
          <a:solidFill>
            <a:schemeClr val="accent1"/>
          </a:solidFill>
          <a:ln w="12700">
            <a:solidFill>
              <a:schemeClr val="accent1"/>
            </a:solidFill>
            <a:prstDash val="solid"/>
          </a:ln>
        </p:spPr>
        <p:txBody>
          <a:bodyPr/>
          <a:lstStyle/>
          <a:p>
            <a:endParaRPr lang="fr-FR"/>
          </a:p>
        </p:txBody>
      </p:sp>
      <p:sp>
        <p:nvSpPr>
          <p:cNvPr id="4" name="badge-num-195"/>
          <p:cNvSpPr txBox="1"/>
          <p:nvPr/>
        </p:nvSpPr>
        <p:spPr>
          <a:xfrm>
            <a:off x="548640" y="320040"/>
            <a:ext cx="731520" cy="731520"/>
          </a:xfrm>
          <a:prstGeom prst="rect">
            <a:avLst/>
          </a:prstGeom>
          <a:noFill/>
          <a:ln/>
        </p:spPr>
        <p:txBody>
          <a:bodyPr wrap="square" lIns="0" tIns="0" rIns="0" bIns="0" rtlCol="0" anchor="ctr"/>
          <a:lstStyle/>
          <a:p>
            <a:pPr marL="0" indent="0" algn="ctr">
              <a:buNone/>
            </a:pPr>
            <a:r>
              <a:rPr lang="en-US" sz="2200" b="1" dirty="0">
                <a:solidFill>
                  <a:schemeClr val="tx1"/>
                </a:solidFill>
                <a:latin typeface="Arial" pitchFamily="34" charset="0"/>
                <a:ea typeface="Arial" pitchFamily="34" charset="-122"/>
                <a:cs typeface="Arial" pitchFamily="34" charset="-120"/>
              </a:rPr>
              <a:t>05</a:t>
            </a:r>
            <a:endParaRPr lang="en-US" sz="2200" dirty="0"/>
          </a:p>
        </p:txBody>
      </p:sp>
      <p:sp>
        <p:nvSpPr>
          <p:cNvPr id="5" name="pipe-196"/>
          <p:cNvSpPr/>
          <p:nvPr/>
        </p:nvSpPr>
        <p:spPr>
          <a:xfrm>
            <a:off x="548640" y="1325880"/>
            <a:ext cx="1920240" cy="1417320"/>
          </a:xfrm>
          <a:prstGeom prst="roundRect">
            <a:avLst>
              <a:gd name="adj" fmla="val 5161"/>
            </a:avLst>
          </a:prstGeom>
          <a:solidFill>
            <a:schemeClr val="bg2"/>
          </a:solidFill>
          <a:ln w="9525">
            <a:solidFill>
              <a:srgbClr val="D6DEEA"/>
            </a:solidFill>
            <a:prstDash val="solid"/>
          </a:ln>
        </p:spPr>
        <p:txBody>
          <a:bodyPr/>
          <a:lstStyle/>
          <a:p>
            <a:endParaRPr lang="fr-FR"/>
          </a:p>
        </p:txBody>
      </p:sp>
      <p:sp>
        <p:nvSpPr>
          <p:cNvPr id="6" name="pipe-t-197"/>
          <p:cNvSpPr txBox="1"/>
          <p:nvPr/>
        </p:nvSpPr>
        <p:spPr>
          <a:xfrm>
            <a:off x="658368" y="1325880"/>
            <a:ext cx="1700784" cy="1417320"/>
          </a:xfrm>
          <a:prstGeom prst="rect">
            <a:avLst/>
          </a:prstGeom>
          <a:noFill/>
          <a:ln/>
        </p:spPr>
        <p:txBody>
          <a:bodyPr wrap="square" lIns="0" tIns="0" rIns="0" bIns="0" rtlCol="0" anchor="ctr"/>
          <a:lstStyle/>
          <a:p>
            <a:pPr marL="0" indent="0">
              <a:buNone/>
            </a:pPr>
            <a:r>
              <a:rPr lang="en-US" sz="1600" b="1" dirty="0">
                <a:solidFill>
                  <a:schemeClr val="tx1"/>
                </a:solidFill>
              </a:rPr>
              <a:t>tshark</a:t>
            </a:r>
            <a:endParaRPr lang="en-US" sz="1600" dirty="0"/>
          </a:p>
          <a:p>
            <a:pPr marL="0" indent="0">
              <a:buNone/>
            </a:pPr>
            <a:r>
              <a:rPr lang="en-US" sz="1100" dirty="0">
                <a:solidFill>
                  <a:schemeClr val="accent2"/>
                </a:solidFill>
              </a:rPr>
              <a:t>ENT-BRIDGE</a:t>
            </a:r>
            <a:endParaRPr lang="en-US" sz="1600" dirty="0"/>
          </a:p>
          <a:p>
            <a:pPr marL="0" indent="0">
              <a:buNone/>
            </a:pPr>
            <a:r>
              <a:rPr lang="en-US" sz="1100" dirty="0">
                <a:solidFill>
                  <a:schemeClr val="tx2"/>
                </a:solidFill>
              </a:rPr>
              <a:t>Capture continue (service systemd)</a:t>
            </a:r>
            <a:endParaRPr lang="en-US" sz="1600" dirty="0"/>
          </a:p>
        </p:txBody>
      </p:sp>
      <p:sp>
        <p:nvSpPr>
          <p:cNvPr id="7" name="arrow-198"/>
          <p:cNvSpPr/>
          <p:nvPr/>
        </p:nvSpPr>
        <p:spPr>
          <a:xfrm>
            <a:off x="2514600" y="2034540"/>
            <a:ext cx="274320" cy="0"/>
          </a:xfrm>
          <a:prstGeom prst="line">
            <a:avLst/>
          </a:prstGeom>
          <a:noFill/>
          <a:ln w="19050">
            <a:solidFill>
              <a:schemeClr val="accent5"/>
            </a:solidFill>
            <a:prstDash val="solid"/>
            <a:tailEnd type="triangle"/>
          </a:ln>
        </p:spPr>
        <p:txBody>
          <a:bodyPr/>
          <a:lstStyle/>
          <a:p>
            <a:endParaRPr lang="fr-FR"/>
          </a:p>
        </p:txBody>
      </p:sp>
      <p:sp>
        <p:nvSpPr>
          <p:cNvPr id="8" name="pipe-199"/>
          <p:cNvSpPr/>
          <p:nvPr/>
        </p:nvSpPr>
        <p:spPr>
          <a:xfrm>
            <a:off x="2834640" y="1325880"/>
            <a:ext cx="1920240" cy="1417320"/>
          </a:xfrm>
          <a:prstGeom prst="roundRect">
            <a:avLst>
              <a:gd name="adj" fmla="val 5161"/>
            </a:avLst>
          </a:prstGeom>
          <a:solidFill>
            <a:schemeClr val="bg2"/>
          </a:solidFill>
          <a:ln w="9525">
            <a:solidFill>
              <a:srgbClr val="D6DEEA"/>
            </a:solidFill>
            <a:prstDash val="solid"/>
          </a:ln>
        </p:spPr>
        <p:txBody>
          <a:bodyPr/>
          <a:lstStyle/>
          <a:p>
            <a:endParaRPr lang="fr-FR"/>
          </a:p>
        </p:txBody>
      </p:sp>
      <p:sp>
        <p:nvSpPr>
          <p:cNvPr id="9" name="pipe-t-200"/>
          <p:cNvSpPr txBox="1"/>
          <p:nvPr/>
        </p:nvSpPr>
        <p:spPr>
          <a:xfrm>
            <a:off x="2944368" y="1325880"/>
            <a:ext cx="1700784" cy="1417320"/>
          </a:xfrm>
          <a:prstGeom prst="rect">
            <a:avLst/>
          </a:prstGeom>
          <a:noFill/>
          <a:ln/>
        </p:spPr>
        <p:txBody>
          <a:bodyPr wrap="square" lIns="0" tIns="0" rIns="0" bIns="0" rtlCol="0" anchor="ctr"/>
          <a:lstStyle/>
          <a:p>
            <a:pPr marL="0" indent="0">
              <a:buNone/>
            </a:pPr>
            <a:r>
              <a:rPr lang="en-US" sz="1600" b="1" dirty="0">
                <a:solidFill>
                  <a:schemeClr val="tx1"/>
                </a:solidFill>
              </a:rPr>
              <a:t>capture.csv</a:t>
            </a:r>
            <a:endParaRPr lang="en-US" sz="1600" dirty="0"/>
          </a:p>
          <a:p>
            <a:pPr marL="0" indent="0">
              <a:buNone/>
            </a:pPr>
            <a:r>
              <a:rPr lang="en-US" sz="1100" dirty="0">
                <a:solidFill>
                  <a:schemeClr val="accent2"/>
                </a:solidFill>
              </a:rPr>
              <a:t>/var/log/enterprise-d</a:t>
            </a:r>
            <a:endParaRPr lang="en-US" sz="1600" dirty="0"/>
          </a:p>
          <a:p>
            <a:pPr marL="0" indent="0">
              <a:buNone/>
            </a:pPr>
            <a:r>
              <a:rPr lang="en-US" sz="1100" dirty="0">
                <a:solidFill>
                  <a:schemeClr val="tx2"/>
                </a:solidFill>
              </a:rPr>
              <a:t>Une ligne par paquet</a:t>
            </a:r>
            <a:endParaRPr lang="en-US" sz="1600" dirty="0"/>
          </a:p>
        </p:txBody>
      </p:sp>
      <p:sp>
        <p:nvSpPr>
          <p:cNvPr id="10" name="arrow-201"/>
          <p:cNvSpPr/>
          <p:nvPr/>
        </p:nvSpPr>
        <p:spPr>
          <a:xfrm>
            <a:off x="4800600" y="2034540"/>
            <a:ext cx="274320" cy="0"/>
          </a:xfrm>
          <a:prstGeom prst="line">
            <a:avLst/>
          </a:prstGeom>
          <a:noFill/>
          <a:ln w="19050">
            <a:solidFill>
              <a:schemeClr val="accent5"/>
            </a:solidFill>
            <a:prstDash val="solid"/>
            <a:tailEnd type="triangle"/>
          </a:ln>
        </p:spPr>
        <p:txBody>
          <a:bodyPr/>
          <a:lstStyle/>
          <a:p>
            <a:endParaRPr lang="fr-FR"/>
          </a:p>
        </p:txBody>
      </p:sp>
      <p:sp>
        <p:nvSpPr>
          <p:cNvPr id="11" name="pipe-202"/>
          <p:cNvSpPr/>
          <p:nvPr/>
        </p:nvSpPr>
        <p:spPr>
          <a:xfrm>
            <a:off x="5120640" y="1325880"/>
            <a:ext cx="1920240" cy="1417320"/>
          </a:xfrm>
          <a:prstGeom prst="roundRect">
            <a:avLst>
              <a:gd name="adj" fmla="val 5161"/>
            </a:avLst>
          </a:prstGeom>
          <a:solidFill>
            <a:schemeClr val="bg2"/>
          </a:solidFill>
          <a:ln w="9525">
            <a:solidFill>
              <a:srgbClr val="D6DEEA"/>
            </a:solidFill>
            <a:prstDash val="solid"/>
          </a:ln>
        </p:spPr>
        <p:txBody>
          <a:bodyPr/>
          <a:lstStyle/>
          <a:p>
            <a:endParaRPr lang="fr-FR"/>
          </a:p>
        </p:txBody>
      </p:sp>
      <p:sp>
        <p:nvSpPr>
          <p:cNvPr id="12" name="pipe-t-203"/>
          <p:cNvSpPr txBox="1"/>
          <p:nvPr/>
        </p:nvSpPr>
        <p:spPr>
          <a:xfrm>
            <a:off x="5230368" y="1325880"/>
            <a:ext cx="1700784" cy="1417320"/>
          </a:xfrm>
          <a:prstGeom prst="rect">
            <a:avLst/>
          </a:prstGeom>
          <a:noFill/>
          <a:ln/>
        </p:spPr>
        <p:txBody>
          <a:bodyPr wrap="square" lIns="0" tIns="0" rIns="0" bIns="0" rtlCol="0" anchor="ctr"/>
          <a:lstStyle/>
          <a:p>
            <a:pPr marL="0" indent="0">
              <a:buNone/>
            </a:pPr>
            <a:r>
              <a:rPr lang="en-US" sz="1600" b="1" dirty="0">
                <a:solidFill>
                  <a:schemeClr val="tx1"/>
                </a:solidFill>
              </a:rPr>
              <a:t>Filebeat</a:t>
            </a:r>
            <a:endParaRPr lang="en-US" sz="1600" dirty="0"/>
          </a:p>
          <a:p>
            <a:pPr marL="0" indent="0">
              <a:buNone/>
            </a:pPr>
            <a:r>
              <a:rPr lang="en-US" sz="1100" dirty="0">
                <a:solidFill>
                  <a:schemeClr val="accent2"/>
                </a:solidFill>
              </a:rPr>
              <a:t>ENT-BRIDGE</a:t>
            </a:r>
            <a:endParaRPr lang="en-US" sz="1600" dirty="0"/>
          </a:p>
          <a:p>
            <a:pPr marL="0" indent="0">
              <a:buNone/>
            </a:pPr>
            <a:r>
              <a:rPr lang="en-US" sz="1100" dirty="0">
                <a:solidFill>
                  <a:schemeClr val="tx2"/>
                </a:solidFill>
              </a:rPr>
              <a:t>Lit le CSV, tag wireshark</a:t>
            </a:r>
            <a:endParaRPr lang="en-US" sz="1600" dirty="0"/>
          </a:p>
        </p:txBody>
      </p:sp>
      <p:sp>
        <p:nvSpPr>
          <p:cNvPr id="13" name="arrow-204"/>
          <p:cNvSpPr/>
          <p:nvPr/>
        </p:nvSpPr>
        <p:spPr>
          <a:xfrm>
            <a:off x="7086600" y="2034540"/>
            <a:ext cx="274320" cy="0"/>
          </a:xfrm>
          <a:prstGeom prst="line">
            <a:avLst/>
          </a:prstGeom>
          <a:noFill/>
          <a:ln w="19050">
            <a:solidFill>
              <a:schemeClr val="accent5"/>
            </a:solidFill>
            <a:prstDash val="solid"/>
            <a:tailEnd type="triangle"/>
          </a:ln>
        </p:spPr>
        <p:txBody>
          <a:bodyPr/>
          <a:lstStyle/>
          <a:p>
            <a:endParaRPr lang="fr-FR"/>
          </a:p>
        </p:txBody>
      </p:sp>
      <p:sp>
        <p:nvSpPr>
          <p:cNvPr id="14" name="pipe-205"/>
          <p:cNvSpPr/>
          <p:nvPr/>
        </p:nvSpPr>
        <p:spPr>
          <a:xfrm>
            <a:off x="7406640" y="1325880"/>
            <a:ext cx="1920240" cy="1417320"/>
          </a:xfrm>
          <a:prstGeom prst="roundRect">
            <a:avLst>
              <a:gd name="adj" fmla="val 5161"/>
            </a:avLst>
          </a:prstGeom>
          <a:solidFill>
            <a:schemeClr val="tx1"/>
          </a:solidFill>
          <a:ln w="9525">
            <a:solidFill>
              <a:schemeClr val="tx1"/>
            </a:solidFill>
            <a:prstDash val="solid"/>
          </a:ln>
        </p:spPr>
        <p:txBody>
          <a:bodyPr/>
          <a:lstStyle/>
          <a:p>
            <a:endParaRPr lang="fr-FR"/>
          </a:p>
        </p:txBody>
      </p:sp>
      <p:sp>
        <p:nvSpPr>
          <p:cNvPr id="15" name="pipe-t-206"/>
          <p:cNvSpPr txBox="1"/>
          <p:nvPr/>
        </p:nvSpPr>
        <p:spPr>
          <a:xfrm>
            <a:off x="7516368" y="1325880"/>
            <a:ext cx="1700784" cy="1417320"/>
          </a:xfrm>
          <a:prstGeom prst="rect">
            <a:avLst/>
          </a:prstGeom>
          <a:noFill/>
          <a:ln/>
        </p:spPr>
        <p:txBody>
          <a:bodyPr wrap="square" lIns="0" tIns="0" rIns="0" bIns="0" rtlCol="0" anchor="ctr"/>
          <a:lstStyle/>
          <a:p>
            <a:pPr marL="0" indent="0">
              <a:buNone/>
            </a:pPr>
            <a:r>
              <a:rPr lang="en-US" sz="1600" b="1" dirty="0">
                <a:solidFill>
                  <a:schemeClr val="accent1"/>
                </a:solidFill>
              </a:rPr>
              <a:t>Logstash</a:t>
            </a:r>
            <a:endParaRPr lang="en-US" sz="1600" dirty="0"/>
          </a:p>
          <a:p>
            <a:pPr marL="0" indent="0">
              <a:buNone/>
            </a:pPr>
            <a:r>
              <a:rPr lang="en-US" sz="1100" dirty="0">
                <a:solidFill>
                  <a:schemeClr val="bg1"/>
                </a:solidFill>
              </a:rPr>
              <a:t>ENT-ELK :5044</a:t>
            </a:r>
            <a:endParaRPr lang="en-US" sz="1600" dirty="0"/>
          </a:p>
          <a:p>
            <a:pPr marL="0" indent="0">
              <a:buNone/>
            </a:pPr>
            <a:r>
              <a:rPr lang="en-US" sz="1100" dirty="0">
                <a:solidFill>
                  <a:schemeClr val="bg2"/>
                </a:solidFill>
              </a:rPr>
              <a:t>Parse CSV → champs ECS</a:t>
            </a:r>
            <a:endParaRPr lang="en-US" sz="1600" dirty="0"/>
          </a:p>
        </p:txBody>
      </p:sp>
      <p:sp>
        <p:nvSpPr>
          <p:cNvPr id="16" name="arrow-207"/>
          <p:cNvSpPr/>
          <p:nvPr/>
        </p:nvSpPr>
        <p:spPr>
          <a:xfrm>
            <a:off x="9372600" y="2034540"/>
            <a:ext cx="274320" cy="0"/>
          </a:xfrm>
          <a:prstGeom prst="line">
            <a:avLst/>
          </a:prstGeom>
          <a:noFill/>
          <a:ln w="19050">
            <a:solidFill>
              <a:schemeClr val="accent5"/>
            </a:solidFill>
            <a:prstDash val="solid"/>
            <a:tailEnd type="triangle"/>
          </a:ln>
        </p:spPr>
        <p:txBody>
          <a:bodyPr/>
          <a:lstStyle/>
          <a:p>
            <a:endParaRPr lang="fr-FR"/>
          </a:p>
        </p:txBody>
      </p:sp>
      <p:sp>
        <p:nvSpPr>
          <p:cNvPr id="17" name="pipe-208"/>
          <p:cNvSpPr/>
          <p:nvPr/>
        </p:nvSpPr>
        <p:spPr>
          <a:xfrm>
            <a:off x="9692640" y="1325880"/>
            <a:ext cx="1920240" cy="1417320"/>
          </a:xfrm>
          <a:prstGeom prst="roundRect">
            <a:avLst>
              <a:gd name="adj" fmla="val 5161"/>
            </a:avLst>
          </a:prstGeom>
          <a:solidFill>
            <a:schemeClr val="bg2"/>
          </a:solidFill>
          <a:ln w="9525">
            <a:solidFill>
              <a:srgbClr val="D6DEEA"/>
            </a:solidFill>
            <a:prstDash val="solid"/>
          </a:ln>
        </p:spPr>
        <p:txBody>
          <a:bodyPr/>
          <a:lstStyle/>
          <a:p>
            <a:endParaRPr lang="fr-FR"/>
          </a:p>
        </p:txBody>
      </p:sp>
      <p:sp>
        <p:nvSpPr>
          <p:cNvPr id="18" name="pipe-t-209"/>
          <p:cNvSpPr txBox="1"/>
          <p:nvPr/>
        </p:nvSpPr>
        <p:spPr>
          <a:xfrm>
            <a:off x="9802368" y="1325880"/>
            <a:ext cx="1700784" cy="1417320"/>
          </a:xfrm>
          <a:prstGeom prst="rect">
            <a:avLst/>
          </a:prstGeom>
          <a:noFill/>
          <a:ln/>
        </p:spPr>
        <p:txBody>
          <a:bodyPr wrap="square" lIns="0" tIns="0" rIns="0" bIns="0" rtlCol="0" anchor="ctr"/>
          <a:lstStyle/>
          <a:p>
            <a:pPr marL="0" indent="0">
              <a:buNone/>
            </a:pPr>
            <a:r>
              <a:rPr lang="en-US" sz="1600" b="1" dirty="0">
                <a:solidFill>
                  <a:schemeClr val="tx1"/>
                </a:solidFill>
              </a:rPr>
              <a:t>Elasticsearch</a:t>
            </a:r>
            <a:endParaRPr lang="en-US" sz="1600" dirty="0"/>
          </a:p>
          <a:p>
            <a:pPr marL="0" indent="0">
              <a:buNone/>
            </a:pPr>
            <a:r>
              <a:rPr lang="en-US" sz="1100" dirty="0">
                <a:solidFill>
                  <a:schemeClr val="accent2"/>
                </a:solidFill>
              </a:rPr>
              <a:t>wireshark-AAAA.MM.JJ</a:t>
            </a:r>
            <a:endParaRPr lang="en-US" sz="1600" dirty="0"/>
          </a:p>
          <a:p>
            <a:pPr marL="0" indent="0">
              <a:buNone/>
            </a:pPr>
            <a:r>
              <a:rPr lang="en-US" sz="1100" dirty="0">
                <a:solidFill>
                  <a:schemeClr val="tx2"/>
                </a:solidFill>
              </a:rPr>
              <a:t>Index quotidien</a:t>
            </a:r>
            <a:endParaRPr lang="en-US" sz="1600" dirty="0"/>
          </a:p>
        </p:txBody>
      </p:sp>
      <p:sp>
        <p:nvSpPr>
          <p:cNvPr id="19" name="frame-210"/>
          <p:cNvSpPr/>
          <p:nvPr/>
        </p:nvSpPr>
        <p:spPr>
          <a:xfrm>
            <a:off x="521208" y="3315377"/>
            <a:ext cx="5175504" cy="2357797"/>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20" name="shot-211" descr="filebeat.yml : entrée filestream vers Logstash"/>
          <p:cNvPicPr>
            <a:picLocks noChangeAspect="1"/>
          </p:cNvPicPr>
          <p:nvPr/>
        </p:nvPicPr>
        <p:blipFill>
          <a:blip r:embed="rId3"/>
          <a:stretch>
            <a:fillRect/>
          </a:stretch>
        </p:blipFill>
        <p:spPr>
          <a:xfrm>
            <a:off x="548640" y="3342809"/>
            <a:ext cx="5120640" cy="2302933"/>
          </a:xfrm>
          <a:prstGeom prst="rect">
            <a:avLst/>
          </a:prstGeom>
        </p:spPr>
      </p:pic>
      <p:sp>
        <p:nvSpPr>
          <p:cNvPr id="21" name="cap-212"/>
          <p:cNvSpPr txBox="1"/>
          <p:nvPr/>
        </p:nvSpPr>
        <p:spPr>
          <a:xfrm>
            <a:off x="548640" y="5700607"/>
            <a:ext cx="5120640" cy="237744"/>
          </a:xfrm>
          <a:prstGeom prst="rect">
            <a:avLst/>
          </a:prstGeom>
          <a:noFill/>
          <a:ln/>
        </p:spPr>
        <p:txBody>
          <a:bodyPr wrap="square" lIns="0" tIns="0" rIns="0" bIns="0" rtlCol="0" anchor="ctr"/>
          <a:lstStyle/>
          <a:p>
            <a:pPr marL="0" indent="0">
              <a:buNone/>
            </a:pPr>
            <a:r>
              <a:rPr lang="en-US" sz="1000" i="1" dirty="0">
                <a:solidFill>
                  <a:schemeClr val="accent5"/>
                </a:solidFill>
              </a:rPr>
              <a:t>filebeat.yml : entrée filestream vers Logstash</a:t>
            </a:r>
            <a:endParaRPr lang="en-US" sz="1000" dirty="0"/>
          </a:p>
        </p:txBody>
      </p:sp>
      <p:sp>
        <p:nvSpPr>
          <p:cNvPr id="22" name="frame-213"/>
          <p:cNvSpPr/>
          <p:nvPr/>
        </p:nvSpPr>
        <p:spPr>
          <a:xfrm>
            <a:off x="5916168" y="3072161"/>
            <a:ext cx="5724144" cy="1335471"/>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23" name="shot-214" descr="filebeat test output : connexion à Logstash OK"/>
          <p:cNvPicPr>
            <a:picLocks noChangeAspect="1"/>
          </p:cNvPicPr>
          <p:nvPr/>
        </p:nvPicPr>
        <p:blipFill>
          <a:blip r:embed="rId4"/>
          <a:stretch>
            <a:fillRect/>
          </a:stretch>
        </p:blipFill>
        <p:spPr>
          <a:xfrm>
            <a:off x="5943600" y="3099593"/>
            <a:ext cx="5669280" cy="1280607"/>
          </a:xfrm>
          <a:prstGeom prst="rect">
            <a:avLst/>
          </a:prstGeom>
        </p:spPr>
      </p:pic>
      <p:sp>
        <p:nvSpPr>
          <p:cNvPr id="24" name="cap-215"/>
          <p:cNvSpPr txBox="1"/>
          <p:nvPr/>
        </p:nvSpPr>
        <p:spPr>
          <a:xfrm>
            <a:off x="5943600" y="4435063"/>
            <a:ext cx="5669280" cy="237744"/>
          </a:xfrm>
          <a:prstGeom prst="rect">
            <a:avLst/>
          </a:prstGeom>
          <a:noFill/>
          <a:ln/>
        </p:spPr>
        <p:txBody>
          <a:bodyPr wrap="square" lIns="0" tIns="0" rIns="0" bIns="0" rtlCol="0" anchor="ctr"/>
          <a:lstStyle/>
          <a:p>
            <a:pPr marL="0" indent="0">
              <a:buNone/>
            </a:pPr>
            <a:r>
              <a:rPr lang="en-US" sz="1000" i="1" dirty="0">
                <a:solidFill>
                  <a:schemeClr val="accent5"/>
                </a:solidFill>
              </a:rPr>
              <a:t>filebeat test output : connexion à Logstash OK</a:t>
            </a:r>
            <a:endParaRPr lang="en-US" sz="1000" dirty="0"/>
          </a:p>
        </p:txBody>
      </p:sp>
      <p:sp>
        <p:nvSpPr>
          <p:cNvPr id="25" name="frame-216"/>
          <p:cNvSpPr/>
          <p:nvPr/>
        </p:nvSpPr>
        <p:spPr>
          <a:xfrm>
            <a:off x="5994205" y="4864608"/>
            <a:ext cx="5568070" cy="1133856"/>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26" name="shot-217" descr="Index créés : ~108 000 paquets indexés sur 2 jours"/>
          <p:cNvPicPr>
            <a:picLocks noChangeAspect="1"/>
          </p:cNvPicPr>
          <p:nvPr/>
        </p:nvPicPr>
        <p:blipFill>
          <a:blip r:embed="rId5"/>
          <a:stretch>
            <a:fillRect/>
          </a:stretch>
        </p:blipFill>
        <p:spPr>
          <a:xfrm>
            <a:off x="6021637" y="4892040"/>
            <a:ext cx="5513206" cy="1078992"/>
          </a:xfrm>
          <a:prstGeom prst="rect">
            <a:avLst/>
          </a:prstGeom>
        </p:spPr>
      </p:pic>
      <p:sp>
        <p:nvSpPr>
          <p:cNvPr id="27" name="cap-218"/>
          <p:cNvSpPr txBox="1"/>
          <p:nvPr/>
        </p:nvSpPr>
        <p:spPr>
          <a:xfrm>
            <a:off x="6021637" y="6025896"/>
            <a:ext cx="5513206" cy="237744"/>
          </a:xfrm>
          <a:prstGeom prst="rect">
            <a:avLst/>
          </a:prstGeom>
          <a:noFill/>
          <a:ln/>
        </p:spPr>
        <p:txBody>
          <a:bodyPr wrap="square" lIns="0" tIns="0" rIns="0" bIns="0" rtlCol="0" anchor="ctr"/>
          <a:lstStyle/>
          <a:p>
            <a:pPr marL="0" indent="0">
              <a:buNone/>
            </a:pPr>
            <a:r>
              <a:rPr lang="en-US" sz="1000" i="1" dirty="0">
                <a:solidFill>
                  <a:schemeClr val="accent5"/>
                </a:solidFill>
              </a:rPr>
              <a:t>Index créés : ~108 000 paquets indexés sur 2 jours</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08760" y="320040"/>
            <a:ext cx="1010412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Logstash : le pipeline enterprise-d.conf</a:t>
            </a:r>
            <a:endParaRPr lang="en-US" sz="3000" dirty="0"/>
          </a:p>
        </p:txBody>
      </p:sp>
      <p:sp>
        <p:nvSpPr>
          <p:cNvPr id="3" name="badge-219"/>
          <p:cNvSpPr/>
          <p:nvPr/>
        </p:nvSpPr>
        <p:spPr>
          <a:xfrm>
            <a:off x="548640" y="320040"/>
            <a:ext cx="731520" cy="731520"/>
          </a:xfrm>
          <a:prstGeom prst="ellipse">
            <a:avLst/>
          </a:prstGeom>
          <a:solidFill>
            <a:schemeClr val="accent1"/>
          </a:solidFill>
          <a:ln w="12700">
            <a:solidFill>
              <a:schemeClr val="accent1"/>
            </a:solidFill>
            <a:prstDash val="solid"/>
          </a:ln>
        </p:spPr>
        <p:txBody>
          <a:bodyPr/>
          <a:lstStyle/>
          <a:p>
            <a:endParaRPr lang="fr-FR"/>
          </a:p>
        </p:txBody>
      </p:sp>
      <p:sp>
        <p:nvSpPr>
          <p:cNvPr id="4" name="badge-num-220"/>
          <p:cNvSpPr txBox="1"/>
          <p:nvPr/>
        </p:nvSpPr>
        <p:spPr>
          <a:xfrm>
            <a:off x="548640" y="320040"/>
            <a:ext cx="731520" cy="731520"/>
          </a:xfrm>
          <a:prstGeom prst="rect">
            <a:avLst/>
          </a:prstGeom>
          <a:noFill/>
          <a:ln/>
        </p:spPr>
        <p:txBody>
          <a:bodyPr wrap="square" lIns="0" tIns="0" rIns="0" bIns="0" rtlCol="0" anchor="ctr"/>
          <a:lstStyle/>
          <a:p>
            <a:pPr marL="0" indent="0" algn="ctr">
              <a:buNone/>
            </a:pPr>
            <a:r>
              <a:rPr lang="en-US" sz="2200" b="1" dirty="0">
                <a:solidFill>
                  <a:schemeClr val="tx1"/>
                </a:solidFill>
                <a:latin typeface="Arial" pitchFamily="34" charset="0"/>
                <a:ea typeface="Arial" pitchFamily="34" charset="-122"/>
                <a:cs typeface="Arial" pitchFamily="34" charset="-120"/>
              </a:rPr>
              <a:t>05</a:t>
            </a:r>
            <a:endParaRPr lang="en-US" sz="2200" dirty="0"/>
          </a:p>
        </p:txBody>
      </p:sp>
      <p:sp>
        <p:nvSpPr>
          <p:cNvPr id="5" name="frame-221"/>
          <p:cNvSpPr/>
          <p:nvPr/>
        </p:nvSpPr>
        <p:spPr>
          <a:xfrm>
            <a:off x="521208" y="1207008"/>
            <a:ext cx="3270573" cy="4791456"/>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6" name="shot-222" descr="/etc/logstash/conf.d/enterprise-d.conf"/>
          <p:cNvPicPr>
            <a:picLocks noChangeAspect="1"/>
          </p:cNvPicPr>
          <p:nvPr/>
        </p:nvPicPr>
        <p:blipFill>
          <a:blip r:embed="rId3"/>
          <a:stretch>
            <a:fillRect/>
          </a:stretch>
        </p:blipFill>
        <p:spPr>
          <a:xfrm>
            <a:off x="548640" y="1234440"/>
            <a:ext cx="3215709" cy="4736592"/>
          </a:xfrm>
          <a:prstGeom prst="rect">
            <a:avLst/>
          </a:prstGeom>
        </p:spPr>
      </p:pic>
      <p:sp>
        <p:nvSpPr>
          <p:cNvPr id="7" name="cap-223"/>
          <p:cNvSpPr txBox="1"/>
          <p:nvPr/>
        </p:nvSpPr>
        <p:spPr>
          <a:xfrm>
            <a:off x="548640" y="6025896"/>
            <a:ext cx="3215709" cy="237744"/>
          </a:xfrm>
          <a:prstGeom prst="rect">
            <a:avLst/>
          </a:prstGeom>
          <a:noFill/>
          <a:ln/>
        </p:spPr>
        <p:txBody>
          <a:bodyPr wrap="square" lIns="0" tIns="0" rIns="0" bIns="0" rtlCol="0" anchor="ctr"/>
          <a:lstStyle/>
          <a:p>
            <a:pPr marL="0" indent="0">
              <a:buNone/>
            </a:pPr>
            <a:r>
              <a:rPr lang="en-US" sz="1000" i="1" dirty="0">
                <a:solidFill>
                  <a:schemeClr val="accent5"/>
                </a:solidFill>
              </a:rPr>
              <a:t>/etc/logstash/conf.d/enterprise-d.conf</a:t>
            </a:r>
            <a:endParaRPr lang="en-US" sz="1000" dirty="0"/>
          </a:p>
        </p:txBody>
      </p:sp>
      <p:sp>
        <p:nvSpPr>
          <p:cNvPr id="8" name="label-224"/>
          <p:cNvSpPr txBox="1"/>
          <p:nvPr/>
        </p:nvSpPr>
        <p:spPr>
          <a:xfrm>
            <a:off x="4526280" y="1325880"/>
            <a:ext cx="7086600" cy="292608"/>
          </a:xfrm>
          <a:prstGeom prst="rect">
            <a:avLst/>
          </a:prstGeom>
          <a:noFill/>
          <a:ln/>
        </p:spPr>
        <p:txBody>
          <a:bodyPr wrap="square" lIns="0" tIns="0" rIns="0" bIns="0" rtlCol="0" anchor="ctr"/>
          <a:lstStyle/>
          <a:p>
            <a:pPr marL="0" indent="0">
              <a:buNone/>
            </a:pPr>
            <a:r>
              <a:rPr lang="en-US" sz="1200" b="1" kern="0" spc="100" dirty="0">
                <a:solidFill>
                  <a:schemeClr val="accent2"/>
                </a:solidFill>
              </a:rPr>
              <a:t>INPUT → FILTER → OUTPUT</a:t>
            </a:r>
            <a:endParaRPr lang="en-US" sz="1200" dirty="0"/>
          </a:p>
        </p:txBody>
      </p:sp>
      <p:sp>
        <p:nvSpPr>
          <p:cNvPr id="9" name="ls-225"/>
          <p:cNvSpPr txBox="1"/>
          <p:nvPr/>
        </p:nvSpPr>
        <p:spPr>
          <a:xfrm>
            <a:off x="4526280" y="1691640"/>
            <a:ext cx="7086600" cy="548640"/>
          </a:xfrm>
          <a:prstGeom prst="rect">
            <a:avLst/>
          </a:prstGeom>
          <a:noFill/>
          <a:ln/>
        </p:spPr>
        <p:txBody>
          <a:bodyPr wrap="square" lIns="0" tIns="0" rIns="0" bIns="0" rtlCol="0" anchor="ctr"/>
          <a:lstStyle/>
          <a:p>
            <a:pPr marL="0" indent="0">
              <a:buNone/>
            </a:pPr>
            <a:r>
              <a:rPr lang="en-US" sz="1300" b="1" dirty="0">
                <a:solidFill>
                  <a:schemeClr val="accent1"/>
                </a:solidFill>
                <a:latin typeface="Courier New" pitchFamily="34" charset="0"/>
                <a:ea typeface="Courier New" pitchFamily="34" charset="-122"/>
                <a:cs typeface="Courier New" pitchFamily="34" charset="-120"/>
              </a:rPr>
              <a:t>Input  </a:t>
            </a:r>
            <a:r>
              <a:rPr lang="en-US" sz="1300" dirty="0">
                <a:solidFill>
                  <a:schemeClr val="tx1"/>
                </a:solidFill>
              </a:rPr>
              <a:t>beats { port =&gt; 5044 } : réception depuis Filebeat</a:t>
            </a:r>
            <a:endParaRPr lang="en-US" sz="1300" dirty="0"/>
          </a:p>
        </p:txBody>
      </p:sp>
      <p:sp>
        <p:nvSpPr>
          <p:cNvPr id="10" name="ls-226"/>
          <p:cNvSpPr txBox="1"/>
          <p:nvPr/>
        </p:nvSpPr>
        <p:spPr>
          <a:xfrm>
            <a:off x="4526280" y="2295144"/>
            <a:ext cx="7086600" cy="548640"/>
          </a:xfrm>
          <a:prstGeom prst="rect">
            <a:avLst/>
          </a:prstGeom>
          <a:noFill/>
          <a:ln/>
        </p:spPr>
        <p:txBody>
          <a:bodyPr wrap="square" lIns="0" tIns="0" rIns="0" bIns="0" rtlCol="0" anchor="ctr"/>
          <a:lstStyle/>
          <a:p>
            <a:pPr marL="0" indent="0">
              <a:buNone/>
            </a:pPr>
            <a:r>
              <a:rPr lang="en-US" sz="1300" b="1" dirty="0">
                <a:solidFill>
                  <a:schemeClr val="accent1"/>
                </a:solidFill>
                <a:latin typeface="Courier New" pitchFamily="34" charset="0"/>
                <a:ea typeface="Courier New" pitchFamily="34" charset="-122"/>
                <a:cs typeface="Courier New" pitchFamily="34" charset="-120"/>
              </a:rPr>
              <a:t>csv  </a:t>
            </a:r>
            <a:r>
              <a:rPr lang="en-US" sz="1300" dirty="0">
                <a:solidFill>
                  <a:schemeClr val="tx1"/>
                </a:solidFill>
              </a:rPr>
              <a:t>découpe la ligne ; les guillemets protègent les virgules du champ Info</a:t>
            </a:r>
            <a:endParaRPr lang="en-US" sz="1300" dirty="0"/>
          </a:p>
        </p:txBody>
      </p:sp>
      <p:sp>
        <p:nvSpPr>
          <p:cNvPr id="11" name="ls-227"/>
          <p:cNvSpPr txBox="1"/>
          <p:nvPr/>
        </p:nvSpPr>
        <p:spPr>
          <a:xfrm>
            <a:off x="4526280" y="2898648"/>
            <a:ext cx="7086600" cy="548640"/>
          </a:xfrm>
          <a:prstGeom prst="rect">
            <a:avLst/>
          </a:prstGeom>
          <a:noFill/>
          <a:ln/>
        </p:spPr>
        <p:txBody>
          <a:bodyPr wrap="square" lIns="0" tIns="0" rIns="0" bIns="0" rtlCol="0" anchor="ctr"/>
          <a:lstStyle/>
          <a:p>
            <a:pPr marL="0" indent="0">
              <a:buNone/>
            </a:pPr>
            <a:r>
              <a:rPr lang="en-US" sz="1300" b="1" dirty="0">
                <a:solidFill>
                  <a:schemeClr val="accent1"/>
                </a:solidFill>
                <a:latin typeface="Courier New" pitchFamily="34" charset="0"/>
                <a:ea typeface="Courier New" pitchFamily="34" charset="-122"/>
                <a:cs typeface="Courier New" pitchFamily="34" charset="-120"/>
              </a:rPr>
              <a:t>date  </a:t>
            </a:r>
            <a:r>
              <a:rPr lang="en-US" sz="1300" dirty="0">
                <a:solidFill>
                  <a:schemeClr val="tx1"/>
                </a:solidFill>
              </a:rPr>
              <a:t>l'heure du paquet (epoch UNIX) devient @timestamp</a:t>
            </a:r>
            <a:endParaRPr lang="en-US" sz="1300" dirty="0"/>
          </a:p>
        </p:txBody>
      </p:sp>
      <p:sp>
        <p:nvSpPr>
          <p:cNvPr id="12" name="ls-228"/>
          <p:cNvSpPr txBox="1"/>
          <p:nvPr/>
        </p:nvSpPr>
        <p:spPr>
          <a:xfrm>
            <a:off x="4526280" y="3502152"/>
            <a:ext cx="7086600" cy="548640"/>
          </a:xfrm>
          <a:prstGeom prst="rect">
            <a:avLst/>
          </a:prstGeom>
          <a:noFill/>
          <a:ln/>
        </p:spPr>
        <p:txBody>
          <a:bodyPr wrap="square" lIns="0" tIns="0" rIns="0" bIns="0" rtlCol="0" anchor="ctr"/>
          <a:lstStyle/>
          <a:p>
            <a:pPr marL="0" indent="0">
              <a:buNone/>
            </a:pPr>
            <a:r>
              <a:rPr lang="en-US" sz="1300" b="1" dirty="0">
                <a:solidFill>
                  <a:schemeClr val="accent1"/>
                </a:solidFill>
                <a:latin typeface="Courier New" pitchFamily="34" charset="0"/>
                <a:ea typeface="Courier New" pitchFamily="34" charset="-122"/>
                <a:cs typeface="Courier New" pitchFamily="34" charset="-120"/>
              </a:rPr>
              <a:t>mutate  </a:t>
            </a:r>
            <a:r>
              <a:rPr lang="en-US" sz="1300" dirty="0">
                <a:solidFill>
                  <a:schemeClr val="tx1"/>
                </a:solidFill>
              </a:rPr>
              <a:t>renommage ECS : source.ip, destination.ip, network.protocol, network.bytes, ports TCP ou UDP</a:t>
            </a:r>
            <a:endParaRPr lang="en-US" sz="1300" dirty="0"/>
          </a:p>
        </p:txBody>
      </p:sp>
      <p:sp>
        <p:nvSpPr>
          <p:cNvPr id="13" name="ls-229"/>
          <p:cNvSpPr txBox="1"/>
          <p:nvPr/>
        </p:nvSpPr>
        <p:spPr>
          <a:xfrm>
            <a:off x="4526280" y="4105656"/>
            <a:ext cx="7086600" cy="548640"/>
          </a:xfrm>
          <a:prstGeom prst="rect">
            <a:avLst/>
          </a:prstGeom>
          <a:noFill/>
          <a:ln/>
        </p:spPr>
        <p:txBody>
          <a:bodyPr wrap="square" lIns="0" tIns="0" rIns="0" bIns="0" rtlCol="0" anchor="ctr"/>
          <a:lstStyle/>
          <a:p>
            <a:pPr marL="0" indent="0">
              <a:buNone/>
            </a:pPr>
            <a:r>
              <a:rPr lang="en-US" sz="1300" b="1" dirty="0">
                <a:solidFill>
                  <a:schemeClr val="accent1"/>
                </a:solidFill>
                <a:latin typeface="Courier New" pitchFamily="34" charset="0"/>
                <a:ea typeface="Courier New" pitchFamily="34" charset="-122"/>
                <a:cs typeface="Courier New" pitchFamily="34" charset="-120"/>
              </a:rPr>
              <a:t>Output  </a:t>
            </a:r>
            <a:r>
              <a:rPr lang="en-US" sz="1300" dirty="0">
                <a:solidFill>
                  <a:schemeClr val="tx1"/>
                </a:solidFill>
              </a:rPr>
              <a:t>index wireshark-%{+YYYY.MM.dd} ; tout autre journal va dans enterprise-logs-*</a:t>
            </a:r>
            <a:endParaRPr lang="en-US" sz="1300" dirty="0"/>
          </a:p>
        </p:txBody>
      </p:sp>
      <p:sp>
        <p:nvSpPr>
          <p:cNvPr id="14" name="frame-230"/>
          <p:cNvSpPr/>
          <p:nvPr/>
        </p:nvSpPr>
        <p:spPr>
          <a:xfrm>
            <a:off x="4963363" y="4727448"/>
            <a:ext cx="3332074" cy="1271016"/>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15" name="shot-231" descr="Modèle d'index : types ip, integer, keyword"/>
          <p:cNvPicPr>
            <a:picLocks noChangeAspect="1"/>
          </p:cNvPicPr>
          <p:nvPr/>
        </p:nvPicPr>
        <p:blipFill>
          <a:blip r:embed="rId4"/>
          <a:stretch>
            <a:fillRect/>
          </a:stretch>
        </p:blipFill>
        <p:spPr>
          <a:xfrm>
            <a:off x="4990795" y="4754880"/>
            <a:ext cx="3277210" cy="1216152"/>
          </a:xfrm>
          <a:prstGeom prst="rect">
            <a:avLst/>
          </a:prstGeom>
        </p:spPr>
      </p:pic>
      <p:sp>
        <p:nvSpPr>
          <p:cNvPr id="16" name="cap-232"/>
          <p:cNvSpPr txBox="1"/>
          <p:nvPr/>
        </p:nvSpPr>
        <p:spPr>
          <a:xfrm>
            <a:off x="4990795" y="6025896"/>
            <a:ext cx="3277210" cy="237744"/>
          </a:xfrm>
          <a:prstGeom prst="rect">
            <a:avLst/>
          </a:prstGeom>
          <a:noFill/>
          <a:ln/>
        </p:spPr>
        <p:txBody>
          <a:bodyPr wrap="square" lIns="0" tIns="0" rIns="0" bIns="0" rtlCol="0" anchor="ctr"/>
          <a:lstStyle/>
          <a:p>
            <a:pPr marL="0" indent="0">
              <a:buNone/>
            </a:pPr>
            <a:r>
              <a:rPr lang="en-US" sz="1000" i="1" dirty="0">
                <a:solidFill>
                  <a:schemeClr val="accent5"/>
                </a:solidFill>
              </a:rPr>
              <a:t>Modèle d'index : types ip, integer, keyword</a:t>
            </a:r>
            <a:endParaRPr lang="en-US" sz="1000" dirty="0"/>
          </a:p>
        </p:txBody>
      </p:sp>
      <p:sp>
        <p:nvSpPr>
          <p:cNvPr id="17" name="card-233"/>
          <p:cNvSpPr/>
          <p:nvPr/>
        </p:nvSpPr>
        <p:spPr>
          <a:xfrm>
            <a:off x="8961120" y="4754880"/>
            <a:ext cx="2651760" cy="1508760"/>
          </a:xfrm>
          <a:prstGeom prst="roundRect">
            <a:avLst>
              <a:gd name="adj" fmla="val 4848"/>
            </a:avLst>
          </a:prstGeom>
          <a:solidFill>
            <a:schemeClr val="bg2"/>
          </a:solidFill>
          <a:ln w="9525">
            <a:solidFill>
              <a:srgbClr val="D6DEEA"/>
            </a:solidFill>
            <a:prstDash val="solid"/>
          </a:ln>
        </p:spPr>
        <p:txBody>
          <a:bodyPr/>
          <a:lstStyle/>
          <a:p>
            <a:endParaRPr lang="fr-FR"/>
          </a:p>
        </p:txBody>
      </p:sp>
      <p:sp>
        <p:nvSpPr>
          <p:cNvPr id="18" name="card-t-234"/>
          <p:cNvSpPr txBox="1"/>
          <p:nvPr/>
        </p:nvSpPr>
        <p:spPr>
          <a:xfrm>
            <a:off x="9144000" y="4892040"/>
            <a:ext cx="2286000" cy="365760"/>
          </a:xfrm>
          <a:prstGeom prst="rect">
            <a:avLst/>
          </a:prstGeom>
          <a:noFill/>
          <a:ln/>
        </p:spPr>
        <p:txBody>
          <a:bodyPr wrap="square" lIns="0" tIns="0" rIns="0" bIns="0" rtlCol="0" anchor="ctr"/>
          <a:lstStyle/>
          <a:p>
            <a:pPr marL="0" indent="0">
              <a:buNone/>
            </a:pPr>
            <a:r>
              <a:rPr lang="en-US" sz="1400" b="1" dirty="0">
                <a:solidFill>
                  <a:schemeClr val="tx1"/>
                </a:solidFill>
              </a:rPr>
              <a:t>Validé</a:t>
            </a:r>
            <a:endParaRPr lang="en-US" sz="1400" dirty="0"/>
          </a:p>
        </p:txBody>
      </p:sp>
      <p:sp>
        <p:nvSpPr>
          <p:cNvPr id="19" name="card-b-235"/>
          <p:cNvSpPr txBox="1"/>
          <p:nvPr/>
        </p:nvSpPr>
        <p:spPr>
          <a:xfrm>
            <a:off x="9144000" y="5303520"/>
            <a:ext cx="2286000" cy="822960"/>
          </a:xfrm>
          <a:prstGeom prst="rect">
            <a:avLst/>
          </a:prstGeom>
          <a:noFill/>
          <a:ln/>
        </p:spPr>
        <p:txBody>
          <a:bodyPr wrap="square" lIns="0" tIns="0" rIns="0" bIns="0" rtlCol="0" anchor="t"/>
          <a:lstStyle/>
          <a:p>
            <a:pPr marL="0" indent="0">
              <a:spcAft>
                <a:spcPts val="400"/>
              </a:spcAft>
              <a:buNone/>
            </a:pPr>
            <a:r>
              <a:rPr lang="en-US" sz="1200" dirty="0">
                <a:solidFill>
                  <a:schemeClr val="tx1"/>
                </a:solidFill>
              </a:rPr>
              <a:t>logstash -t : Configuration OK avant tout démarrage</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08760" y="320040"/>
            <a:ext cx="1010412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Kibana : tableau de bord « Supervision réseau »</a:t>
            </a:r>
            <a:endParaRPr lang="en-US" sz="3000" dirty="0"/>
          </a:p>
        </p:txBody>
      </p:sp>
      <p:sp>
        <p:nvSpPr>
          <p:cNvPr id="3" name="badge-236"/>
          <p:cNvSpPr/>
          <p:nvPr/>
        </p:nvSpPr>
        <p:spPr>
          <a:xfrm>
            <a:off x="548640" y="320040"/>
            <a:ext cx="731520" cy="731520"/>
          </a:xfrm>
          <a:prstGeom prst="ellipse">
            <a:avLst/>
          </a:prstGeom>
          <a:solidFill>
            <a:schemeClr val="accent1"/>
          </a:solidFill>
          <a:ln w="12700">
            <a:solidFill>
              <a:schemeClr val="accent1"/>
            </a:solidFill>
            <a:prstDash val="solid"/>
          </a:ln>
        </p:spPr>
        <p:txBody>
          <a:bodyPr/>
          <a:lstStyle/>
          <a:p>
            <a:endParaRPr lang="fr-FR"/>
          </a:p>
        </p:txBody>
      </p:sp>
      <p:sp>
        <p:nvSpPr>
          <p:cNvPr id="4" name="badge-num-237"/>
          <p:cNvSpPr txBox="1"/>
          <p:nvPr/>
        </p:nvSpPr>
        <p:spPr>
          <a:xfrm>
            <a:off x="548640" y="320040"/>
            <a:ext cx="731520" cy="731520"/>
          </a:xfrm>
          <a:prstGeom prst="rect">
            <a:avLst/>
          </a:prstGeom>
          <a:noFill/>
          <a:ln/>
        </p:spPr>
        <p:txBody>
          <a:bodyPr wrap="square" lIns="0" tIns="0" rIns="0" bIns="0" rtlCol="0" anchor="ctr"/>
          <a:lstStyle/>
          <a:p>
            <a:pPr marL="0" indent="0" algn="ctr">
              <a:buNone/>
            </a:pPr>
            <a:r>
              <a:rPr lang="en-US" sz="2200" b="1" dirty="0">
                <a:solidFill>
                  <a:schemeClr val="tx1"/>
                </a:solidFill>
                <a:latin typeface="Arial" pitchFamily="34" charset="0"/>
                <a:ea typeface="Arial" pitchFamily="34" charset="-122"/>
                <a:cs typeface="Arial" pitchFamily="34" charset="-120"/>
              </a:rPr>
              <a:t>05</a:t>
            </a:r>
            <a:endParaRPr lang="en-US" sz="2200" dirty="0"/>
          </a:p>
        </p:txBody>
      </p:sp>
      <p:sp>
        <p:nvSpPr>
          <p:cNvPr id="5" name="frame-238"/>
          <p:cNvSpPr/>
          <p:nvPr/>
        </p:nvSpPr>
        <p:spPr>
          <a:xfrm>
            <a:off x="521208" y="1372181"/>
            <a:ext cx="7918704" cy="4461111"/>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6" name="shot-239" descr="Data view wireshark-* · rafraîchissement 10 s · fenêtre 1 h"/>
          <p:cNvPicPr>
            <a:picLocks noChangeAspect="1"/>
          </p:cNvPicPr>
          <p:nvPr/>
        </p:nvPicPr>
        <p:blipFill>
          <a:blip r:embed="rId3"/>
          <a:stretch>
            <a:fillRect/>
          </a:stretch>
        </p:blipFill>
        <p:spPr>
          <a:xfrm>
            <a:off x="548640" y="1399613"/>
            <a:ext cx="7863840" cy="4406247"/>
          </a:xfrm>
          <a:prstGeom prst="rect">
            <a:avLst/>
          </a:prstGeom>
        </p:spPr>
      </p:pic>
      <p:sp>
        <p:nvSpPr>
          <p:cNvPr id="7" name="cap-240"/>
          <p:cNvSpPr txBox="1"/>
          <p:nvPr/>
        </p:nvSpPr>
        <p:spPr>
          <a:xfrm>
            <a:off x="548640" y="5860723"/>
            <a:ext cx="7863840" cy="237744"/>
          </a:xfrm>
          <a:prstGeom prst="rect">
            <a:avLst/>
          </a:prstGeom>
          <a:noFill/>
          <a:ln/>
        </p:spPr>
        <p:txBody>
          <a:bodyPr wrap="square" lIns="0" tIns="0" rIns="0" bIns="0" rtlCol="0" anchor="ctr"/>
          <a:lstStyle/>
          <a:p>
            <a:pPr marL="0" indent="0">
              <a:buNone/>
            </a:pPr>
            <a:r>
              <a:rPr lang="en-US" sz="1000" i="1" dirty="0">
                <a:solidFill>
                  <a:schemeClr val="accent5"/>
                </a:solidFill>
              </a:rPr>
              <a:t>Data view wireshark-* · rafraîchissement 10 s · fenêtre 1 h</a:t>
            </a:r>
            <a:endParaRPr lang="en-US" sz="1000" dirty="0"/>
          </a:p>
        </p:txBody>
      </p:sp>
      <p:sp>
        <p:nvSpPr>
          <p:cNvPr id="8" name="card-241"/>
          <p:cNvSpPr/>
          <p:nvPr/>
        </p:nvSpPr>
        <p:spPr>
          <a:xfrm>
            <a:off x="8686800" y="1280160"/>
            <a:ext cx="2926080" cy="4983480"/>
          </a:xfrm>
          <a:prstGeom prst="roundRect">
            <a:avLst>
              <a:gd name="adj" fmla="val 2500"/>
            </a:avLst>
          </a:prstGeom>
          <a:solidFill>
            <a:schemeClr val="bg2"/>
          </a:solidFill>
          <a:ln w="9525">
            <a:solidFill>
              <a:srgbClr val="D6DEEA"/>
            </a:solidFill>
            <a:prstDash val="solid"/>
          </a:ln>
        </p:spPr>
        <p:txBody>
          <a:bodyPr/>
          <a:lstStyle/>
          <a:p>
            <a:endParaRPr lang="fr-FR"/>
          </a:p>
        </p:txBody>
      </p:sp>
      <p:sp>
        <p:nvSpPr>
          <p:cNvPr id="9" name="card-t-242"/>
          <p:cNvSpPr txBox="1"/>
          <p:nvPr/>
        </p:nvSpPr>
        <p:spPr>
          <a:xfrm>
            <a:off x="8869680" y="1417320"/>
            <a:ext cx="2560320" cy="365760"/>
          </a:xfrm>
          <a:prstGeom prst="rect">
            <a:avLst/>
          </a:prstGeom>
          <a:noFill/>
          <a:ln/>
        </p:spPr>
        <p:txBody>
          <a:bodyPr wrap="square" lIns="0" tIns="0" rIns="0" bIns="0" rtlCol="0" anchor="ctr"/>
          <a:lstStyle/>
          <a:p>
            <a:pPr marL="0" indent="0">
              <a:buNone/>
            </a:pPr>
            <a:r>
              <a:rPr lang="en-US" sz="1600" b="1" dirty="0">
                <a:solidFill>
                  <a:schemeClr val="tx1"/>
                </a:solidFill>
              </a:rPr>
              <a:t>6 visualisations</a:t>
            </a:r>
            <a:endParaRPr lang="en-US" sz="1600" dirty="0"/>
          </a:p>
        </p:txBody>
      </p:sp>
      <p:sp>
        <p:nvSpPr>
          <p:cNvPr id="10" name="card-b-243"/>
          <p:cNvSpPr txBox="1"/>
          <p:nvPr/>
        </p:nvSpPr>
        <p:spPr>
          <a:xfrm>
            <a:off x="8869680" y="1828800"/>
            <a:ext cx="2560320" cy="429768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chemeClr val="tx1"/>
                </a:solidFill>
              </a:rPr>
              <a:t>Volume (Mo) : somme de network.bytes</a:t>
            </a:r>
            <a:endParaRPr lang="en-US" sz="1300" dirty="0"/>
          </a:p>
          <a:p>
            <a:pPr marL="152400" indent="-152400">
              <a:spcAft>
                <a:spcPts val="400"/>
              </a:spcAft>
              <a:buSzPct val="100000"/>
              <a:buChar char="•"/>
            </a:pPr>
            <a:r>
              <a:rPr lang="en-US" sz="1300" dirty="0">
                <a:solidFill>
                  <a:schemeClr val="tx1"/>
                </a:solidFill>
              </a:rPr>
              <a:t>Paquets capturés : nombre d'enregistrements</a:t>
            </a:r>
            <a:endParaRPr lang="en-US" sz="1300" dirty="0"/>
          </a:p>
          <a:p>
            <a:pPr marL="152400" indent="-152400">
              <a:spcAft>
                <a:spcPts val="400"/>
              </a:spcAft>
              <a:buSzPct val="100000"/>
              <a:buChar char="•"/>
            </a:pPr>
            <a:r>
              <a:rPr lang="en-US" sz="1300" dirty="0">
                <a:solidFill>
                  <a:schemeClr val="tx1"/>
                </a:solidFill>
              </a:rPr>
              <a:t>Répartition des protocoles (camembert)</a:t>
            </a:r>
            <a:endParaRPr lang="en-US" sz="1300" dirty="0"/>
          </a:p>
          <a:p>
            <a:pPr marL="152400" indent="-152400">
              <a:spcAft>
                <a:spcPts val="400"/>
              </a:spcAft>
              <a:buSzPct val="100000"/>
              <a:buChar char="•"/>
            </a:pPr>
            <a:r>
              <a:rPr lang="en-US" sz="1300" dirty="0">
                <a:solidFill>
                  <a:schemeClr val="tx1"/>
                </a:solidFill>
              </a:rPr>
              <a:t>Protocoles dans le temps (histogramme)</a:t>
            </a:r>
            <a:endParaRPr lang="en-US" sz="1300" dirty="0"/>
          </a:p>
          <a:p>
            <a:pPr marL="152400" indent="-152400">
              <a:spcAft>
                <a:spcPts val="400"/>
              </a:spcAft>
              <a:buSzPct val="100000"/>
              <a:buChar char="•"/>
            </a:pPr>
            <a:r>
              <a:rPr lang="en-US" sz="1300" dirty="0">
                <a:solidFill>
                  <a:schemeClr val="tx1"/>
                </a:solidFill>
              </a:rPr>
              <a:t>Top ports de destination</a:t>
            </a:r>
            <a:endParaRPr lang="en-US" sz="1300" dirty="0"/>
          </a:p>
          <a:p>
            <a:pPr marL="152400" indent="-152400">
              <a:spcAft>
                <a:spcPts val="400"/>
              </a:spcAft>
              <a:buSzPct val="100000"/>
              <a:buChar char="•"/>
            </a:pPr>
            <a:r>
              <a:rPr lang="en-US" sz="1300" dirty="0">
                <a:solidFill>
                  <a:schemeClr val="tx1"/>
                </a:solidFill>
              </a:rPr>
              <a:t>Top conversations source → destination</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08760" y="320040"/>
            <a:ext cx="1010412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Watcher : alerte automatique « scan de ports »</a:t>
            </a:r>
            <a:endParaRPr lang="en-US" sz="3000" dirty="0"/>
          </a:p>
        </p:txBody>
      </p:sp>
      <p:sp>
        <p:nvSpPr>
          <p:cNvPr id="3" name="badge-244"/>
          <p:cNvSpPr/>
          <p:nvPr/>
        </p:nvSpPr>
        <p:spPr>
          <a:xfrm>
            <a:off x="548640" y="320040"/>
            <a:ext cx="731520" cy="731520"/>
          </a:xfrm>
          <a:prstGeom prst="ellipse">
            <a:avLst/>
          </a:prstGeom>
          <a:solidFill>
            <a:schemeClr val="accent1"/>
          </a:solidFill>
          <a:ln w="12700">
            <a:solidFill>
              <a:schemeClr val="accent1"/>
            </a:solidFill>
            <a:prstDash val="solid"/>
          </a:ln>
        </p:spPr>
        <p:txBody>
          <a:bodyPr/>
          <a:lstStyle/>
          <a:p>
            <a:endParaRPr lang="fr-FR"/>
          </a:p>
        </p:txBody>
      </p:sp>
      <p:sp>
        <p:nvSpPr>
          <p:cNvPr id="4" name="badge-num-245"/>
          <p:cNvSpPr txBox="1"/>
          <p:nvPr/>
        </p:nvSpPr>
        <p:spPr>
          <a:xfrm>
            <a:off x="548640" y="320040"/>
            <a:ext cx="731520" cy="731520"/>
          </a:xfrm>
          <a:prstGeom prst="rect">
            <a:avLst/>
          </a:prstGeom>
          <a:noFill/>
          <a:ln/>
        </p:spPr>
        <p:txBody>
          <a:bodyPr wrap="square" lIns="0" tIns="0" rIns="0" bIns="0" rtlCol="0" anchor="ctr"/>
          <a:lstStyle/>
          <a:p>
            <a:pPr marL="0" indent="0" algn="ctr">
              <a:buNone/>
            </a:pPr>
            <a:r>
              <a:rPr lang="en-US" sz="2200" b="1" dirty="0">
                <a:solidFill>
                  <a:schemeClr val="tx1"/>
                </a:solidFill>
                <a:latin typeface="Arial" pitchFamily="34" charset="0"/>
                <a:ea typeface="Arial" pitchFamily="34" charset="-122"/>
                <a:cs typeface="Arial" pitchFamily="34" charset="-120"/>
              </a:rPr>
              <a:t>05</a:t>
            </a:r>
            <a:endParaRPr lang="en-US" sz="2200" dirty="0"/>
          </a:p>
        </p:txBody>
      </p:sp>
      <p:sp>
        <p:nvSpPr>
          <p:cNvPr id="5" name="frame-246"/>
          <p:cNvSpPr/>
          <p:nvPr/>
        </p:nvSpPr>
        <p:spPr>
          <a:xfrm>
            <a:off x="841905" y="1207008"/>
            <a:ext cx="5082749" cy="2871216"/>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6" name="shot-247" descr="Requête : TCP interne vers ports ≤ 1024 sur 2 min"/>
          <p:cNvPicPr>
            <a:picLocks noChangeAspect="1"/>
          </p:cNvPicPr>
          <p:nvPr/>
        </p:nvPicPr>
        <p:blipFill>
          <a:blip r:embed="rId3"/>
          <a:stretch>
            <a:fillRect/>
          </a:stretch>
        </p:blipFill>
        <p:spPr>
          <a:xfrm>
            <a:off x="869337" y="1234440"/>
            <a:ext cx="5027885" cy="2816352"/>
          </a:xfrm>
          <a:prstGeom prst="rect">
            <a:avLst/>
          </a:prstGeom>
        </p:spPr>
      </p:pic>
      <p:sp>
        <p:nvSpPr>
          <p:cNvPr id="7" name="cap-248"/>
          <p:cNvSpPr txBox="1"/>
          <p:nvPr/>
        </p:nvSpPr>
        <p:spPr>
          <a:xfrm>
            <a:off x="869337" y="4105656"/>
            <a:ext cx="5027885" cy="237744"/>
          </a:xfrm>
          <a:prstGeom prst="rect">
            <a:avLst/>
          </a:prstGeom>
          <a:noFill/>
          <a:ln/>
        </p:spPr>
        <p:txBody>
          <a:bodyPr wrap="square" lIns="0" tIns="0" rIns="0" bIns="0" rtlCol="0" anchor="ctr"/>
          <a:lstStyle/>
          <a:p>
            <a:pPr marL="0" indent="0">
              <a:buNone/>
            </a:pPr>
            <a:r>
              <a:rPr lang="en-US" sz="1000" i="1" dirty="0">
                <a:solidFill>
                  <a:schemeClr val="accent5"/>
                </a:solidFill>
              </a:rPr>
              <a:t>Requête : TCP interne vers ports ≤ 1024 sur 2 min</a:t>
            </a:r>
            <a:endParaRPr lang="en-US" sz="1000" dirty="0"/>
          </a:p>
        </p:txBody>
      </p:sp>
      <p:sp>
        <p:nvSpPr>
          <p:cNvPr id="8" name="frame-249"/>
          <p:cNvSpPr/>
          <p:nvPr/>
        </p:nvSpPr>
        <p:spPr>
          <a:xfrm>
            <a:off x="1970377" y="4407408"/>
            <a:ext cx="2825807" cy="1591056"/>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9" name="shot-250" descr="Condition Painless et action"/>
          <p:cNvPicPr>
            <a:picLocks noChangeAspect="1"/>
          </p:cNvPicPr>
          <p:nvPr/>
        </p:nvPicPr>
        <p:blipFill>
          <a:blip r:embed="rId4"/>
          <a:stretch>
            <a:fillRect/>
          </a:stretch>
        </p:blipFill>
        <p:spPr>
          <a:xfrm>
            <a:off x="1997809" y="4434840"/>
            <a:ext cx="2770943" cy="1536192"/>
          </a:xfrm>
          <a:prstGeom prst="rect">
            <a:avLst/>
          </a:prstGeom>
        </p:spPr>
      </p:pic>
      <p:sp>
        <p:nvSpPr>
          <p:cNvPr id="10" name="cap-251"/>
          <p:cNvSpPr txBox="1"/>
          <p:nvPr/>
        </p:nvSpPr>
        <p:spPr>
          <a:xfrm>
            <a:off x="1997809" y="6025896"/>
            <a:ext cx="2770943" cy="237744"/>
          </a:xfrm>
          <a:prstGeom prst="rect">
            <a:avLst/>
          </a:prstGeom>
          <a:noFill/>
          <a:ln/>
        </p:spPr>
        <p:txBody>
          <a:bodyPr wrap="square" lIns="0" tIns="0" rIns="0" bIns="0" rtlCol="0" anchor="ctr"/>
          <a:lstStyle/>
          <a:p>
            <a:pPr marL="0" indent="0">
              <a:buNone/>
            </a:pPr>
            <a:r>
              <a:rPr lang="en-US" sz="1000" i="1" dirty="0">
                <a:solidFill>
                  <a:schemeClr val="accent5"/>
                </a:solidFill>
              </a:rPr>
              <a:t>Condition Painless et action</a:t>
            </a:r>
            <a:endParaRPr lang="en-US" sz="1000" dirty="0"/>
          </a:p>
        </p:txBody>
      </p:sp>
      <p:sp>
        <p:nvSpPr>
          <p:cNvPr id="11" name="label-252"/>
          <p:cNvSpPr txBox="1"/>
          <p:nvPr/>
        </p:nvSpPr>
        <p:spPr>
          <a:xfrm>
            <a:off x="6537960" y="1325880"/>
            <a:ext cx="5029200" cy="292608"/>
          </a:xfrm>
          <a:prstGeom prst="rect">
            <a:avLst/>
          </a:prstGeom>
          <a:noFill/>
          <a:ln/>
        </p:spPr>
        <p:txBody>
          <a:bodyPr wrap="square" lIns="0" tIns="0" rIns="0" bIns="0" rtlCol="0" anchor="ctr"/>
          <a:lstStyle/>
          <a:p>
            <a:pPr marL="0" indent="0">
              <a:buNone/>
            </a:pPr>
            <a:r>
              <a:rPr lang="en-US" sz="1200" b="1" kern="0" spc="100" dirty="0">
                <a:solidFill>
                  <a:schemeClr val="accent2"/>
                </a:solidFill>
              </a:rPr>
              <a:t>LOGIQUE DE DÉTECTION</a:t>
            </a:r>
            <a:endParaRPr lang="en-US" sz="1200" dirty="0"/>
          </a:p>
        </p:txBody>
      </p:sp>
      <p:sp>
        <p:nvSpPr>
          <p:cNvPr id="12" name="lg-d-253"/>
          <p:cNvSpPr/>
          <p:nvPr/>
        </p:nvSpPr>
        <p:spPr>
          <a:xfrm>
            <a:off x="6537960" y="1783080"/>
            <a:ext cx="411480" cy="411480"/>
          </a:xfrm>
          <a:prstGeom prst="ellipse">
            <a:avLst/>
          </a:prstGeom>
          <a:solidFill>
            <a:schemeClr val="accent1"/>
          </a:solidFill>
          <a:ln w="12700">
            <a:solidFill>
              <a:schemeClr val="accent1"/>
            </a:solidFill>
            <a:prstDash val="solid"/>
          </a:ln>
        </p:spPr>
        <p:txBody>
          <a:bodyPr/>
          <a:lstStyle/>
          <a:p>
            <a:endParaRPr lang="fr-FR"/>
          </a:p>
        </p:txBody>
      </p:sp>
      <p:sp>
        <p:nvSpPr>
          <p:cNvPr id="13" name="lg-n-254"/>
          <p:cNvSpPr txBox="1"/>
          <p:nvPr/>
        </p:nvSpPr>
        <p:spPr>
          <a:xfrm>
            <a:off x="6537960" y="1783080"/>
            <a:ext cx="411480" cy="411480"/>
          </a:xfrm>
          <a:prstGeom prst="rect">
            <a:avLst/>
          </a:prstGeom>
          <a:noFill/>
          <a:ln/>
        </p:spPr>
        <p:txBody>
          <a:bodyPr wrap="square" lIns="0" tIns="0" rIns="0" bIns="0" rtlCol="0" anchor="ctr"/>
          <a:lstStyle/>
          <a:p>
            <a:pPr marL="0" indent="0" algn="ctr">
              <a:buNone/>
            </a:pPr>
            <a:r>
              <a:rPr lang="en-US" sz="1300" b="1" dirty="0">
                <a:solidFill>
                  <a:schemeClr val="tx1"/>
                </a:solidFill>
              </a:rPr>
              <a:t>1</a:t>
            </a:r>
            <a:endParaRPr lang="en-US" sz="1300" dirty="0"/>
          </a:p>
        </p:txBody>
      </p:sp>
      <p:sp>
        <p:nvSpPr>
          <p:cNvPr id="14" name="lg-t-255"/>
          <p:cNvSpPr txBox="1"/>
          <p:nvPr/>
        </p:nvSpPr>
        <p:spPr>
          <a:xfrm>
            <a:off x="7132320" y="1691640"/>
            <a:ext cx="4480560" cy="822960"/>
          </a:xfrm>
          <a:prstGeom prst="rect">
            <a:avLst/>
          </a:prstGeom>
          <a:noFill/>
          <a:ln/>
        </p:spPr>
        <p:txBody>
          <a:bodyPr wrap="square" lIns="0" tIns="0" rIns="0" bIns="0" rtlCol="0" anchor="t"/>
          <a:lstStyle/>
          <a:p>
            <a:pPr marL="0" indent="0">
              <a:buNone/>
            </a:pPr>
            <a:r>
              <a:rPr lang="en-US" sz="1400" b="1" dirty="0">
                <a:solidFill>
                  <a:schemeClr val="tx1"/>
                </a:solidFill>
              </a:rPr>
              <a:t>Déclenchement</a:t>
            </a:r>
            <a:endParaRPr lang="en-US" sz="1400" dirty="0"/>
          </a:p>
          <a:p>
            <a:pPr marL="0" indent="0">
              <a:buNone/>
            </a:pPr>
            <a:r>
              <a:rPr lang="en-US" sz="1300" dirty="0">
                <a:solidFill>
                  <a:schemeClr val="tx2"/>
                </a:solidFill>
              </a:rPr>
              <a:t>toutes les minutes, throttle 5 min anti-rafale</a:t>
            </a:r>
            <a:endParaRPr lang="en-US" sz="1400" dirty="0"/>
          </a:p>
        </p:txBody>
      </p:sp>
      <p:sp>
        <p:nvSpPr>
          <p:cNvPr id="15" name="lg-d-256"/>
          <p:cNvSpPr/>
          <p:nvPr/>
        </p:nvSpPr>
        <p:spPr>
          <a:xfrm>
            <a:off x="6537960" y="2679192"/>
            <a:ext cx="411480" cy="411480"/>
          </a:xfrm>
          <a:prstGeom prst="ellipse">
            <a:avLst/>
          </a:prstGeom>
          <a:solidFill>
            <a:schemeClr val="accent1"/>
          </a:solidFill>
          <a:ln w="12700">
            <a:solidFill>
              <a:schemeClr val="accent1"/>
            </a:solidFill>
            <a:prstDash val="solid"/>
          </a:ln>
        </p:spPr>
        <p:txBody>
          <a:bodyPr/>
          <a:lstStyle/>
          <a:p>
            <a:endParaRPr lang="fr-FR"/>
          </a:p>
        </p:txBody>
      </p:sp>
      <p:sp>
        <p:nvSpPr>
          <p:cNvPr id="16" name="lg-n-257"/>
          <p:cNvSpPr txBox="1"/>
          <p:nvPr/>
        </p:nvSpPr>
        <p:spPr>
          <a:xfrm>
            <a:off x="6537960" y="2679192"/>
            <a:ext cx="411480" cy="411480"/>
          </a:xfrm>
          <a:prstGeom prst="rect">
            <a:avLst/>
          </a:prstGeom>
          <a:noFill/>
          <a:ln/>
        </p:spPr>
        <p:txBody>
          <a:bodyPr wrap="square" lIns="0" tIns="0" rIns="0" bIns="0" rtlCol="0" anchor="ctr"/>
          <a:lstStyle/>
          <a:p>
            <a:pPr marL="0" indent="0" algn="ctr">
              <a:buNone/>
            </a:pPr>
            <a:r>
              <a:rPr lang="en-US" sz="1300" b="1" dirty="0">
                <a:solidFill>
                  <a:schemeClr val="tx1"/>
                </a:solidFill>
              </a:rPr>
              <a:t>2</a:t>
            </a:r>
            <a:endParaRPr lang="en-US" sz="1300" dirty="0"/>
          </a:p>
        </p:txBody>
      </p:sp>
      <p:sp>
        <p:nvSpPr>
          <p:cNvPr id="17" name="lg-t-258"/>
          <p:cNvSpPr txBox="1"/>
          <p:nvPr/>
        </p:nvSpPr>
        <p:spPr>
          <a:xfrm>
            <a:off x="7132320" y="2587752"/>
            <a:ext cx="4480560" cy="822960"/>
          </a:xfrm>
          <a:prstGeom prst="rect">
            <a:avLst/>
          </a:prstGeom>
          <a:noFill/>
          <a:ln/>
        </p:spPr>
        <p:txBody>
          <a:bodyPr wrap="square" lIns="0" tIns="0" rIns="0" bIns="0" rtlCol="0" anchor="t"/>
          <a:lstStyle/>
          <a:p>
            <a:pPr marL="0" indent="0">
              <a:buNone/>
            </a:pPr>
            <a:r>
              <a:rPr lang="en-US" sz="1400" b="1" dirty="0">
                <a:solidFill>
                  <a:schemeClr val="tx1"/>
                </a:solidFill>
              </a:rPr>
              <a:t>Entrée</a:t>
            </a:r>
            <a:endParaRPr lang="en-US" sz="1400" dirty="0"/>
          </a:p>
          <a:p>
            <a:pPr marL="0" indent="0">
              <a:buNone/>
            </a:pPr>
            <a:r>
              <a:rPr lang="en-US" sz="1300" dirty="0">
                <a:solidFill>
                  <a:schemeClr val="tx2"/>
                </a:solidFill>
              </a:rPr>
              <a:t>index wireshark-*, 2 dernières minutes, TCP vers 172.16.0.0/24, port ≤ 1024</a:t>
            </a:r>
            <a:endParaRPr lang="en-US" sz="1400" dirty="0"/>
          </a:p>
        </p:txBody>
      </p:sp>
      <p:sp>
        <p:nvSpPr>
          <p:cNvPr id="18" name="lg-d-259"/>
          <p:cNvSpPr/>
          <p:nvPr/>
        </p:nvSpPr>
        <p:spPr>
          <a:xfrm>
            <a:off x="6537960" y="3575304"/>
            <a:ext cx="411480" cy="411480"/>
          </a:xfrm>
          <a:prstGeom prst="ellipse">
            <a:avLst/>
          </a:prstGeom>
          <a:solidFill>
            <a:schemeClr val="accent1"/>
          </a:solidFill>
          <a:ln w="12700">
            <a:solidFill>
              <a:schemeClr val="accent1"/>
            </a:solidFill>
            <a:prstDash val="solid"/>
          </a:ln>
        </p:spPr>
        <p:txBody>
          <a:bodyPr/>
          <a:lstStyle/>
          <a:p>
            <a:endParaRPr lang="fr-FR"/>
          </a:p>
        </p:txBody>
      </p:sp>
      <p:sp>
        <p:nvSpPr>
          <p:cNvPr id="19" name="lg-n-260"/>
          <p:cNvSpPr txBox="1"/>
          <p:nvPr/>
        </p:nvSpPr>
        <p:spPr>
          <a:xfrm>
            <a:off x="6537960" y="3575304"/>
            <a:ext cx="411480" cy="411480"/>
          </a:xfrm>
          <a:prstGeom prst="rect">
            <a:avLst/>
          </a:prstGeom>
          <a:noFill/>
          <a:ln/>
        </p:spPr>
        <p:txBody>
          <a:bodyPr wrap="square" lIns="0" tIns="0" rIns="0" bIns="0" rtlCol="0" anchor="ctr"/>
          <a:lstStyle/>
          <a:p>
            <a:pPr marL="0" indent="0" algn="ctr">
              <a:buNone/>
            </a:pPr>
            <a:r>
              <a:rPr lang="en-US" sz="1300" b="1" dirty="0">
                <a:solidFill>
                  <a:schemeClr val="tx1"/>
                </a:solidFill>
              </a:rPr>
              <a:t>3</a:t>
            </a:r>
            <a:endParaRPr lang="en-US" sz="1300" dirty="0"/>
          </a:p>
        </p:txBody>
      </p:sp>
      <p:sp>
        <p:nvSpPr>
          <p:cNvPr id="20" name="lg-t-261"/>
          <p:cNvSpPr txBox="1"/>
          <p:nvPr/>
        </p:nvSpPr>
        <p:spPr>
          <a:xfrm>
            <a:off x="7132320" y="3483864"/>
            <a:ext cx="4480560" cy="822960"/>
          </a:xfrm>
          <a:prstGeom prst="rect">
            <a:avLst/>
          </a:prstGeom>
          <a:noFill/>
          <a:ln/>
        </p:spPr>
        <p:txBody>
          <a:bodyPr wrap="square" lIns="0" tIns="0" rIns="0" bIns="0" rtlCol="0" anchor="t"/>
          <a:lstStyle/>
          <a:p>
            <a:pPr marL="0" indent="0">
              <a:buNone/>
            </a:pPr>
            <a:r>
              <a:rPr lang="en-US" sz="1400" b="1" dirty="0">
                <a:solidFill>
                  <a:schemeClr val="tx1"/>
                </a:solidFill>
              </a:rPr>
              <a:t>Agrégation</a:t>
            </a:r>
            <a:endParaRPr lang="en-US" sz="1400" dirty="0"/>
          </a:p>
          <a:p>
            <a:pPr marL="0" indent="0">
              <a:buNone/>
            </a:pPr>
            <a:r>
              <a:rPr lang="en-US" sz="1300" dirty="0">
                <a:solidFill>
                  <a:schemeClr val="tx2"/>
                </a:solidFill>
              </a:rPr>
              <a:t>par source.ip → nombre de ports de destination distincts</a:t>
            </a:r>
            <a:endParaRPr lang="en-US" sz="1400" dirty="0"/>
          </a:p>
        </p:txBody>
      </p:sp>
      <p:sp>
        <p:nvSpPr>
          <p:cNvPr id="21" name="lg-d-262"/>
          <p:cNvSpPr/>
          <p:nvPr/>
        </p:nvSpPr>
        <p:spPr>
          <a:xfrm>
            <a:off x="6537960" y="4471416"/>
            <a:ext cx="411480" cy="411480"/>
          </a:xfrm>
          <a:prstGeom prst="ellipse">
            <a:avLst/>
          </a:prstGeom>
          <a:solidFill>
            <a:schemeClr val="accent1"/>
          </a:solidFill>
          <a:ln w="12700">
            <a:solidFill>
              <a:schemeClr val="accent1"/>
            </a:solidFill>
            <a:prstDash val="solid"/>
          </a:ln>
        </p:spPr>
        <p:txBody>
          <a:bodyPr/>
          <a:lstStyle/>
          <a:p>
            <a:endParaRPr lang="fr-FR"/>
          </a:p>
        </p:txBody>
      </p:sp>
      <p:sp>
        <p:nvSpPr>
          <p:cNvPr id="22" name="lg-n-263"/>
          <p:cNvSpPr txBox="1"/>
          <p:nvPr/>
        </p:nvSpPr>
        <p:spPr>
          <a:xfrm>
            <a:off x="6537960" y="4471416"/>
            <a:ext cx="411480" cy="411480"/>
          </a:xfrm>
          <a:prstGeom prst="rect">
            <a:avLst/>
          </a:prstGeom>
          <a:noFill/>
          <a:ln/>
        </p:spPr>
        <p:txBody>
          <a:bodyPr wrap="square" lIns="0" tIns="0" rIns="0" bIns="0" rtlCol="0" anchor="ctr"/>
          <a:lstStyle/>
          <a:p>
            <a:pPr marL="0" indent="0" algn="ctr">
              <a:buNone/>
            </a:pPr>
            <a:r>
              <a:rPr lang="en-US" sz="1300" b="1" dirty="0">
                <a:solidFill>
                  <a:schemeClr val="tx1"/>
                </a:solidFill>
              </a:rPr>
              <a:t>4</a:t>
            </a:r>
            <a:endParaRPr lang="en-US" sz="1300" dirty="0"/>
          </a:p>
        </p:txBody>
      </p:sp>
      <p:sp>
        <p:nvSpPr>
          <p:cNvPr id="23" name="lg-t-264"/>
          <p:cNvSpPr txBox="1"/>
          <p:nvPr/>
        </p:nvSpPr>
        <p:spPr>
          <a:xfrm>
            <a:off x="7132320" y="4379976"/>
            <a:ext cx="4480560" cy="822960"/>
          </a:xfrm>
          <a:prstGeom prst="rect">
            <a:avLst/>
          </a:prstGeom>
          <a:noFill/>
          <a:ln/>
        </p:spPr>
        <p:txBody>
          <a:bodyPr wrap="square" lIns="0" tIns="0" rIns="0" bIns="0" rtlCol="0" anchor="t"/>
          <a:lstStyle/>
          <a:p>
            <a:pPr marL="0" indent="0">
              <a:buNone/>
            </a:pPr>
            <a:r>
              <a:rPr lang="en-US" sz="1400" b="1" dirty="0">
                <a:solidFill>
                  <a:schemeClr val="tx1"/>
                </a:solidFill>
              </a:rPr>
              <a:t>Condition</a:t>
            </a:r>
            <a:endParaRPr lang="en-US" sz="1400" dirty="0"/>
          </a:p>
          <a:p>
            <a:pPr marL="0" indent="0">
              <a:buNone/>
            </a:pPr>
            <a:r>
              <a:rPr lang="en-US" sz="1300" dirty="0">
                <a:solidFill>
                  <a:schemeClr val="tx2"/>
                </a:solidFill>
              </a:rPr>
              <a:t>une source contacte plus de 20 ports distincts</a:t>
            </a:r>
            <a:endParaRPr lang="en-US" sz="1400" dirty="0"/>
          </a:p>
        </p:txBody>
      </p:sp>
      <p:sp>
        <p:nvSpPr>
          <p:cNvPr id="24" name="lg-d-265"/>
          <p:cNvSpPr/>
          <p:nvPr/>
        </p:nvSpPr>
        <p:spPr>
          <a:xfrm>
            <a:off x="6537960" y="5367528"/>
            <a:ext cx="411480" cy="411480"/>
          </a:xfrm>
          <a:prstGeom prst="ellipse">
            <a:avLst/>
          </a:prstGeom>
          <a:solidFill>
            <a:schemeClr val="accent1"/>
          </a:solidFill>
          <a:ln w="12700">
            <a:solidFill>
              <a:schemeClr val="accent1"/>
            </a:solidFill>
            <a:prstDash val="solid"/>
          </a:ln>
        </p:spPr>
        <p:txBody>
          <a:bodyPr/>
          <a:lstStyle/>
          <a:p>
            <a:endParaRPr lang="fr-FR"/>
          </a:p>
        </p:txBody>
      </p:sp>
      <p:sp>
        <p:nvSpPr>
          <p:cNvPr id="25" name="lg-n-266"/>
          <p:cNvSpPr txBox="1"/>
          <p:nvPr/>
        </p:nvSpPr>
        <p:spPr>
          <a:xfrm>
            <a:off x="6537960" y="5367528"/>
            <a:ext cx="411480" cy="411480"/>
          </a:xfrm>
          <a:prstGeom prst="rect">
            <a:avLst/>
          </a:prstGeom>
          <a:noFill/>
          <a:ln/>
        </p:spPr>
        <p:txBody>
          <a:bodyPr wrap="square" lIns="0" tIns="0" rIns="0" bIns="0" rtlCol="0" anchor="ctr"/>
          <a:lstStyle/>
          <a:p>
            <a:pPr marL="0" indent="0" algn="ctr">
              <a:buNone/>
            </a:pPr>
            <a:r>
              <a:rPr lang="en-US" sz="1300" b="1" dirty="0">
                <a:solidFill>
                  <a:schemeClr val="tx1"/>
                </a:solidFill>
              </a:rPr>
              <a:t>5</a:t>
            </a:r>
            <a:endParaRPr lang="en-US" sz="1300" dirty="0"/>
          </a:p>
        </p:txBody>
      </p:sp>
      <p:sp>
        <p:nvSpPr>
          <p:cNvPr id="26" name="lg-t-267"/>
          <p:cNvSpPr txBox="1"/>
          <p:nvPr/>
        </p:nvSpPr>
        <p:spPr>
          <a:xfrm>
            <a:off x="7132320" y="5276088"/>
            <a:ext cx="4480560" cy="822960"/>
          </a:xfrm>
          <a:prstGeom prst="rect">
            <a:avLst/>
          </a:prstGeom>
          <a:noFill/>
          <a:ln/>
        </p:spPr>
        <p:txBody>
          <a:bodyPr wrap="square" lIns="0" tIns="0" rIns="0" bIns="0" rtlCol="0" anchor="t"/>
          <a:lstStyle/>
          <a:p>
            <a:pPr marL="0" indent="0">
              <a:buNone/>
            </a:pPr>
            <a:r>
              <a:rPr lang="en-US" sz="1400" b="1" dirty="0">
                <a:solidFill>
                  <a:schemeClr val="tx1"/>
                </a:solidFill>
              </a:rPr>
              <a:t>Actions</a:t>
            </a:r>
            <a:endParaRPr lang="en-US" sz="1400" dirty="0"/>
          </a:p>
          <a:p>
            <a:pPr marL="0" indent="0">
              <a:buNone/>
            </a:pPr>
            <a:r>
              <a:rPr lang="en-US" sz="1300" dirty="0">
                <a:solidFill>
                  <a:schemeClr val="tx2"/>
                </a:solidFill>
              </a:rPr>
              <a:t>journalisation + indexation dans alertes-watcher</a:t>
            </a:r>
            <a:endParaRPr lang="en-US" sz="14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08760" y="320040"/>
            <a:ext cx="1010412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Test du Watcher : l'alerte se déclenche</a:t>
            </a:r>
            <a:endParaRPr lang="en-US" sz="3000" dirty="0"/>
          </a:p>
        </p:txBody>
      </p:sp>
      <p:sp>
        <p:nvSpPr>
          <p:cNvPr id="3" name="badge-268"/>
          <p:cNvSpPr/>
          <p:nvPr/>
        </p:nvSpPr>
        <p:spPr>
          <a:xfrm>
            <a:off x="548640" y="320040"/>
            <a:ext cx="731520" cy="731520"/>
          </a:xfrm>
          <a:prstGeom prst="ellipse">
            <a:avLst/>
          </a:prstGeom>
          <a:solidFill>
            <a:schemeClr val="accent1"/>
          </a:solidFill>
          <a:ln w="12700">
            <a:solidFill>
              <a:schemeClr val="accent1"/>
            </a:solidFill>
            <a:prstDash val="solid"/>
          </a:ln>
        </p:spPr>
        <p:txBody>
          <a:bodyPr/>
          <a:lstStyle/>
          <a:p>
            <a:endParaRPr lang="fr-FR"/>
          </a:p>
        </p:txBody>
      </p:sp>
      <p:sp>
        <p:nvSpPr>
          <p:cNvPr id="4" name="badge-num-269"/>
          <p:cNvSpPr txBox="1"/>
          <p:nvPr/>
        </p:nvSpPr>
        <p:spPr>
          <a:xfrm>
            <a:off x="548640" y="320040"/>
            <a:ext cx="731520" cy="731520"/>
          </a:xfrm>
          <a:prstGeom prst="rect">
            <a:avLst/>
          </a:prstGeom>
          <a:noFill/>
          <a:ln/>
        </p:spPr>
        <p:txBody>
          <a:bodyPr wrap="square" lIns="0" tIns="0" rIns="0" bIns="0" rtlCol="0" anchor="ctr"/>
          <a:lstStyle/>
          <a:p>
            <a:pPr marL="0" indent="0" algn="ctr">
              <a:buNone/>
            </a:pPr>
            <a:r>
              <a:rPr lang="en-US" sz="2200" b="1" dirty="0">
                <a:solidFill>
                  <a:schemeClr val="tx1"/>
                </a:solidFill>
                <a:latin typeface="Arial" pitchFamily="34" charset="0"/>
                <a:ea typeface="Arial" pitchFamily="34" charset="-122"/>
                <a:cs typeface="Arial" pitchFamily="34" charset="-120"/>
              </a:rPr>
              <a:t>05</a:t>
            </a:r>
            <a:endParaRPr lang="en-US" sz="2200" dirty="0"/>
          </a:p>
        </p:txBody>
      </p:sp>
      <p:sp>
        <p:nvSpPr>
          <p:cNvPr id="5" name="frame-270"/>
          <p:cNvSpPr/>
          <p:nvPr/>
        </p:nvSpPr>
        <p:spPr>
          <a:xfrm>
            <a:off x="521208" y="1364537"/>
            <a:ext cx="5724144" cy="727358"/>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6" name="shot-271" descr="Simulation : 200 ports TCP de ENT-OPS sondés depuis ENT-BRIDGE"/>
          <p:cNvPicPr>
            <a:picLocks noChangeAspect="1"/>
          </p:cNvPicPr>
          <p:nvPr/>
        </p:nvPicPr>
        <p:blipFill>
          <a:blip r:embed="rId3"/>
          <a:stretch>
            <a:fillRect/>
          </a:stretch>
        </p:blipFill>
        <p:spPr>
          <a:xfrm>
            <a:off x="548640" y="1391969"/>
            <a:ext cx="5669280" cy="672494"/>
          </a:xfrm>
          <a:prstGeom prst="rect">
            <a:avLst/>
          </a:prstGeom>
        </p:spPr>
      </p:pic>
      <p:sp>
        <p:nvSpPr>
          <p:cNvPr id="7" name="cap-272"/>
          <p:cNvSpPr txBox="1"/>
          <p:nvPr/>
        </p:nvSpPr>
        <p:spPr>
          <a:xfrm>
            <a:off x="548640" y="2119327"/>
            <a:ext cx="5669280" cy="237744"/>
          </a:xfrm>
          <a:prstGeom prst="rect">
            <a:avLst/>
          </a:prstGeom>
          <a:noFill/>
          <a:ln/>
        </p:spPr>
        <p:txBody>
          <a:bodyPr wrap="square" lIns="0" tIns="0" rIns="0" bIns="0" rtlCol="0" anchor="ctr"/>
          <a:lstStyle/>
          <a:p>
            <a:pPr marL="0" indent="0">
              <a:buNone/>
            </a:pPr>
            <a:r>
              <a:rPr lang="en-US" sz="1000" i="1" dirty="0">
                <a:solidFill>
                  <a:schemeClr val="accent5"/>
                </a:solidFill>
              </a:rPr>
              <a:t>Simulation : 200 ports TCP de ENT-OPS sondés depuis ENT-BRIDGE</a:t>
            </a:r>
            <a:endParaRPr lang="en-US" sz="1000" dirty="0"/>
          </a:p>
        </p:txBody>
      </p:sp>
      <p:sp>
        <p:nvSpPr>
          <p:cNvPr id="8" name="frame-273"/>
          <p:cNvSpPr/>
          <p:nvPr/>
        </p:nvSpPr>
        <p:spPr>
          <a:xfrm>
            <a:off x="521208" y="2762825"/>
            <a:ext cx="5724144" cy="3142863"/>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9" name="shot-274" descr="Index alertes-watcher : règle scan-de-ports, 200 ports, source 172.16.0.40"/>
          <p:cNvPicPr>
            <a:picLocks noChangeAspect="1"/>
          </p:cNvPicPr>
          <p:nvPr/>
        </p:nvPicPr>
        <p:blipFill>
          <a:blip r:embed="rId4"/>
          <a:stretch>
            <a:fillRect/>
          </a:stretch>
        </p:blipFill>
        <p:spPr>
          <a:xfrm>
            <a:off x="548640" y="2790257"/>
            <a:ext cx="5669280" cy="3087999"/>
          </a:xfrm>
          <a:prstGeom prst="rect">
            <a:avLst/>
          </a:prstGeom>
        </p:spPr>
      </p:pic>
      <p:sp>
        <p:nvSpPr>
          <p:cNvPr id="10" name="cap-275"/>
          <p:cNvSpPr txBox="1"/>
          <p:nvPr/>
        </p:nvSpPr>
        <p:spPr>
          <a:xfrm>
            <a:off x="548640" y="5933119"/>
            <a:ext cx="5669280" cy="237744"/>
          </a:xfrm>
          <a:prstGeom prst="rect">
            <a:avLst/>
          </a:prstGeom>
          <a:noFill/>
          <a:ln/>
        </p:spPr>
        <p:txBody>
          <a:bodyPr wrap="square" lIns="0" tIns="0" rIns="0" bIns="0" rtlCol="0" anchor="ctr"/>
          <a:lstStyle/>
          <a:p>
            <a:pPr marL="0" indent="0">
              <a:buNone/>
            </a:pPr>
            <a:r>
              <a:rPr lang="en-US" sz="1000" i="1" dirty="0">
                <a:solidFill>
                  <a:schemeClr val="accent5"/>
                </a:solidFill>
              </a:rPr>
              <a:t>Index alertes-watcher : règle scan-de-ports, 200 ports, source 172.16.0.40</a:t>
            </a:r>
            <a:endParaRPr lang="en-US" sz="1000" dirty="0"/>
          </a:p>
        </p:txBody>
      </p:sp>
      <p:sp>
        <p:nvSpPr>
          <p:cNvPr id="11" name="stat-200"/>
          <p:cNvSpPr txBox="1"/>
          <p:nvPr/>
        </p:nvSpPr>
        <p:spPr>
          <a:xfrm>
            <a:off x="6583680" y="1280160"/>
            <a:ext cx="5029200" cy="1463040"/>
          </a:xfrm>
          <a:prstGeom prst="rect">
            <a:avLst/>
          </a:prstGeom>
          <a:noFill/>
          <a:ln/>
        </p:spPr>
        <p:txBody>
          <a:bodyPr wrap="square" lIns="0" tIns="0" rIns="0" bIns="0" rtlCol="0" anchor="t"/>
          <a:lstStyle/>
          <a:p>
            <a:pPr marL="0" indent="0">
              <a:buNone/>
            </a:pPr>
            <a:r>
              <a:rPr lang="en-US" sz="6000" b="1" dirty="0">
                <a:solidFill>
                  <a:schemeClr val="accent3"/>
                </a:solidFill>
              </a:rPr>
              <a:t>200</a:t>
            </a:r>
            <a:endParaRPr lang="en-US" sz="6000" dirty="0"/>
          </a:p>
          <a:p>
            <a:pPr marL="0" indent="0">
              <a:buNone/>
            </a:pPr>
            <a:r>
              <a:rPr lang="en-US" sz="1600" dirty="0">
                <a:solidFill>
                  <a:schemeClr val="tx1"/>
                </a:solidFill>
              </a:rPr>
              <a:t>ports distincts détectés depuis 172.16.0.40</a:t>
            </a:r>
            <a:endParaRPr lang="en-US" sz="6000" dirty="0"/>
          </a:p>
        </p:txBody>
      </p:sp>
      <p:sp>
        <p:nvSpPr>
          <p:cNvPr id="12" name="card-276"/>
          <p:cNvSpPr/>
          <p:nvPr/>
        </p:nvSpPr>
        <p:spPr>
          <a:xfrm>
            <a:off x="6583680" y="3017520"/>
            <a:ext cx="5029200" cy="3246120"/>
          </a:xfrm>
          <a:prstGeom prst="roundRect">
            <a:avLst>
              <a:gd name="adj" fmla="val 2254"/>
            </a:avLst>
          </a:prstGeom>
          <a:solidFill>
            <a:schemeClr val="bg2"/>
          </a:solidFill>
          <a:ln w="9525">
            <a:solidFill>
              <a:srgbClr val="D6DEEA"/>
            </a:solidFill>
            <a:prstDash val="solid"/>
          </a:ln>
        </p:spPr>
        <p:txBody>
          <a:bodyPr/>
          <a:lstStyle/>
          <a:p>
            <a:endParaRPr lang="fr-FR"/>
          </a:p>
        </p:txBody>
      </p:sp>
      <p:sp>
        <p:nvSpPr>
          <p:cNvPr id="13" name="card-t-277"/>
          <p:cNvSpPr txBox="1"/>
          <p:nvPr/>
        </p:nvSpPr>
        <p:spPr>
          <a:xfrm>
            <a:off x="6766560" y="3154680"/>
            <a:ext cx="4663440" cy="365760"/>
          </a:xfrm>
          <a:prstGeom prst="rect">
            <a:avLst/>
          </a:prstGeom>
          <a:noFill/>
          <a:ln/>
        </p:spPr>
        <p:txBody>
          <a:bodyPr wrap="square" lIns="0" tIns="0" rIns="0" bIns="0" rtlCol="0" anchor="ctr"/>
          <a:lstStyle/>
          <a:p>
            <a:pPr marL="0" indent="0">
              <a:buNone/>
            </a:pPr>
            <a:r>
              <a:rPr lang="en-US" sz="1600" b="1" dirty="0">
                <a:solidFill>
                  <a:schemeClr val="tx1"/>
                </a:solidFill>
              </a:rPr>
              <a:t>Résultat</a:t>
            </a:r>
            <a:endParaRPr lang="en-US" sz="1600" dirty="0"/>
          </a:p>
        </p:txBody>
      </p:sp>
      <p:sp>
        <p:nvSpPr>
          <p:cNvPr id="14" name="card-b-278"/>
          <p:cNvSpPr txBox="1"/>
          <p:nvPr/>
        </p:nvSpPr>
        <p:spPr>
          <a:xfrm>
            <a:off x="6766560" y="3566160"/>
            <a:ext cx="4663440" cy="256032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chemeClr val="tx1"/>
                </a:solidFill>
              </a:rPr>
              <a:t>Action de journalisation : « SCAN DE PORTS : 172.16.0.40 -&gt; 200 ports » dans enterprise-d.log</a:t>
            </a:r>
            <a:endParaRPr lang="en-US" sz="1400" dirty="0"/>
          </a:p>
          <a:p>
            <a:pPr marL="152400" indent="-152400">
              <a:spcAft>
                <a:spcPts val="400"/>
              </a:spcAft>
              <a:buSzPct val="100000"/>
              <a:buChar char="•"/>
            </a:pPr>
            <a:r>
              <a:rPr lang="en-US" sz="1400" dirty="0">
                <a:solidFill>
                  <a:schemeClr val="tx1"/>
                </a:solidFill>
              </a:rPr>
              <a:t>Scan lancé à 00 h 00 → alerte indexée en moins d'une minute</a:t>
            </a:r>
            <a:endParaRPr lang="en-US" sz="1400" dirty="0"/>
          </a:p>
          <a:p>
            <a:pPr marL="152400" indent="-152400">
              <a:spcAft>
                <a:spcPts val="400"/>
              </a:spcAft>
              <a:buSzPct val="100000"/>
              <a:buChar char="•"/>
            </a:pPr>
            <a:r>
              <a:rPr lang="en-US" sz="1400" dirty="0">
                <a:solidFill>
                  <a:schemeClr val="tx1"/>
                </a:solidFill>
              </a:rPr>
              <a:t>Seuil de 20 ports franchi d'un facteur 10 : aucun faux négatif</a:t>
            </a:r>
            <a:endParaRPr lang="en-US" sz="1400" dirty="0"/>
          </a:p>
          <a:p>
            <a:pPr marL="152400" indent="-152400">
              <a:spcAft>
                <a:spcPts val="400"/>
              </a:spcAft>
              <a:buSzPct val="100000"/>
              <a:buChar char="•"/>
            </a:pPr>
            <a:r>
              <a:rPr lang="en-US" sz="1400" dirty="0">
                <a:solidFill>
                  <a:schemeClr val="tx1"/>
                </a:solidFill>
              </a:rPr>
              <a:t>L'alerte alimente le playbook « intrusion des Borgs » (mission 08)</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08760" y="320040"/>
            <a:ext cx="1010412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Wireshark : capture de paquets sur l'interface ens33</a:t>
            </a:r>
            <a:endParaRPr lang="en-US" sz="3000" dirty="0"/>
          </a:p>
        </p:txBody>
      </p:sp>
      <p:sp>
        <p:nvSpPr>
          <p:cNvPr id="3" name="badge-279"/>
          <p:cNvSpPr/>
          <p:nvPr/>
        </p:nvSpPr>
        <p:spPr>
          <a:xfrm>
            <a:off x="548640" y="320040"/>
            <a:ext cx="731520" cy="731520"/>
          </a:xfrm>
          <a:prstGeom prst="ellipse">
            <a:avLst/>
          </a:prstGeom>
          <a:solidFill>
            <a:schemeClr val="accent1"/>
          </a:solidFill>
          <a:ln w="12700">
            <a:solidFill>
              <a:schemeClr val="accent1"/>
            </a:solidFill>
            <a:prstDash val="solid"/>
          </a:ln>
        </p:spPr>
        <p:txBody>
          <a:bodyPr/>
          <a:lstStyle/>
          <a:p>
            <a:endParaRPr lang="fr-FR"/>
          </a:p>
        </p:txBody>
      </p:sp>
      <p:sp>
        <p:nvSpPr>
          <p:cNvPr id="4" name="badge-num-280"/>
          <p:cNvSpPr txBox="1"/>
          <p:nvPr/>
        </p:nvSpPr>
        <p:spPr>
          <a:xfrm>
            <a:off x="548640" y="320040"/>
            <a:ext cx="731520" cy="731520"/>
          </a:xfrm>
          <a:prstGeom prst="rect">
            <a:avLst/>
          </a:prstGeom>
          <a:noFill/>
          <a:ln/>
        </p:spPr>
        <p:txBody>
          <a:bodyPr wrap="square" lIns="0" tIns="0" rIns="0" bIns="0" rtlCol="0" anchor="ctr"/>
          <a:lstStyle/>
          <a:p>
            <a:pPr marL="0" indent="0" algn="ctr">
              <a:buNone/>
            </a:pPr>
            <a:r>
              <a:rPr lang="en-US" sz="2200" b="1" dirty="0">
                <a:solidFill>
                  <a:schemeClr val="tx1"/>
                </a:solidFill>
                <a:latin typeface="Arial" pitchFamily="34" charset="0"/>
                <a:ea typeface="Arial" pitchFamily="34" charset="-122"/>
                <a:cs typeface="Arial" pitchFamily="34" charset="-120"/>
              </a:rPr>
              <a:t>06</a:t>
            </a:r>
            <a:endParaRPr lang="en-US" sz="2200" dirty="0"/>
          </a:p>
        </p:txBody>
      </p:sp>
      <p:sp>
        <p:nvSpPr>
          <p:cNvPr id="5" name="frame-281"/>
          <p:cNvSpPr/>
          <p:nvPr/>
        </p:nvSpPr>
        <p:spPr>
          <a:xfrm>
            <a:off x="895096" y="1252728"/>
            <a:ext cx="4976368" cy="1271016"/>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6" name="shot-282" descr="Premier test tshark sur ens33 : 5 paquets capturés"/>
          <p:cNvPicPr>
            <a:picLocks noChangeAspect="1"/>
          </p:cNvPicPr>
          <p:nvPr/>
        </p:nvPicPr>
        <p:blipFill>
          <a:blip r:embed="rId3"/>
          <a:stretch>
            <a:fillRect/>
          </a:stretch>
        </p:blipFill>
        <p:spPr>
          <a:xfrm>
            <a:off x="922528" y="1280160"/>
            <a:ext cx="4921504" cy="1216152"/>
          </a:xfrm>
          <a:prstGeom prst="rect">
            <a:avLst/>
          </a:prstGeom>
        </p:spPr>
      </p:pic>
      <p:sp>
        <p:nvSpPr>
          <p:cNvPr id="7" name="cap-283"/>
          <p:cNvSpPr txBox="1"/>
          <p:nvPr/>
        </p:nvSpPr>
        <p:spPr>
          <a:xfrm>
            <a:off x="922528" y="2551176"/>
            <a:ext cx="4921504" cy="237744"/>
          </a:xfrm>
          <a:prstGeom prst="rect">
            <a:avLst/>
          </a:prstGeom>
          <a:noFill/>
          <a:ln/>
        </p:spPr>
        <p:txBody>
          <a:bodyPr wrap="square" lIns="0" tIns="0" rIns="0" bIns="0" rtlCol="0" anchor="ctr"/>
          <a:lstStyle/>
          <a:p>
            <a:pPr marL="0" indent="0">
              <a:buNone/>
            </a:pPr>
            <a:r>
              <a:rPr lang="en-US" sz="1000" i="1" dirty="0">
                <a:solidFill>
                  <a:schemeClr val="accent5"/>
                </a:solidFill>
              </a:rPr>
              <a:t>Premier test tshark sur ens33 : 5 paquets capturés</a:t>
            </a:r>
            <a:endParaRPr lang="en-US" sz="1000" dirty="0"/>
          </a:p>
        </p:txBody>
      </p:sp>
      <p:sp>
        <p:nvSpPr>
          <p:cNvPr id="8" name="frame-284"/>
          <p:cNvSpPr/>
          <p:nvPr/>
        </p:nvSpPr>
        <p:spPr>
          <a:xfrm>
            <a:off x="521208" y="3342714"/>
            <a:ext cx="5724144" cy="2257405"/>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9" name="shot-285" descr="Service enterprise-capture : capture continue au format CSV"/>
          <p:cNvPicPr>
            <a:picLocks noChangeAspect="1"/>
          </p:cNvPicPr>
          <p:nvPr/>
        </p:nvPicPr>
        <p:blipFill>
          <a:blip r:embed="rId4"/>
          <a:stretch>
            <a:fillRect/>
          </a:stretch>
        </p:blipFill>
        <p:spPr>
          <a:xfrm>
            <a:off x="548640" y="3370146"/>
            <a:ext cx="5669280" cy="2202541"/>
          </a:xfrm>
          <a:prstGeom prst="rect">
            <a:avLst/>
          </a:prstGeom>
        </p:spPr>
      </p:pic>
      <p:sp>
        <p:nvSpPr>
          <p:cNvPr id="10" name="cap-286"/>
          <p:cNvSpPr txBox="1"/>
          <p:nvPr/>
        </p:nvSpPr>
        <p:spPr>
          <a:xfrm>
            <a:off x="548640" y="5627550"/>
            <a:ext cx="5669280" cy="237744"/>
          </a:xfrm>
          <a:prstGeom prst="rect">
            <a:avLst/>
          </a:prstGeom>
          <a:noFill/>
          <a:ln/>
        </p:spPr>
        <p:txBody>
          <a:bodyPr wrap="square" lIns="0" tIns="0" rIns="0" bIns="0" rtlCol="0" anchor="ctr"/>
          <a:lstStyle/>
          <a:p>
            <a:pPr marL="0" indent="0">
              <a:buNone/>
            </a:pPr>
            <a:r>
              <a:rPr lang="en-US" sz="1000" i="1" dirty="0">
                <a:solidFill>
                  <a:schemeClr val="accent5"/>
                </a:solidFill>
              </a:rPr>
              <a:t>Service enterprise-capture : capture continue au format CSV</a:t>
            </a:r>
            <a:endParaRPr lang="en-US" sz="1000" dirty="0"/>
          </a:p>
        </p:txBody>
      </p:sp>
      <p:sp>
        <p:nvSpPr>
          <p:cNvPr id="11" name="card-287"/>
          <p:cNvSpPr/>
          <p:nvPr/>
        </p:nvSpPr>
        <p:spPr>
          <a:xfrm>
            <a:off x="6537960" y="1280160"/>
            <a:ext cx="5074920" cy="2651760"/>
          </a:xfrm>
          <a:prstGeom prst="roundRect">
            <a:avLst>
              <a:gd name="adj" fmla="val 2759"/>
            </a:avLst>
          </a:prstGeom>
          <a:solidFill>
            <a:schemeClr val="bg2"/>
          </a:solidFill>
          <a:ln w="9525">
            <a:solidFill>
              <a:srgbClr val="D6DEEA"/>
            </a:solidFill>
            <a:prstDash val="solid"/>
          </a:ln>
        </p:spPr>
        <p:txBody>
          <a:bodyPr/>
          <a:lstStyle/>
          <a:p>
            <a:endParaRPr lang="fr-FR"/>
          </a:p>
        </p:txBody>
      </p:sp>
      <p:sp>
        <p:nvSpPr>
          <p:cNvPr id="12" name="card-t-288"/>
          <p:cNvSpPr txBox="1"/>
          <p:nvPr/>
        </p:nvSpPr>
        <p:spPr>
          <a:xfrm>
            <a:off x="6720840" y="1417320"/>
            <a:ext cx="4709160" cy="365760"/>
          </a:xfrm>
          <a:prstGeom prst="rect">
            <a:avLst/>
          </a:prstGeom>
          <a:noFill/>
          <a:ln/>
        </p:spPr>
        <p:txBody>
          <a:bodyPr wrap="square" lIns="0" tIns="0" rIns="0" bIns="0" rtlCol="0" anchor="ctr"/>
          <a:lstStyle/>
          <a:p>
            <a:pPr marL="0" indent="0">
              <a:buNone/>
            </a:pPr>
            <a:r>
              <a:rPr lang="en-US" sz="1600" b="1" dirty="0">
                <a:solidFill>
                  <a:schemeClr val="tx1"/>
                </a:solidFill>
              </a:rPr>
              <a:t>Choix de mise en œuvre</a:t>
            </a:r>
            <a:endParaRPr lang="en-US" sz="1600" dirty="0"/>
          </a:p>
        </p:txBody>
      </p:sp>
      <p:sp>
        <p:nvSpPr>
          <p:cNvPr id="13" name="card-b-289"/>
          <p:cNvSpPr txBox="1"/>
          <p:nvPr/>
        </p:nvSpPr>
        <p:spPr>
          <a:xfrm>
            <a:off x="6720840" y="1828800"/>
            <a:ext cx="4709160" cy="196596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chemeClr val="tx1"/>
                </a:solidFill>
              </a:rPr>
              <a:t>tshark (Wireshark en ligne de commande) sur ENT-BRIDGE, sans interface graphique</a:t>
            </a:r>
            <a:endParaRPr lang="en-US" sz="1400" dirty="0"/>
          </a:p>
          <a:p>
            <a:pPr marL="152400" indent="-152400">
              <a:spcAft>
                <a:spcPts val="400"/>
              </a:spcAft>
              <a:buSzPct val="100000"/>
              <a:buChar char="•"/>
            </a:pPr>
            <a:r>
              <a:rPr lang="en-US" sz="1400" dirty="0">
                <a:solidFill>
                  <a:schemeClr val="tx1"/>
                </a:solidFill>
              </a:rPr>
              <a:t>Utilisateur dédié tshark-cap, groupe wireshark : pas de capture en root</a:t>
            </a:r>
            <a:endParaRPr lang="en-US" sz="1400" dirty="0"/>
          </a:p>
          <a:p>
            <a:pPr marL="152400" indent="-152400">
              <a:spcAft>
                <a:spcPts val="400"/>
              </a:spcAft>
              <a:buSzPct val="100000"/>
              <a:buChar char="•"/>
            </a:pPr>
            <a:r>
              <a:rPr lang="en-US" sz="1400" dirty="0">
                <a:solidFill>
                  <a:schemeClr val="tx1"/>
                </a:solidFill>
              </a:rPr>
              <a:t>Service systemd Restart=always : capture permanente</a:t>
            </a:r>
            <a:endParaRPr lang="en-US" sz="1400" dirty="0"/>
          </a:p>
        </p:txBody>
      </p:sp>
      <p:sp>
        <p:nvSpPr>
          <p:cNvPr id="14" name="card-290"/>
          <p:cNvSpPr/>
          <p:nvPr/>
        </p:nvSpPr>
        <p:spPr>
          <a:xfrm>
            <a:off x="6537960" y="4114800"/>
            <a:ext cx="5074920" cy="2148840"/>
          </a:xfrm>
          <a:prstGeom prst="roundRect">
            <a:avLst>
              <a:gd name="adj" fmla="val 3404"/>
            </a:avLst>
          </a:prstGeom>
          <a:solidFill>
            <a:schemeClr val="bg2"/>
          </a:solidFill>
          <a:ln w="9525">
            <a:solidFill>
              <a:srgbClr val="D6DEEA"/>
            </a:solidFill>
            <a:prstDash val="solid"/>
          </a:ln>
        </p:spPr>
        <p:txBody>
          <a:bodyPr/>
          <a:lstStyle/>
          <a:p>
            <a:endParaRPr lang="fr-FR"/>
          </a:p>
        </p:txBody>
      </p:sp>
      <p:sp>
        <p:nvSpPr>
          <p:cNvPr id="15" name="card-t-291"/>
          <p:cNvSpPr txBox="1"/>
          <p:nvPr/>
        </p:nvSpPr>
        <p:spPr>
          <a:xfrm>
            <a:off x="6720840" y="4251960"/>
            <a:ext cx="4709160" cy="365760"/>
          </a:xfrm>
          <a:prstGeom prst="rect">
            <a:avLst/>
          </a:prstGeom>
          <a:noFill/>
          <a:ln/>
        </p:spPr>
        <p:txBody>
          <a:bodyPr wrap="square" lIns="0" tIns="0" rIns="0" bIns="0" rtlCol="0" anchor="ctr"/>
          <a:lstStyle/>
          <a:p>
            <a:pPr marL="0" indent="0">
              <a:buNone/>
            </a:pPr>
            <a:r>
              <a:rPr lang="en-US" sz="1600" b="1" dirty="0">
                <a:solidFill>
                  <a:schemeClr val="tx1"/>
                </a:solidFill>
              </a:rPr>
              <a:t>Filtre de capture (BPF)</a:t>
            </a:r>
            <a:endParaRPr lang="en-US" sz="1600" dirty="0"/>
          </a:p>
        </p:txBody>
      </p:sp>
      <p:sp>
        <p:nvSpPr>
          <p:cNvPr id="16" name="card-b-292"/>
          <p:cNvSpPr txBox="1"/>
          <p:nvPr/>
        </p:nvSpPr>
        <p:spPr>
          <a:xfrm>
            <a:off x="6720840" y="4663440"/>
            <a:ext cx="4709160" cy="1463040"/>
          </a:xfrm>
          <a:prstGeom prst="rect">
            <a:avLst/>
          </a:prstGeom>
          <a:noFill/>
          <a:ln/>
        </p:spPr>
        <p:txBody>
          <a:bodyPr wrap="square" lIns="0" tIns="0" rIns="0" bIns="0" rtlCol="0" anchor="t"/>
          <a:lstStyle/>
          <a:p>
            <a:pPr marL="0" indent="0">
              <a:spcAft>
                <a:spcPts val="400"/>
              </a:spcAft>
              <a:buNone/>
            </a:pPr>
            <a:r>
              <a:rPr lang="en-US" sz="1400" dirty="0">
                <a:solidFill>
                  <a:schemeClr val="tx1"/>
                </a:solidFill>
              </a:rPr>
              <a:t>ip and not port 5044 and not host 172.16.0.1 — on exclut l'envoi des journaux vers Logstash et la session SSH de l'administrateur, sinon la capture s'auto-alimente.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08760" y="320040"/>
            <a:ext cx="1010412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Paquets suspects et conversations TCP/IP</a:t>
            </a:r>
            <a:endParaRPr lang="en-US" sz="3000" dirty="0"/>
          </a:p>
        </p:txBody>
      </p:sp>
      <p:sp>
        <p:nvSpPr>
          <p:cNvPr id="3" name="badge-293"/>
          <p:cNvSpPr/>
          <p:nvPr/>
        </p:nvSpPr>
        <p:spPr>
          <a:xfrm>
            <a:off x="548640" y="320040"/>
            <a:ext cx="731520" cy="731520"/>
          </a:xfrm>
          <a:prstGeom prst="ellipse">
            <a:avLst/>
          </a:prstGeom>
          <a:solidFill>
            <a:schemeClr val="accent1"/>
          </a:solidFill>
          <a:ln w="12700">
            <a:solidFill>
              <a:schemeClr val="accent1"/>
            </a:solidFill>
            <a:prstDash val="solid"/>
          </a:ln>
        </p:spPr>
        <p:txBody>
          <a:bodyPr/>
          <a:lstStyle/>
          <a:p>
            <a:endParaRPr lang="fr-FR"/>
          </a:p>
        </p:txBody>
      </p:sp>
      <p:sp>
        <p:nvSpPr>
          <p:cNvPr id="4" name="badge-num-294"/>
          <p:cNvSpPr txBox="1"/>
          <p:nvPr/>
        </p:nvSpPr>
        <p:spPr>
          <a:xfrm>
            <a:off x="548640" y="320040"/>
            <a:ext cx="731520" cy="731520"/>
          </a:xfrm>
          <a:prstGeom prst="rect">
            <a:avLst/>
          </a:prstGeom>
          <a:noFill/>
          <a:ln/>
        </p:spPr>
        <p:txBody>
          <a:bodyPr wrap="square" lIns="0" tIns="0" rIns="0" bIns="0" rtlCol="0" anchor="ctr"/>
          <a:lstStyle/>
          <a:p>
            <a:pPr marL="0" indent="0" algn="ctr">
              <a:buNone/>
            </a:pPr>
            <a:r>
              <a:rPr lang="en-US" sz="2200" b="1" dirty="0">
                <a:solidFill>
                  <a:schemeClr val="tx1"/>
                </a:solidFill>
                <a:latin typeface="Arial" pitchFamily="34" charset="0"/>
                <a:ea typeface="Arial" pitchFamily="34" charset="-122"/>
                <a:cs typeface="Arial" pitchFamily="34" charset="-120"/>
              </a:rPr>
              <a:t>06</a:t>
            </a:r>
            <a:endParaRPr lang="en-US" sz="2200" dirty="0"/>
          </a:p>
        </p:txBody>
      </p:sp>
      <p:sp>
        <p:nvSpPr>
          <p:cNvPr id="5" name="frame-295"/>
          <p:cNvSpPr/>
          <p:nvPr/>
        </p:nvSpPr>
        <p:spPr>
          <a:xfrm>
            <a:off x="521208" y="1385460"/>
            <a:ext cx="5907024" cy="1782791"/>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6" name="shot-296" descr="Trafic décodé : échanges ICMP et TCP 443 avec drapeaux"/>
          <p:cNvPicPr>
            <a:picLocks noChangeAspect="1"/>
          </p:cNvPicPr>
          <p:nvPr/>
        </p:nvPicPr>
        <p:blipFill>
          <a:blip r:embed="rId3"/>
          <a:stretch>
            <a:fillRect/>
          </a:stretch>
        </p:blipFill>
        <p:spPr>
          <a:xfrm>
            <a:off x="548640" y="1412892"/>
            <a:ext cx="5852160" cy="1727927"/>
          </a:xfrm>
          <a:prstGeom prst="rect">
            <a:avLst/>
          </a:prstGeom>
        </p:spPr>
      </p:pic>
      <p:sp>
        <p:nvSpPr>
          <p:cNvPr id="7" name="cap-297"/>
          <p:cNvSpPr txBox="1"/>
          <p:nvPr/>
        </p:nvSpPr>
        <p:spPr>
          <a:xfrm>
            <a:off x="548640" y="3195684"/>
            <a:ext cx="5852160" cy="237744"/>
          </a:xfrm>
          <a:prstGeom prst="rect">
            <a:avLst/>
          </a:prstGeom>
          <a:noFill/>
          <a:ln/>
        </p:spPr>
        <p:txBody>
          <a:bodyPr wrap="square" lIns="0" tIns="0" rIns="0" bIns="0" rtlCol="0" anchor="ctr"/>
          <a:lstStyle/>
          <a:p>
            <a:pPr marL="0" indent="0">
              <a:buNone/>
            </a:pPr>
            <a:r>
              <a:rPr lang="en-US" sz="1000" i="1" dirty="0">
                <a:solidFill>
                  <a:schemeClr val="accent5"/>
                </a:solidFill>
              </a:rPr>
              <a:t>Trafic décodé : échanges ICMP et TCP 443 avec drapeaux</a:t>
            </a:r>
            <a:endParaRPr lang="en-US" sz="1000" dirty="0"/>
          </a:p>
        </p:txBody>
      </p:sp>
      <p:sp>
        <p:nvSpPr>
          <p:cNvPr id="8" name="frame-298"/>
          <p:cNvSpPr/>
          <p:nvPr/>
        </p:nvSpPr>
        <p:spPr>
          <a:xfrm>
            <a:off x="1446868" y="3721608"/>
            <a:ext cx="4055704" cy="2276856"/>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9" name="shot-299" descr="Conversation TCP complète : ACK, PSH, FIN entre 172.16.0.20 et 34.95.113.255"/>
          <p:cNvPicPr>
            <a:picLocks noChangeAspect="1"/>
          </p:cNvPicPr>
          <p:nvPr/>
        </p:nvPicPr>
        <p:blipFill>
          <a:blip r:embed="rId4"/>
          <a:stretch>
            <a:fillRect/>
          </a:stretch>
        </p:blipFill>
        <p:spPr>
          <a:xfrm>
            <a:off x="1474300" y="3749040"/>
            <a:ext cx="4000840" cy="2221992"/>
          </a:xfrm>
          <a:prstGeom prst="rect">
            <a:avLst/>
          </a:prstGeom>
        </p:spPr>
      </p:pic>
      <p:sp>
        <p:nvSpPr>
          <p:cNvPr id="10" name="cap-300"/>
          <p:cNvSpPr txBox="1"/>
          <p:nvPr/>
        </p:nvSpPr>
        <p:spPr>
          <a:xfrm>
            <a:off x="1474300" y="6025896"/>
            <a:ext cx="4000840" cy="237744"/>
          </a:xfrm>
          <a:prstGeom prst="rect">
            <a:avLst/>
          </a:prstGeom>
          <a:noFill/>
          <a:ln/>
        </p:spPr>
        <p:txBody>
          <a:bodyPr wrap="square" lIns="0" tIns="0" rIns="0" bIns="0" rtlCol="0" anchor="ctr"/>
          <a:lstStyle/>
          <a:p>
            <a:pPr marL="0" indent="0">
              <a:buNone/>
            </a:pPr>
            <a:r>
              <a:rPr lang="en-US" sz="1000" i="1" dirty="0">
                <a:solidFill>
                  <a:schemeClr val="accent5"/>
                </a:solidFill>
              </a:rPr>
              <a:t>Conversation TCP complète : ACK, PSH, FIN entre 172.16.0.20 et 34.95.113.255</a:t>
            </a:r>
            <a:endParaRPr lang="en-US" sz="1000" dirty="0"/>
          </a:p>
        </p:txBody>
      </p:sp>
      <p:sp>
        <p:nvSpPr>
          <p:cNvPr id="11" name="label-301"/>
          <p:cNvSpPr txBox="1"/>
          <p:nvPr/>
        </p:nvSpPr>
        <p:spPr>
          <a:xfrm>
            <a:off x="6720840" y="1325880"/>
            <a:ext cx="4892040" cy="292608"/>
          </a:xfrm>
          <a:prstGeom prst="rect">
            <a:avLst/>
          </a:prstGeom>
          <a:noFill/>
          <a:ln/>
        </p:spPr>
        <p:txBody>
          <a:bodyPr wrap="square" lIns="0" tIns="0" rIns="0" bIns="0" rtlCol="0" anchor="ctr"/>
          <a:lstStyle/>
          <a:p>
            <a:pPr marL="0" indent="0">
              <a:buNone/>
            </a:pPr>
            <a:r>
              <a:rPr lang="en-US" sz="1200" b="1" kern="0" spc="100" dirty="0">
                <a:solidFill>
                  <a:schemeClr val="accent3"/>
                </a:solidFill>
              </a:rPr>
              <a:t>OBSERVATIONS</a:t>
            </a:r>
            <a:endParaRPr lang="en-US" sz="1200" dirty="0"/>
          </a:p>
        </p:txBody>
      </p:sp>
      <p:sp>
        <p:nvSpPr>
          <p:cNvPr id="12" name="obs-302"/>
          <p:cNvSpPr/>
          <p:nvPr/>
        </p:nvSpPr>
        <p:spPr>
          <a:xfrm>
            <a:off x="6720840" y="1691640"/>
            <a:ext cx="4892040" cy="1005840"/>
          </a:xfrm>
          <a:prstGeom prst="roundRect">
            <a:avLst>
              <a:gd name="adj" fmla="val 7273"/>
            </a:avLst>
          </a:prstGeom>
          <a:solidFill>
            <a:srgbClr val="FDECEC"/>
          </a:solidFill>
          <a:ln w="9525">
            <a:solidFill>
              <a:srgbClr val="F5C2C3"/>
            </a:solidFill>
            <a:prstDash val="solid"/>
          </a:ln>
        </p:spPr>
        <p:txBody>
          <a:bodyPr/>
          <a:lstStyle/>
          <a:p>
            <a:endParaRPr lang="fr-FR"/>
          </a:p>
        </p:txBody>
      </p:sp>
      <p:sp>
        <p:nvSpPr>
          <p:cNvPr id="13" name="obs-t-303"/>
          <p:cNvSpPr txBox="1"/>
          <p:nvPr/>
        </p:nvSpPr>
        <p:spPr>
          <a:xfrm>
            <a:off x="6858000" y="1691640"/>
            <a:ext cx="4617720" cy="1005840"/>
          </a:xfrm>
          <a:prstGeom prst="rect">
            <a:avLst/>
          </a:prstGeom>
          <a:noFill/>
          <a:ln/>
        </p:spPr>
        <p:txBody>
          <a:bodyPr wrap="square" lIns="0" tIns="0" rIns="0" bIns="0" rtlCol="0" anchor="ctr"/>
          <a:lstStyle/>
          <a:p>
            <a:pPr marL="0" indent="0">
              <a:buNone/>
            </a:pPr>
            <a:r>
              <a:rPr lang="en-US" sz="1400" b="1" dirty="0">
                <a:solidFill>
                  <a:schemeClr val="accent3"/>
                </a:solidFill>
              </a:rPr>
              <a:t>Scan de ports</a:t>
            </a:r>
            <a:endParaRPr lang="en-US" sz="1400" dirty="0"/>
          </a:p>
          <a:p>
            <a:pPr marL="0" indent="0">
              <a:buNone/>
            </a:pPr>
            <a:r>
              <a:rPr lang="en-US" sz="1200" dirty="0">
                <a:solidFill>
                  <a:schemeClr val="tx1"/>
                </a:solidFill>
              </a:rPr>
              <a:t>172.16.0.40 → 172.16.0.10 : 200 ports en quelques secondes, SYN sans suite</a:t>
            </a:r>
            <a:endParaRPr lang="en-US" sz="1400" dirty="0"/>
          </a:p>
        </p:txBody>
      </p:sp>
      <p:sp>
        <p:nvSpPr>
          <p:cNvPr id="14" name="obs-304"/>
          <p:cNvSpPr/>
          <p:nvPr/>
        </p:nvSpPr>
        <p:spPr>
          <a:xfrm>
            <a:off x="6720840" y="2834640"/>
            <a:ext cx="4892040" cy="1005840"/>
          </a:xfrm>
          <a:prstGeom prst="roundRect">
            <a:avLst>
              <a:gd name="adj" fmla="val 7273"/>
            </a:avLst>
          </a:prstGeom>
          <a:solidFill>
            <a:srgbClr val="FDECEC"/>
          </a:solidFill>
          <a:ln w="9525">
            <a:solidFill>
              <a:srgbClr val="F5C2C3"/>
            </a:solidFill>
            <a:prstDash val="solid"/>
          </a:ln>
        </p:spPr>
        <p:txBody>
          <a:bodyPr/>
          <a:lstStyle/>
          <a:p>
            <a:endParaRPr lang="fr-FR"/>
          </a:p>
        </p:txBody>
      </p:sp>
      <p:sp>
        <p:nvSpPr>
          <p:cNvPr id="15" name="obs-t-305"/>
          <p:cNvSpPr txBox="1"/>
          <p:nvPr/>
        </p:nvSpPr>
        <p:spPr>
          <a:xfrm>
            <a:off x="6858000" y="2834640"/>
            <a:ext cx="4617720" cy="1005840"/>
          </a:xfrm>
          <a:prstGeom prst="rect">
            <a:avLst/>
          </a:prstGeom>
          <a:noFill/>
          <a:ln/>
        </p:spPr>
        <p:txBody>
          <a:bodyPr wrap="square" lIns="0" tIns="0" rIns="0" bIns="0" rtlCol="0" anchor="ctr"/>
          <a:lstStyle/>
          <a:p>
            <a:pPr marL="0" indent="0">
              <a:buNone/>
            </a:pPr>
            <a:r>
              <a:rPr lang="en-US" sz="1400" b="1" dirty="0">
                <a:solidFill>
                  <a:schemeClr val="accent3"/>
                </a:solidFill>
              </a:rPr>
              <a:t>Requêtes LLMNR</a:t>
            </a:r>
            <a:endParaRPr lang="en-US" sz="1400" dirty="0"/>
          </a:p>
          <a:p>
            <a:pPr marL="0" indent="0">
              <a:buNone/>
            </a:pPr>
            <a:r>
              <a:rPr lang="en-US" sz="1200" dirty="0">
                <a:solidFill>
                  <a:schemeClr val="tx1"/>
                </a:solidFill>
              </a:rPr>
              <a:t>multicast 224.0.0.252:5355 depuis l'hôte 172.16.0.1 : protocole exploitable pour l'empoisonnement de noms</a:t>
            </a:r>
            <a:endParaRPr lang="en-US" sz="1400" dirty="0"/>
          </a:p>
        </p:txBody>
      </p:sp>
      <p:sp>
        <p:nvSpPr>
          <p:cNvPr id="16" name="obs-306"/>
          <p:cNvSpPr/>
          <p:nvPr/>
        </p:nvSpPr>
        <p:spPr>
          <a:xfrm>
            <a:off x="6720840" y="3977640"/>
            <a:ext cx="4892040" cy="1005840"/>
          </a:xfrm>
          <a:prstGeom prst="roundRect">
            <a:avLst>
              <a:gd name="adj" fmla="val 7273"/>
            </a:avLst>
          </a:prstGeom>
          <a:solidFill>
            <a:srgbClr val="FDECEC"/>
          </a:solidFill>
          <a:ln w="9525">
            <a:solidFill>
              <a:srgbClr val="F5C2C3"/>
            </a:solidFill>
            <a:prstDash val="solid"/>
          </a:ln>
        </p:spPr>
        <p:txBody>
          <a:bodyPr/>
          <a:lstStyle/>
          <a:p>
            <a:endParaRPr lang="fr-FR"/>
          </a:p>
        </p:txBody>
      </p:sp>
      <p:sp>
        <p:nvSpPr>
          <p:cNvPr id="17" name="obs-t-307"/>
          <p:cNvSpPr txBox="1"/>
          <p:nvPr/>
        </p:nvSpPr>
        <p:spPr>
          <a:xfrm>
            <a:off x="6858000" y="3977640"/>
            <a:ext cx="4617720" cy="1005840"/>
          </a:xfrm>
          <a:prstGeom prst="rect">
            <a:avLst/>
          </a:prstGeom>
          <a:noFill/>
          <a:ln/>
        </p:spPr>
        <p:txBody>
          <a:bodyPr wrap="square" lIns="0" tIns="0" rIns="0" bIns="0" rtlCol="0" anchor="ctr"/>
          <a:lstStyle/>
          <a:p>
            <a:pPr marL="0" indent="0">
              <a:buNone/>
            </a:pPr>
            <a:r>
              <a:rPr lang="en-US" sz="1400" b="1" dirty="0">
                <a:solidFill>
                  <a:schemeClr val="accent3"/>
                </a:solidFill>
              </a:rPr>
              <a:t>Flux sortants TLS</a:t>
            </a:r>
            <a:endParaRPr lang="en-US" sz="1400" dirty="0"/>
          </a:p>
          <a:p>
            <a:pPr marL="0" indent="0">
              <a:buNone/>
            </a:pPr>
            <a:r>
              <a:rPr lang="en-US" sz="1200" dirty="0">
                <a:solidFill>
                  <a:schemeClr val="tx1"/>
                </a:solidFill>
              </a:rPr>
              <a:t>172.16.0.20 ↔ 34.95.113.255:443 : 1 992 paquets, ~880 Ko — volume à justifier</a:t>
            </a:r>
            <a:endParaRPr lang="en-US" sz="1400" dirty="0"/>
          </a:p>
        </p:txBody>
      </p:sp>
      <p:sp>
        <p:nvSpPr>
          <p:cNvPr id="18" name="obs-308"/>
          <p:cNvSpPr/>
          <p:nvPr/>
        </p:nvSpPr>
        <p:spPr>
          <a:xfrm>
            <a:off x="6720840" y="5120640"/>
            <a:ext cx="4892040" cy="1005840"/>
          </a:xfrm>
          <a:prstGeom prst="roundRect">
            <a:avLst>
              <a:gd name="adj" fmla="val 7273"/>
            </a:avLst>
          </a:prstGeom>
          <a:solidFill>
            <a:schemeClr val="bg2"/>
          </a:solidFill>
          <a:ln w="9525">
            <a:solidFill>
              <a:srgbClr val="D6DEEA"/>
            </a:solidFill>
            <a:prstDash val="solid"/>
          </a:ln>
        </p:spPr>
        <p:txBody>
          <a:bodyPr/>
          <a:lstStyle/>
          <a:p>
            <a:endParaRPr lang="fr-FR"/>
          </a:p>
        </p:txBody>
      </p:sp>
      <p:sp>
        <p:nvSpPr>
          <p:cNvPr id="19" name="obs-t-309"/>
          <p:cNvSpPr txBox="1"/>
          <p:nvPr/>
        </p:nvSpPr>
        <p:spPr>
          <a:xfrm>
            <a:off x="6858000" y="5120640"/>
            <a:ext cx="4617720" cy="1005840"/>
          </a:xfrm>
          <a:prstGeom prst="rect">
            <a:avLst/>
          </a:prstGeom>
          <a:noFill/>
          <a:ln/>
        </p:spPr>
        <p:txBody>
          <a:bodyPr wrap="square" lIns="0" tIns="0" rIns="0" bIns="0" rtlCol="0" anchor="ctr"/>
          <a:lstStyle/>
          <a:p>
            <a:pPr marL="0" indent="0">
              <a:buNone/>
            </a:pPr>
            <a:r>
              <a:rPr lang="en-US" sz="1400" b="1" dirty="0">
                <a:solidFill>
                  <a:schemeClr val="tx1"/>
                </a:solidFill>
              </a:rPr>
              <a:t>Sessions normales</a:t>
            </a:r>
            <a:endParaRPr lang="en-US" sz="1400" dirty="0"/>
          </a:p>
          <a:p>
            <a:pPr marL="0" indent="0">
              <a:buNone/>
            </a:pPr>
            <a:r>
              <a:rPr lang="en-US" sz="1200" dirty="0">
                <a:solidFill>
                  <a:schemeClr val="tx1"/>
                </a:solidFill>
              </a:rPr>
              <a:t>poignées de main et fermetures FIN/ACK propres sur 443, DNS vers 172.16.0.2</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08760" y="320040"/>
            <a:ext cx="1010412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Recherche d'événements suspects avec KQL</a:t>
            </a:r>
            <a:endParaRPr lang="en-US" sz="3000" dirty="0"/>
          </a:p>
        </p:txBody>
      </p:sp>
      <p:sp>
        <p:nvSpPr>
          <p:cNvPr id="3" name="badge-310"/>
          <p:cNvSpPr/>
          <p:nvPr/>
        </p:nvSpPr>
        <p:spPr>
          <a:xfrm>
            <a:off x="548640" y="320040"/>
            <a:ext cx="731520" cy="731520"/>
          </a:xfrm>
          <a:prstGeom prst="ellipse">
            <a:avLst/>
          </a:prstGeom>
          <a:solidFill>
            <a:schemeClr val="accent1"/>
          </a:solidFill>
          <a:ln w="12700">
            <a:solidFill>
              <a:schemeClr val="accent1"/>
            </a:solidFill>
            <a:prstDash val="solid"/>
          </a:ln>
        </p:spPr>
        <p:txBody>
          <a:bodyPr/>
          <a:lstStyle/>
          <a:p>
            <a:endParaRPr lang="fr-FR"/>
          </a:p>
        </p:txBody>
      </p:sp>
      <p:sp>
        <p:nvSpPr>
          <p:cNvPr id="4" name="badge-num-311"/>
          <p:cNvSpPr txBox="1"/>
          <p:nvPr/>
        </p:nvSpPr>
        <p:spPr>
          <a:xfrm>
            <a:off x="548640" y="320040"/>
            <a:ext cx="731520" cy="731520"/>
          </a:xfrm>
          <a:prstGeom prst="rect">
            <a:avLst/>
          </a:prstGeom>
          <a:noFill/>
          <a:ln/>
        </p:spPr>
        <p:txBody>
          <a:bodyPr wrap="square" lIns="0" tIns="0" rIns="0" bIns="0" rtlCol="0" anchor="ctr"/>
          <a:lstStyle/>
          <a:p>
            <a:pPr marL="0" indent="0" algn="ctr">
              <a:buNone/>
            </a:pPr>
            <a:r>
              <a:rPr lang="en-US" sz="2200" b="1" dirty="0">
                <a:solidFill>
                  <a:schemeClr val="tx1"/>
                </a:solidFill>
                <a:latin typeface="Arial" pitchFamily="34" charset="0"/>
                <a:ea typeface="Arial" pitchFamily="34" charset="-122"/>
                <a:cs typeface="Arial" pitchFamily="34" charset="-120"/>
              </a:rPr>
              <a:t>07</a:t>
            </a:r>
            <a:endParaRPr lang="en-US" sz="2200" dirty="0"/>
          </a:p>
        </p:txBody>
      </p:sp>
      <p:sp>
        <p:nvSpPr>
          <p:cNvPr id="5" name="frame-312"/>
          <p:cNvSpPr/>
          <p:nvPr/>
        </p:nvSpPr>
        <p:spPr>
          <a:xfrm>
            <a:off x="598597" y="1207008"/>
            <a:ext cx="5569365" cy="3145536"/>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6" name="shot-313" descr="network.protocol : &quot;ICMP&quot; → 120 paquets, balayage .10 → .40"/>
          <p:cNvPicPr>
            <a:picLocks noChangeAspect="1"/>
          </p:cNvPicPr>
          <p:nvPr/>
        </p:nvPicPr>
        <p:blipFill>
          <a:blip r:embed="rId3"/>
          <a:stretch>
            <a:fillRect/>
          </a:stretch>
        </p:blipFill>
        <p:spPr>
          <a:xfrm>
            <a:off x="626029" y="1234440"/>
            <a:ext cx="5514501" cy="3090672"/>
          </a:xfrm>
          <a:prstGeom prst="rect">
            <a:avLst/>
          </a:prstGeom>
        </p:spPr>
      </p:pic>
      <p:sp>
        <p:nvSpPr>
          <p:cNvPr id="7" name="cap-314"/>
          <p:cNvSpPr txBox="1"/>
          <p:nvPr/>
        </p:nvSpPr>
        <p:spPr>
          <a:xfrm>
            <a:off x="626029" y="4379976"/>
            <a:ext cx="5514501" cy="237744"/>
          </a:xfrm>
          <a:prstGeom prst="rect">
            <a:avLst/>
          </a:prstGeom>
          <a:noFill/>
          <a:ln/>
        </p:spPr>
        <p:txBody>
          <a:bodyPr wrap="square" lIns="0" tIns="0" rIns="0" bIns="0" rtlCol="0" anchor="ctr"/>
          <a:lstStyle/>
          <a:p>
            <a:pPr marL="0" indent="0">
              <a:buNone/>
            </a:pPr>
            <a:r>
              <a:rPr lang="en-US" sz="1000" i="1" dirty="0">
                <a:solidFill>
                  <a:schemeClr val="accent5"/>
                </a:solidFill>
              </a:rPr>
              <a:t>network.protocol : "ICMP" → 120 paquets, balayage .10 → .40</a:t>
            </a:r>
            <a:endParaRPr lang="en-US" sz="1000" dirty="0"/>
          </a:p>
        </p:txBody>
      </p:sp>
      <p:sp>
        <p:nvSpPr>
          <p:cNvPr id="8" name="frame-315"/>
          <p:cNvSpPr/>
          <p:nvPr/>
        </p:nvSpPr>
        <p:spPr>
          <a:xfrm>
            <a:off x="6584433" y="1207008"/>
            <a:ext cx="4936255" cy="2779776"/>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9" name="shot-316" descr="Trafic interne vers l'extérieur : 649 documents"/>
          <p:cNvPicPr>
            <a:picLocks noChangeAspect="1"/>
          </p:cNvPicPr>
          <p:nvPr/>
        </p:nvPicPr>
        <p:blipFill>
          <a:blip r:embed="rId4"/>
          <a:stretch>
            <a:fillRect/>
          </a:stretch>
        </p:blipFill>
        <p:spPr>
          <a:xfrm>
            <a:off x="6611865" y="1234440"/>
            <a:ext cx="4881391" cy="2724912"/>
          </a:xfrm>
          <a:prstGeom prst="rect">
            <a:avLst/>
          </a:prstGeom>
        </p:spPr>
      </p:pic>
      <p:sp>
        <p:nvSpPr>
          <p:cNvPr id="10" name="cap-317"/>
          <p:cNvSpPr txBox="1"/>
          <p:nvPr/>
        </p:nvSpPr>
        <p:spPr>
          <a:xfrm>
            <a:off x="6611865" y="4014216"/>
            <a:ext cx="4881391" cy="237744"/>
          </a:xfrm>
          <a:prstGeom prst="rect">
            <a:avLst/>
          </a:prstGeom>
          <a:noFill/>
          <a:ln/>
        </p:spPr>
        <p:txBody>
          <a:bodyPr wrap="square" lIns="0" tIns="0" rIns="0" bIns="0" rtlCol="0" anchor="ctr"/>
          <a:lstStyle/>
          <a:p>
            <a:pPr marL="0" indent="0">
              <a:buNone/>
            </a:pPr>
            <a:r>
              <a:rPr lang="en-US" sz="1000" i="1" dirty="0">
                <a:solidFill>
                  <a:schemeClr val="accent5"/>
                </a:solidFill>
              </a:rPr>
              <a:t>Trafic interne vers l'extérieur : 649 documents</a:t>
            </a:r>
            <a:endParaRPr lang="en-US" sz="1000" dirty="0"/>
          </a:p>
        </p:txBody>
      </p:sp>
      <p:graphicFrame>
        <p:nvGraphicFramePr>
          <p:cNvPr id="24" name="tab-kql"/>
          <p:cNvGraphicFramePr>
            <a:graphicFrameLocks noGrp="1"/>
          </p:cNvGraphicFramePr>
          <p:nvPr>
            <p:extLst>
              <p:ext uri="{D42A27DB-BD31-4B8C-83A1-F6EECF244321}">
                <p14:modId xmlns:p14="http://schemas.microsoft.com/office/powerpoint/2010/main" val="1579011935"/>
              </p:ext>
            </p:extLst>
          </p:nvPr>
        </p:nvGraphicFramePr>
        <p:xfrm>
          <a:off x="548640" y="4800600"/>
          <a:ext cx="11064240" cy="914400"/>
        </p:xfrm>
        <a:graphic>
          <a:graphicData uri="http://schemas.openxmlformats.org/drawingml/2006/table">
            <a:tbl>
              <a:tblPr/>
              <a:tblGrid>
                <a:gridCol w="694944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29184">
                <a:tc>
                  <a:txBody>
                    <a:bodyPr/>
                    <a:lstStyle/>
                    <a:p>
                      <a:pPr marL="0" indent="0">
                        <a:buNone/>
                      </a:pPr>
                      <a:r>
                        <a:rPr lang="en-US" sz="1300" b="1" dirty="0">
                          <a:solidFill>
                            <a:schemeClr val="bg1"/>
                          </a:solidFill>
                        </a:rPr>
                        <a:t>Requête KQL</a:t>
                      </a:r>
                      <a:endParaRPr lang="en-US" sz="1300" dirty="0"/>
                    </a:p>
                  </a:txBody>
                  <a:tcPr marL="45720" marR="45720">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Objectif</a:t>
                      </a:r>
                      <a:endParaRPr lang="en-US" sz="1300" dirty="0"/>
                    </a:p>
                  </a:txBody>
                  <a:tcPr marL="45720" marR="45720">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29184">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network.protocol : "ICMP"</a:t>
                      </a:r>
                      <a:endParaRPr lang="en-US" sz="1100" dirty="0">
                        <a:latin typeface="Courier New" charset="0"/>
                        <a:ea typeface="Courier New" charset="0"/>
                        <a:cs typeface="Courier New" charset="0"/>
                      </a:endParaRPr>
                    </a:p>
                  </a:txBody>
                  <a:tcPr marL="45720" marR="45720">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Reconnaissance par ping</a:t>
                      </a:r>
                      <a:endParaRPr lang="en-US" sz="1300" dirty="0"/>
                    </a:p>
                  </a:txBody>
                  <a:tcPr marL="45720" marR="45720">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29184">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not destination.ip : 172.16.0.0/24 and source.ip : 172.16.0.0/24</a:t>
                      </a:r>
                      <a:endParaRPr lang="en-US" sz="1100" dirty="0">
                        <a:latin typeface="Courier New" charset="0"/>
                        <a:ea typeface="Courier New" charset="0"/>
                        <a:cs typeface="Courier New" charset="0"/>
                      </a:endParaRPr>
                    </a:p>
                  </a:txBody>
                  <a:tcPr marL="45720" marR="45720">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Flux sortants (exfiltration ?)</a:t>
                      </a:r>
                      <a:endParaRPr lang="en-US" sz="1300" dirty="0"/>
                    </a:p>
                  </a:txBody>
                  <a:tcPr marL="45720" marR="45720">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29184">
                <a:tc>
                  <a:txBody>
                    <a:bodyPr/>
                    <a:lstStyle/>
                    <a:p>
                      <a:pPr marL="0" indent="0">
                        <a:buNone/>
                      </a:pPr>
                      <a:r>
                        <a:rPr lang="en-US" sz="1100" dirty="0">
                          <a:solidFill>
                            <a:schemeClr val="tx1"/>
                          </a:solidFill>
                          <a:latin typeface="Courier New" pitchFamily="34" charset="0"/>
                          <a:ea typeface="Courier New" pitchFamily="34" charset="-122"/>
                          <a:cs typeface="Courier New" pitchFamily="34" charset="-120"/>
                        </a:rPr>
                        <a:t>destination.port &lt;= 1024</a:t>
                      </a:r>
                      <a:endParaRPr lang="en-US" sz="1100" dirty="0">
                        <a:latin typeface="Courier New" charset="0"/>
                        <a:ea typeface="Courier New" charset="0"/>
                        <a:cs typeface="Courier New" charset="0"/>
                      </a:endParaRPr>
                    </a:p>
                  </a:txBody>
                  <a:tcPr marL="45720" marR="45720">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Services sensibles ciblés</a:t>
                      </a:r>
                      <a:endParaRPr lang="en-US" sz="1300" dirty="0"/>
                    </a:p>
                  </a:txBody>
                  <a:tcPr marL="45720" marR="45720">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08760" y="320040"/>
            <a:ext cx="1010412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Tendances des journaux dans le temps</a:t>
            </a:r>
            <a:endParaRPr lang="en-US" sz="3000" dirty="0"/>
          </a:p>
        </p:txBody>
      </p:sp>
      <p:sp>
        <p:nvSpPr>
          <p:cNvPr id="3" name="badge-318"/>
          <p:cNvSpPr/>
          <p:nvPr/>
        </p:nvSpPr>
        <p:spPr>
          <a:xfrm>
            <a:off x="548640" y="320040"/>
            <a:ext cx="731520" cy="731520"/>
          </a:xfrm>
          <a:prstGeom prst="ellipse">
            <a:avLst/>
          </a:prstGeom>
          <a:solidFill>
            <a:schemeClr val="accent1"/>
          </a:solidFill>
          <a:ln w="12700">
            <a:solidFill>
              <a:schemeClr val="accent1"/>
            </a:solidFill>
            <a:prstDash val="solid"/>
          </a:ln>
        </p:spPr>
        <p:txBody>
          <a:bodyPr/>
          <a:lstStyle/>
          <a:p>
            <a:endParaRPr lang="fr-FR"/>
          </a:p>
        </p:txBody>
      </p:sp>
      <p:sp>
        <p:nvSpPr>
          <p:cNvPr id="4" name="badge-num-319"/>
          <p:cNvSpPr txBox="1"/>
          <p:nvPr/>
        </p:nvSpPr>
        <p:spPr>
          <a:xfrm>
            <a:off x="548640" y="320040"/>
            <a:ext cx="731520" cy="731520"/>
          </a:xfrm>
          <a:prstGeom prst="rect">
            <a:avLst/>
          </a:prstGeom>
          <a:noFill/>
          <a:ln/>
        </p:spPr>
        <p:txBody>
          <a:bodyPr wrap="square" lIns="0" tIns="0" rIns="0" bIns="0" rtlCol="0" anchor="ctr"/>
          <a:lstStyle/>
          <a:p>
            <a:pPr marL="0" indent="0" algn="ctr">
              <a:buNone/>
            </a:pPr>
            <a:r>
              <a:rPr lang="en-US" sz="2200" b="1" dirty="0">
                <a:solidFill>
                  <a:schemeClr val="tx1"/>
                </a:solidFill>
                <a:latin typeface="Arial" pitchFamily="34" charset="0"/>
                <a:ea typeface="Arial" pitchFamily="34" charset="-122"/>
                <a:cs typeface="Arial" pitchFamily="34" charset="-120"/>
              </a:rPr>
              <a:t>07</a:t>
            </a:r>
            <a:endParaRPr lang="en-US" sz="2200" dirty="0"/>
          </a:p>
        </p:txBody>
      </p:sp>
      <p:sp>
        <p:nvSpPr>
          <p:cNvPr id="5" name="frame-320"/>
          <p:cNvSpPr/>
          <p:nvPr/>
        </p:nvSpPr>
        <p:spPr>
          <a:xfrm>
            <a:off x="521208" y="1555805"/>
            <a:ext cx="7370064" cy="4093861"/>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6" name="shot-321" descr="Protocoles par minute, sur 1 heure, rafraîchis toutes les 10 s"/>
          <p:cNvPicPr>
            <a:picLocks noChangeAspect="1"/>
          </p:cNvPicPr>
          <p:nvPr/>
        </p:nvPicPr>
        <p:blipFill>
          <a:blip r:embed="rId3"/>
          <a:stretch>
            <a:fillRect/>
          </a:stretch>
        </p:blipFill>
        <p:spPr>
          <a:xfrm>
            <a:off x="548640" y="1583237"/>
            <a:ext cx="7315200" cy="4038997"/>
          </a:xfrm>
          <a:prstGeom prst="rect">
            <a:avLst/>
          </a:prstGeom>
        </p:spPr>
      </p:pic>
      <p:sp>
        <p:nvSpPr>
          <p:cNvPr id="7" name="cap-322"/>
          <p:cNvSpPr txBox="1"/>
          <p:nvPr/>
        </p:nvSpPr>
        <p:spPr>
          <a:xfrm>
            <a:off x="548640" y="5677099"/>
            <a:ext cx="7315200" cy="237744"/>
          </a:xfrm>
          <a:prstGeom prst="rect">
            <a:avLst/>
          </a:prstGeom>
          <a:noFill/>
          <a:ln/>
        </p:spPr>
        <p:txBody>
          <a:bodyPr wrap="square" lIns="0" tIns="0" rIns="0" bIns="0" rtlCol="0" anchor="ctr"/>
          <a:lstStyle/>
          <a:p>
            <a:pPr marL="0" indent="0">
              <a:buNone/>
            </a:pPr>
            <a:r>
              <a:rPr lang="en-US" sz="1000" i="1" dirty="0">
                <a:solidFill>
                  <a:schemeClr val="accent5"/>
                </a:solidFill>
              </a:rPr>
              <a:t>Protocoles par minute, sur 1 heure, rafraîchis toutes les 10 s</a:t>
            </a:r>
            <a:endParaRPr lang="en-US" sz="1000" dirty="0"/>
          </a:p>
        </p:txBody>
      </p:sp>
      <p:sp>
        <p:nvSpPr>
          <p:cNvPr id="8" name="card-323"/>
          <p:cNvSpPr/>
          <p:nvPr/>
        </p:nvSpPr>
        <p:spPr>
          <a:xfrm>
            <a:off x="8183880" y="1280160"/>
            <a:ext cx="3429000" cy="2331720"/>
          </a:xfrm>
          <a:prstGeom prst="roundRect">
            <a:avLst>
              <a:gd name="adj" fmla="val 3137"/>
            </a:avLst>
          </a:prstGeom>
          <a:solidFill>
            <a:schemeClr val="bg2"/>
          </a:solidFill>
          <a:ln w="9525">
            <a:solidFill>
              <a:srgbClr val="D6DEEA"/>
            </a:solidFill>
            <a:prstDash val="solid"/>
          </a:ln>
        </p:spPr>
        <p:txBody>
          <a:bodyPr/>
          <a:lstStyle/>
          <a:p>
            <a:endParaRPr lang="fr-FR"/>
          </a:p>
        </p:txBody>
      </p:sp>
      <p:sp>
        <p:nvSpPr>
          <p:cNvPr id="9" name="card-t-324"/>
          <p:cNvSpPr txBox="1"/>
          <p:nvPr/>
        </p:nvSpPr>
        <p:spPr>
          <a:xfrm>
            <a:off x="8366760" y="1417320"/>
            <a:ext cx="3063240" cy="365760"/>
          </a:xfrm>
          <a:prstGeom prst="rect">
            <a:avLst/>
          </a:prstGeom>
          <a:noFill/>
          <a:ln/>
        </p:spPr>
        <p:txBody>
          <a:bodyPr wrap="square" lIns="0" tIns="0" rIns="0" bIns="0" rtlCol="0" anchor="ctr"/>
          <a:lstStyle/>
          <a:p>
            <a:pPr marL="0" indent="0">
              <a:buNone/>
            </a:pPr>
            <a:r>
              <a:rPr lang="en-US" sz="1600" b="1" dirty="0">
                <a:solidFill>
                  <a:schemeClr val="tx1"/>
                </a:solidFill>
              </a:rPr>
              <a:t>Lecture des tendances</a:t>
            </a:r>
            <a:endParaRPr lang="en-US" sz="1600" dirty="0"/>
          </a:p>
        </p:txBody>
      </p:sp>
      <p:sp>
        <p:nvSpPr>
          <p:cNvPr id="10" name="card-b-325"/>
          <p:cNvSpPr txBox="1"/>
          <p:nvPr/>
        </p:nvSpPr>
        <p:spPr>
          <a:xfrm>
            <a:off x="8366760" y="1828800"/>
            <a:ext cx="3063240" cy="164592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chemeClr val="tx1"/>
                </a:solidFill>
              </a:rPr>
              <a:t>Bruit de fond régulier : NTP, DNS, TLS</a:t>
            </a:r>
            <a:endParaRPr lang="en-US" sz="1300" dirty="0"/>
          </a:p>
          <a:p>
            <a:pPr marL="152400" indent="-152400">
              <a:spcAft>
                <a:spcPts val="400"/>
              </a:spcAft>
              <a:buSzPct val="100000"/>
              <a:buChar char="•"/>
            </a:pPr>
            <a:r>
              <a:rPr lang="en-US" sz="1300" dirty="0">
                <a:solidFill>
                  <a:schemeClr val="tx1"/>
                </a:solidFill>
              </a:rPr>
              <a:t>Pics nets = activité générée (boucles de trafic, scan)</a:t>
            </a:r>
            <a:endParaRPr lang="en-US" sz="1300" dirty="0"/>
          </a:p>
          <a:p>
            <a:pPr marL="152400" indent="-152400">
              <a:spcAft>
                <a:spcPts val="400"/>
              </a:spcAft>
              <a:buSzPct val="100000"/>
              <a:buChar char="•"/>
            </a:pPr>
            <a:r>
              <a:rPr lang="en-US" sz="1300" dirty="0">
                <a:solidFill>
                  <a:schemeClr val="tx1"/>
                </a:solidFill>
              </a:rPr>
              <a:t>Les creux montrent les arrêts de capture</a:t>
            </a:r>
            <a:endParaRPr lang="en-US" sz="1300" dirty="0"/>
          </a:p>
        </p:txBody>
      </p:sp>
      <p:sp>
        <p:nvSpPr>
          <p:cNvPr id="11" name="card-326"/>
          <p:cNvSpPr/>
          <p:nvPr/>
        </p:nvSpPr>
        <p:spPr>
          <a:xfrm>
            <a:off x="8183880" y="3794760"/>
            <a:ext cx="3429000" cy="2468880"/>
          </a:xfrm>
          <a:prstGeom prst="roundRect">
            <a:avLst>
              <a:gd name="adj" fmla="val 2963"/>
            </a:avLst>
          </a:prstGeom>
          <a:solidFill>
            <a:schemeClr val="bg2"/>
          </a:solidFill>
          <a:ln w="9525">
            <a:solidFill>
              <a:srgbClr val="D6DEEA"/>
            </a:solidFill>
            <a:prstDash val="solid"/>
          </a:ln>
        </p:spPr>
        <p:txBody>
          <a:bodyPr/>
          <a:lstStyle/>
          <a:p>
            <a:endParaRPr lang="fr-FR"/>
          </a:p>
        </p:txBody>
      </p:sp>
      <p:sp>
        <p:nvSpPr>
          <p:cNvPr id="12" name="card-t-327"/>
          <p:cNvSpPr txBox="1"/>
          <p:nvPr/>
        </p:nvSpPr>
        <p:spPr>
          <a:xfrm>
            <a:off x="8366760" y="3931920"/>
            <a:ext cx="3063240" cy="365760"/>
          </a:xfrm>
          <a:prstGeom prst="rect">
            <a:avLst/>
          </a:prstGeom>
          <a:noFill/>
          <a:ln/>
        </p:spPr>
        <p:txBody>
          <a:bodyPr wrap="square" lIns="0" tIns="0" rIns="0" bIns="0" rtlCol="0" anchor="ctr"/>
          <a:lstStyle/>
          <a:p>
            <a:pPr marL="0" indent="0">
              <a:buNone/>
            </a:pPr>
            <a:r>
              <a:rPr lang="en-US" sz="1600" b="1" dirty="0">
                <a:solidFill>
                  <a:schemeClr val="tx1"/>
                </a:solidFill>
              </a:rPr>
              <a:t>Intérêt opérationnel</a:t>
            </a:r>
            <a:endParaRPr lang="en-US" sz="1600" dirty="0"/>
          </a:p>
        </p:txBody>
      </p:sp>
      <p:sp>
        <p:nvSpPr>
          <p:cNvPr id="13" name="card-b-328"/>
          <p:cNvSpPr txBox="1"/>
          <p:nvPr/>
        </p:nvSpPr>
        <p:spPr>
          <a:xfrm>
            <a:off x="8366760" y="4343400"/>
            <a:ext cx="3063240" cy="178308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chemeClr val="tx1"/>
                </a:solidFill>
              </a:rPr>
              <a:t>Établir une ligne de base du trafic normal</a:t>
            </a:r>
            <a:endParaRPr lang="en-US" sz="1300" dirty="0"/>
          </a:p>
          <a:p>
            <a:pPr marL="152400" indent="-152400">
              <a:spcAft>
                <a:spcPts val="400"/>
              </a:spcAft>
              <a:buSzPct val="100000"/>
              <a:buChar char="•"/>
            </a:pPr>
            <a:r>
              <a:rPr lang="en-US" sz="1300" dirty="0">
                <a:solidFill>
                  <a:schemeClr val="tx1"/>
                </a:solidFill>
              </a:rPr>
              <a:t>Repérer un écart au premier coup d'œil</a:t>
            </a:r>
            <a:endParaRPr lang="en-US" sz="1300" dirty="0"/>
          </a:p>
          <a:p>
            <a:pPr marL="152400" indent="-152400">
              <a:spcAft>
                <a:spcPts val="400"/>
              </a:spcAft>
              <a:buSzPct val="100000"/>
              <a:buChar char="•"/>
            </a:pPr>
            <a:r>
              <a:rPr lang="en-US" sz="1300" dirty="0">
                <a:solidFill>
                  <a:schemeClr val="tx1"/>
                </a:solidFill>
              </a:rPr>
              <a:t>Pivoter du graphique vers les paquets dans Discover</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743200"/>
            <a:ext cx="10515600" cy="1097280"/>
          </a:xfrm>
          <a:prstGeom prst="rect">
            <a:avLst/>
          </a:prstGeom>
          <a:noFill/>
          <a:ln/>
        </p:spPr>
        <p:txBody>
          <a:bodyPr wrap="square" lIns="0" tIns="0" rIns="0" bIns="0" rtlCol="0" anchor="ctr"/>
          <a:lstStyle/>
          <a:p>
            <a:pPr marL="0" indent="0" algn="l">
              <a:buNone/>
            </a:pPr>
            <a:r>
              <a:rPr lang="en-US" sz="4000" b="1" dirty="0">
                <a:solidFill>
                  <a:schemeClr val="bg1"/>
                </a:solidFill>
                <a:latin typeface="Arial" pitchFamily="34" charset="0"/>
                <a:ea typeface="Arial" pitchFamily="34" charset="-122"/>
                <a:cs typeface="Arial" pitchFamily="34" charset="-120"/>
              </a:rPr>
              <a:t>Réponse à incident</a:t>
            </a:r>
            <a:endParaRPr lang="en-US" sz="4000" dirty="0"/>
          </a:p>
        </p:txBody>
      </p:sp>
      <p:sp>
        <p:nvSpPr>
          <p:cNvPr id="3" name="Text 0"/>
          <p:cNvSpPr>
            <a:spLocks noGrp="1"/>
          </p:cNvSpPr>
          <p:nvPr>
            <p:ph type="body" idx="101" hasCustomPrompt="1"/>
          </p:nvPr>
        </p:nvSpPr>
        <p:spPr>
          <a:xfrm>
            <a:off x="731520" y="3886200"/>
            <a:ext cx="10515600" cy="822960"/>
          </a:xfrm>
          <a:prstGeom prst="rect">
            <a:avLst/>
          </a:prstGeom>
          <a:noFill/>
          <a:ln/>
        </p:spPr>
        <p:txBody>
          <a:bodyPr wrap="square" lIns="0" tIns="0" rIns="0" bIns="0" rtlCol="0" anchor="t"/>
          <a:lstStyle/>
          <a:p>
            <a:pPr marL="0" indent="0">
              <a:buNone/>
            </a:pPr>
            <a:r>
              <a:rPr lang="en-US" sz="1800" dirty="0">
                <a:solidFill>
                  <a:schemeClr val="accent5"/>
                </a:solidFill>
              </a:rPr>
              <a:t>Missions 08 et 09 · Playbooks, TheHive et MISP</a:t>
            </a:r>
            <a:endParaRPr lang="en-US" sz="1800" dirty="0"/>
          </a:p>
        </p:txBody>
      </p:sp>
      <p:sp>
        <p:nvSpPr>
          <p:cNvPr id="4" name="sec-n3"/>
          <p:cNvSpPr txBox="1"/>
          <p:nvPr/>
        </p:nvSpPr>
        <p:spPr>
          <a:xfrm>
            <a:off x="731520" y="1463040"/>
            <a:ext cx="3657600" cy="914400"/>
          </a:xfrm>
          <a:prstGeom prst="rect">
            <a:avLst/>
          </a:prstGeom>
          <a:noFill/>
          <a:ln/>
        </p:spPr>
        <p:txBody>
          <a:bodyPr wrap="square" lIns="0" tIns="0" rIns="0" bIns="0" rtlCol="0" anchor="ctr"/>
          <a:lstStyle/>
          <a:p>
            <a:pPr marL="0" indent="0">
              <a:buNone/>
            </a:pPr>
            <a:r>
              <a:rPr lang="en-US" sz="5400" b="1" dirty="0">
                <a:solidFill>
                  <a:schemeClr val="accent1"/>
                </a:solidFill>
                <a:latin typeface="Arial" pitchFamily="34" charset="0"/>
                <a:ea typeface="Arial" pitchFamily="34" charset="-122"/>
                <a:cs typeface="Arial" pitchFamily="34" charset="-120"/>
              </a:rPr>
              <a:t>08 – 09</a:t>
            </a:r>
            <a:endParaRPr lang="en-US" sz="5400" dirty="0"/>
          </a:p>
        </p:txBody>
      </p:sp>
      <p:sp>
        <p:nvSpPr>
          <p:cNvPr id="25" name="Slide Number Placeholder 0"/>
          <p:cNvSpPr>
            <a:spLocks noGrp="1"/>
          </p:cNvSpPr>
          <p:nvPr>
            <p:ph type="sldNum" sz="quarter" idx="4294967295"/>
          </p:nvPr>
        </p:nvSpPr>
        <p:spPr>
          <a:xfrm>
            <a:off x="11155680" y="635508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08760" y="320040"/>
            <a:ext cx="1010412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Méthode : cycle de réponse à incident (NIST SP 800-61)</a:t>
            </a:r>
            <a:endParaRPr lang="en-US" sz="3000" dirty="0"/>
          </a:p>
        </p:txBody>
      </p:sp>
      <p:sp>
        <p:nvSpPr>
          <p:cNvPr id="3" name="badge-329"/>
          <p:cNvSpPr/>
          <p:nvPr/>
        </p:nvSpPr>
        <p:spPr>
          <a:xfrm>
            <a:off x="548640" y="320040"/>
            <a:ext cx="731520" cy="731520"/>
          </a:xfrm>
          <a:prstGeom prst="ellipse">
            <a:avLst/>
          </a:prstGeom>
          <a:solidFill>
            <a:schemeClr val="accent1"/>
          </a:solidFill>
          <a:ln w="12700">
            <a:solidFill>
              <a:schemeClr val="accent1"/>
            </a:solidFill>
            <a:prstDash val="solid"/>
          </a:ln>
        </p:spPr>
        <p:txBody>
          <a:bodyPr/>
          <a:lstStyle/>
          <a:p>
            <a:endParaRPr lang="fr-FR"/>
          </a:p>
        </p:txBody>
      </p:sp>
      <p:sp>
        <p:nvSpPr>
          <p:cNvPr id="4" name="badge-num-330"/>
          <p:cNvSpPr txBox="1"/>
          <p:nvPr/>
        </p:nvSpPr>
        <p:spPr>
          <a:xfrm>
            <a:off x="548640" y="320040"/>
            <a:ext cx="731520" cy="731520"/>
          </a:xfrm>
          <a:prstGeom prst="rect">
            <a:avLst/>
          </a:prstGeom>
          <a:noFill/>
          <a:ln/>
        </p:spPr>
        <p:txBody>
          <a:bodyPr wrap="square" lIns="0" tIns="0" rIns="0" bIns="0" rtlCol="0" anchor="ctr"/>
          <a:lstStyle/>
          <a:p>
            <a:pPr marL="0" indent="0" algn="ctr">
              <a:buNone/>
            </a:pPr>
            <a:r>
              <a:rPr lang="en-US" sz="2200" b="1" dirty="0">
                <a:solidFill>
                  <a:schemeClr val="tx1"/>
                </a:solidFill>
                <a:latin typeface="Arial" pitchFamily="34" charset="0"/>
                <a:ea typeface="Arial" pitchFamily="34" charset="-122"/>
                <a:cs typeface="Arial" pitchFamily="34" charset="-120"/>
              </a:rPr>
              <a:t>08</a:t>
            </a:r>
            <a:endParaRPr lang="en-US" sz="2200" dirty="0"/>
          </a:p>
        </p:txBody>
      </p:sp>
      <p:sp>
        <p:nvSpPr>
          <p:cNvPr id="5" name="ph-c-331"/>
          <p:cNvSpPr/>
          <p:nvPr/>
        </p:nvSpPr>
        <p:spPr>
          <a:xfrm>
            <a:off x="960120" y="1554480"/>
            <a:ext cx="868680" cy="868680"/>
          </a:xfrm>
          <a:prstGeom prst="ellipse">
            <a:avLst/>
          </a:prstGeom>
          <a:solidFill>
            <a:schemeClr val="accent5"/>
          </a:solidFill>
          <a:ln w="12700">
            <a:solidFill>
              <a:schemeClr val="accent5"/>
            </a:solidFill>
            <a:prstDash val="solid"/>
          </a:ln>
        </p:spPr>
        <p:txBody>
          <a:bodyPr/>
          <a:lstStyle/>
          <a:p>
            <a:endParaRPr lang="fr-FR"/>
          </a:p>
        </p:txBody>
      </p:sp>
      <p:sp>
        <p:nvSpPr>
          <p:cNvPr id="6" name="ph-n-332"/>
          <p:cNvSpPr txBox="1"/>
          <p:nvPr/>
        </p:nvSpPr>
        <p:spPr>
          <a:xfrm>
            <a:off x="960120" y="1554480"/>
            <a:ext cx="868680" cy="868680"/>
          </a:xfrm>
          <a:prstGeom prst="rect">
            <a:avLst/>
          </a:prstGeom>
          <a:noFill/>
          <a:ln/>
        </p:spPr>
        <p:txBody>
          <a:bodyPr wrap="square" lIns="0" tIns="0" rIns="0" bIns="0" rtlCol="0" anchor="ctr"/>
          <a:lstStyle/>
          <a:p>
            <a:pPr marL="0" indent="0" algn="ctr">
              <a:buNone/>
            </a:pPr>
            <a:r>
              <a:rPr lang="en-US" sz="2600" b="1" dirty="0">
                <a:solidFill>
                  <a:schemeClr val="bg1"/>
                </a:solidFill>
              </a:rPr>
              <a:t>1</a:t>
            </a:r>
            <a:endParaRPr lang="en-US" sz="2600" dirty="0"/>
          </a:p>
        </p:txBody>
      </p:sp>
      <p:sp>
        <p:nvSpPr>
          <p:cNvPr id="7" name="arrow-333"/>
          <p:cNvSpPr/>
          <p:nvPr/>
        </p:nvSpPr>
        <p:spPr>
          <a:xfrm>
            <a:off x="1920240" y="1988820"/>
            <a:ext cx="777240" cy="0"/>
          </a:xfrm>
          <a:prstGeom prst="line">
            <a:avLst/>
          </a:prstGeom>
          <a:noFill/>
          <a:ln w="19050">
            <a:solidFill>
              <a:schemeClr val="accent5"/>
            </a:solidFill>
            <a:prstDash val="solid"/>
            <a:tailEnd type="triangle"/>
          </a:ln>
        </p:spPr>
        <p:txBody>
          <a:bodyPr/>
          <a:lstStyle/>
          <a:p>
            <a:endParaRPr lang="fr-FR"/>
          </a:p>
        </p:txBody>
      </p:sp>
      <p:sp>
        <p:nvSpPr>
          <p:cNvPr id="8" name="ph-t-334"/>
          <p:cNvSpPr txBox="1"/>
          <p:nvPr/>
        </p:nvSpPr>
        <p:spPr>
          <a:xfrm>
            <a:off x="548640" y="2606040"/>
            <a:ext cx="1691640" cy="365760"/>
          </a:xfrm>
          <a:prstGeom prst="rect">
            <a:avLst/>
          </a:prstGeom>
          <a:noFill/>
          <a:ln/>
        </p:spPr>
        <p:txBody>
          <a:bodyPr wrap="square" lIns="0" tIns="0" rIns="0" bIns="0" rtlCol="0" anchor="ctr"/>
          <a:lstStyle/>
          <a:p>
            <a:pPr marL="0" indent="0" algn="ctr">
              <a:buNone/>
            </a:pPr>
            <a:r>
              <a:rPr lang="en-US" sz="1600" b="1" dirty="0">
                <a:solidFill>
                  <a:schemeClr val="tx1"/>
                </a:solidFill>
              </a:rPr>
              <a:t>Préparation</a:t>
            </a:r>
            <a:endParaRPr lang="en-US" sz="1600" dirty="0"/>
          </a:p>
        </p:txBody>
      </p:sp>
      <p:sp>
        <p:nvSpPr>
          <p:cNvPr id="9" name="ph-b-335"/>
          <p:cNvSpPr txBox="1"/>
          <p:nvPr/>
        </p:nvSpPr>
        <p:spPr>
          <a:xfrm>
            <a:off x="548640" y="2971800"/>
            <a:ext cx="1691640" cy="822960"/>
          </a:xfrm>
          <a:prstGeom prst="rect">
            <a:avLst/>
          </a:prstGeom>
          <a:noFill/>
          <a:ln/>
        </p:spPr>
        <p:txBody>
          <a:bodyPr wrap="square" lIns="0" tIns="0" rIns="0" bIns="0" rtlCol="0" anchor="t"/>
          <a:lstStyle/>
          <a:p>
            <a:pPr marL="0" indent="0" algn="ctr">
              <a:buNone/>
            </a:pPr>
            <a:r>
              <a:rPr lang="en-US" sz="1300" dirty="0">
                <a:solidFill>
                  <a:schemeClr val="tx2"/>
                </a:solidFill>
              </a:rPr>
              <a:t>Supervision, journaux, playbooks prêts</a:t>
            </a:r>
            <a:endParaRPr lang="en-US" sz="1300" dirty="0"/>
          </a:p>
        </p:txBody>
      </p:sp>
      <p:sp>
        <p:nvSpPr>
          <p:cNvPr id="10" name="ph-c-336"/>
          <p:cNvSpPr/>
          <p:nvPr/>
        </p:nvSpPr>
        <p:spPr>
          <a:xfrm>
            <a:off x="2834640" y="1554480"/>
            <a:ext cx="868680" cy="868680"/>
          </a:xfrm>
          <a:prstGeom prst="ellipse">
            <a:avLst/>
          </a:prstGeom>
          <a:solidFill>
            <a:schemeClr val="accent2"/>
          </a:solidFill>
          <a:ln w="12700">
            <a:solidFill>
              <a:schemeClr val="accent2"/>
            </a:solidFill>
            <a:prstDash val="solid"/>
          </a:ln>
        </p:spPr>
        <p:txBody>
          <a:bodyPr/>
          <a:lstStyle/>
          <a:p>
            <a:endParaRPr lang="fr-FR"/>
          </a:p>
        </p:txBody>
      </p:sp>
      <p:sp>
        <p:nvSpPr>
          <p:cNvPr id="11" name="ph-n-337"/>
          <p:cNvSpPr txBox="1"/>
          <p:nvPr/>
        </p:nvSpPr>
        <p:spPr>
          <a:xfrm>
            <a:off x="2834640" y="1554480"/>
            <a:ext cx="868680" cy="868680"/>
          </a:xfrm>
          <a:prstGeom prst="rect">
            <a:avLst/>
          </a:prstGeom>
          <a:noFill/>
          <a:ln/>
        </p:spPr>
        <p:txBody>
          <a:bodyPr wrap="square" lIns="0" tIns="0" rIns="0" bIns="0" rtlCol="0" anchor="ctr"/>
          <a:lstStyle/>
          <a:p>
            <a:pPr marL="0" indent="0" algn="ctr">
              <a:buNone/>
            </a:pPr>
            <a:r>
              <a:rPr lang="en-US" sz="2600" b="1" dirty="0">
                <a:solidFill>
                  <a:schemeClr val="bg1"/>
                </a:solidFill>
              </a:rPr>
              <a:t>2</a:t>
            </a:r>
            <a:endParaRPr lang="en-US" sz="2600" dirty="0"/>
          </a:p>
        </p:txBody>
      </p:sp>
      <p:sp>
        <p:nvSpPr>
          <p:cNvPr id="12" name="arrow-338"/>
          <p:cNvSpPr/>
          <p:nvPr/>
        </p:nvSpPr>
        <p:spPr>
          <a:xfrm>
            <a:off x="3794760" y="1988820"/>
            <a:ext cx="777240" cy="0"/>
          </a:xfrm>
          <a:prstGeom prst="line">
            <a:avLst/>
          </a:prstGeom>
          <a:noFill/>
          <a:ln w="19050">
            <a:solidFill>
              <a:schemeClr val="accent5"/>
            </a:solidFill>
            <a:prstDash val="solid"/>
            <a:tailEnd type="triangle"/>
          </a:ln>
        </p:spPr>
        <p:txBody>
          <a:bodyPr/>
          <a:lstStyle/>
          <a:p>
            <a:endParaRPr lang="fr-FR"/>
          </a:p>
        </p:txBody>
      </p:sp>
      <p:sp>
        <p:nvSpPr>
          <p:cNvPr id="13" name="ph-t-339"/>
          <p:cNvSpPr txBox="1"/>
          <p:nvPr/>
        </p:nvSpPr>
        <p:spPr>
          <a:xfrm>
            <a:off x="2423160" y="2606040"/>
            <a:ext cx="1691640" cy="365760"/>
          </a:xfrm>
          <a:prstGeom prst="rect">
            <a:avLst/>
          </a:prstGeom>
          <a:noFill/>
          <a:ln/>
        </p:spPr>
        <p:txBody>
          <a:bodyPr wrap="square" lIns="0" tIns="0" rIns="0" bIns="0" rtlCol="0" anchor="ctr"/>
          <a:lstStyle/>
          <a:p>
            <a:pPr marL="0" indent="0" algn="ctr">
              <a:buNone/>
            </a:pPr>
            <a:r>
              <a:rPr lang="en-US" sz="1600" b="1" dirty="0">
                <a:solidFill>
                  <a:schemeClr val="tx1"/>
                </a:solidFill>
              </a:rPr>
              <a:t>Détection</a:t>
            </a:r>
            <a:endParaRPr lang="en-US" sz="1600" dirty="0"/>
          </a:p>
        </p:txBody>
      </p:sp>
      <p:sp>
        <p:nvSpPr>
          <p:cNvPr id="14" name="ph-b-340"/>
          <p:cNvSpPr txBox="1"/>
          <p:nvPr/>
        </p:nvSpPr>
        <p:spPr>
          <a:xfrm>
            <a:off x="2423160" y="2971800"/>
            <a:ext cx="1691640" cy="822960"/>
          </a:xfrm>
          <a:prstGeom prst="rect">
            <a:avLst/>
          </a:prstGeom>
          <a:noFill/>
          <a:ln/>
        </p:spPr>
        <p:txBody>
          <a:bodyPr wrap="square" lIns="0" tIns="0" rIns="0" bIns="0" rtlCol="0" anchor="t"/>
          <a:lstStyle/>
          <a:p>
            <a:pPr marL="0" indent="0" algn="ctr">
              <a:buNone/>
            </a:pPr>
            <a:r>
              <a:rPr lang="en-US" sz="1300" dirty="0">
                <a:solidFill>
                  <a:schemeClr val="tx2"/>
                </a:solidFill>
              </a:rPr>
              <a:t>Zabbix, Watcher, Kibana lèvent l'alerte</a:t>
            </a:r>
            <a:endParaRPr lang="en-US" sz="1300" dirty="0"/>
          </a:p>
        </p:txBody>
      </p:sp>
      <p:sp>
        <p:nvSpPr>
          <p:cNvPr id="15" name="ph-c-341"/>
          <p:cNvSpPr/>
          <p:nvPr/>
        </p:nvSpPr>
        <p:spPr>
          <a:xfrm>
            <a:off x="4709160" y="1554480"/>
            <a:ext cx="868680" cy="868680"/>
          </a:xfrm>
          <a:prstGeom prst="ellipse">
            <a:avLst/>
          </a:prstGeom>
          <a:solidFill>
            <a:schemeClr val="accent4"/>
          </a:solidFill>
          <a:ln w="12700">
            <a:solidFill>
              <a:schemeClr val="accent4"/>
            </a:solidFill>
            <a:prstDash val="solid"/>
          </a:ln>
        </p:spPr>
        <p:txBody>
          <a:bodyPr/>
          <a:lstStyle/>
          <a:p>
            <a:endParaRPr lang="fr-FR"/>
          </a:p>
        </p:txBody>
      </p:sp>
      <p:sp>
        <p:nvSpPr>
          <p:cNvPr id="16" name="ph-n-342"/>
          <p:cNvSpPr txBox="1"/>
          <p:nvPr/>
        </p:nvSpPr>
        <p:spPr>
          <a:xfrm>
            <a:off x="4709160" y="1554480"/>
            <a:ext cx="868680" cy="868680"/>
          </a:xfrm>
          <a:prstGeom prst="rect">
            <a:avLst/>
          </a:prstGeom>
          <a:noFill/>
          <a:ln/>
        </p:spPr>
        <p:txBody>
          <a:bodyPr wrap="square" lIns="0" tIns="0" rIns="0" bIns="0" rtlCol="0" anchor="ctr"/>
          <a:lstStyle/>
          <a:p>
            <a:pPr marL="0" indent="0" algn="ctr">
              <a:buNone/>
            </a:pPr>
            <a:r>
              <a:rPr lang="en-US" sz="2600" b="1" dirty="0">
                <a:solidFill>
                  <a:schemeClr val="bg1"/>
                </a:solidFill>
              </a:rPr>
              <a:t>3</a:t>
            </a:r>
            <a:endParaRPr lang="en-US" sz="2600" dirty="0"/>
          </a:p>
        </p:txBody>
      </p:sp>
      <p:sp>
        <p:nvSpPr>
          <p:cNvPr id="17" name="arrow-343"/>
          <p:cNvSpPr/>
          <p:nvPr/>
        </p:nvSpPr>
        <p:spPr>
          <a:xfrm>
            <a:off x="5669280" y="1988820"/>
            <a:ext cx="777240" cy="0"/>
          </a:xfrm>
          <a:prstGeom prst="line">
            <a:avLst/>
          </a:prstGeom>
          <a:noFill/>
          <a:ln w="19050">
            <a:solidFill>
              <a:schemeClr val="accent5"/>
            </a:solidFill>
            <a:prstDash val="solid"/>
            <a:tailEnd type="triangle"/>
          </a:ln>
        </p:spPr>
        <p:txBody>
          <a:bodyPr/>
          <a:lstStyle/>
          <a:p>
            <a:endParaRPr lang="fr-FR"/>
          </a:p>
        </p:txBody>
      </p:sp>
      <p:sp>
        <p:nvSpPr>
          <p:cNvPr id="18" name="ph-t-344"/>
          <p:cNvSpPr txBox="1"/>
          <p:nvPr/>
        </p:nvSpPr>
        <p:spPr>
          <a:xfrm>
            <a:off x="4297680" y="2606040"/>
            <a:ext cx="1691640" cy="365760"/>
          </a:xfrm>
          <a:prstGeom prst="rect">
            <a:avLst/>
          </a:prstGeom>
          <a:noFill/>
          <a:ln/>
        </p:spPr>
        <p:txBody>
          <a:bodyPr wrap="square" lIns="0" tIns="0" rIns="0" bIns="0" rtlCol="0" anchor="ctr"/>
          <a:lstStyle/>
          <a:p>
            <a:pPr marL="0" indent="0" algn="ctr">
              <a:buNone/>
            </a:pPr>
            <a:r>
              <a:rPr lang="en-US" sz="1600" b="1" dirty="0">
                <a:solidFill>
                  <a:schemeClr val="tx1"/>
                </a:solidFill>
              </a:rPr>
              <a:t>Analyse</a:t>
            </a:r>
            <a:endParaRPr lang="en-US" sz="1600" dirty="0"/>
          </a:p>
        </p:txBody>
      </p:sp>
      <p:sp>
        <p:nvSpPr>
          <p:cNvPr id="19" name="ph-b-345"/>
          <p:cNvSpPr txBox="1"/>
          <p:nvPr/>
        </p:nvSpPr>
        <p:spPr>
          <a:xfrm>
            <a:off x="4297680" y="2971800"/>
            <a:ext cx="1691640" cy="822960"/>
          </a:xfrm>
          <a:prstGeom prst="rect">
            <a:avLst/>
          </a:prstGeom>
          <a:noFill/>
          <a:ln/>
        </p:spPr>
        <p:txBody>
          <a:bodyPr wrap="square" lIns="0" tIns="0" rIns="0" bIns="0" rtlCol="0" anchor="t"/>
          <a:lstStyle/>
          <a:p>
            <a:pPr marL="0" indent="0" algn="ctr">
              <a:buNone/>
            </a:pPr>
            <a:r>
              <a:rPr lang="en-US" sz="1300" dirty="0">
                <a:solidFill>
                  <a:schemeClr val="tx2"/>
                </a:solidFill>
              </a:rPr>
              <a:t>Qualifier : périmètre, gravité, IoC</a:t>
            </a:r>
            <a:endParaRPr lang="en-US" sz="1300" dirty="0"/>
          </a:p>
        </p:txBody>
      </p:sp>
      <p:sp>
        <p:nvSpPr>
          <p:cNvPr id="20" name="ph-c-346"/>
          <p:cNvSpPr/>
          <p:nvPr/>
        </p:nvSpPr>
        <p:spPr>
          <a:xfrm>
            <a:off x="6583680" y="1554480"/>
            <a:ext cx="868680" cy="868680"/>
          </a:xfrm>
          <a:prstGeom prst="ellipse">
            <a:avLst/>
          </a:prstGeom>
          <a:solidFill>
            <a:schemeClr val="accent1"/>
          </a:solidFill>
          <a:ln w="12700">
            <a:solidFill>
              <a:schemeClr val="accent1"/>
            </a:solidFill>
            <a:prstDash val="solid"/>
          </a:ln>
        </p:spPr>
        <p:txBody>
          <a:bodyPr/>
          <a:lstStyle/>
          <a:p>
            <a:endParaRPr lang="fr-FR"/>
          </a:p>
        </p:txBody>
      </p:sp>
      <p:sp>
        <p:nvSpPr>
          <p:cNvPr id="21" name="ph-n-347"/>
          <p:cNvSpPr txBox="1"/>
          <p:nvPr/>
        </p:nvSpPr>
        <p:spPr>
          <a:xfrm>
            <a:off x="6583680" y="1554480"/>
            <a:ext cx="868680" cy="868680"/>
          </a:xfrm>
          <a:prstGeom prst="rect">
            <a:avLst/>
          </a:prstGeom>
          <a:noFill/>
          <a:ln/>
        </p:spPr>
        <p:txBody>
          <a:bodyPr wrap="square" lIns="0" tIns="0" rIns="0" bIns="0" rtlCol="0" anchor="ctr"/>
          <a:lstStyle/>
          <a:p>
            <a:pPr marL="0" indent="0" algn="ctr">
              <a:buNone/>
            </a:pPr>
            <a:r>
              <a:rPr lang="en-US" sz="2600" b="1" dirty="0">
                <a:solidFill>
                  <a:schemeClr val="bg1"/>
                </a:solidFill>
              </a:rPr>
              <a:t>4</a:t>
            </a:r>
            <a:endParaRPr lang="en-US" sz="2600" dirty="0"/>
          </a:p>
        </p:txBody>
      </p:sp>
      <p:sp>
        <p:nvSpPr>
          <p:cNvPr id="22" name="arrow-348"/>
          <p:cNvSpPr/>
          <p:nvPr/>
        </p:nvSpPr>
        <p:spPr>
          <a:xfrm>
            <a:off x="7543800" y="1988820"/>
            <a:ext cx="777240" cy="0"/>
          </a:xfrm>
          <a:prstGeom prst="line">
            <a:avLst/>
          </a:prstGeom>
          <a:noFill/>
          <a:ln w="19050">
            <a:solidFill>
              <a:schemeClr val="accent5"/>
            </a:solidFill>
            <a:prstDash val="solid"/>
            <a:tailEnd type="triangle"/>
          </a:ln>
        </p:spPr>
        <p:txBody>
          <a:bodyPr/>
          <a:lstStyle/>
          <a:p>
            <a:endParaRPr lang="fr-FR"/>
          </a:p>
        </p:txBody>
      </p:sp>
      <p:sp>
        <p:nvSpPr>
          <p:cNvPr id="23" name="ph-t-349"/>
          <p:cNvSpPr txBox="1"/>
          <p:nvPr/>
        </p:nvSpPr>
        <p:spPr>
          <a:xfrm>
            <a:off x="6172200" y="2606040"/>
            <a:ext cx="1691640" cy="365760"/>
          </a:xfrm>
          <a:prstGeom prst="rect">
            <a:avLst/>
          </a:prstGeom>
          <a:noFill/>
          <a:ln/>
        </p:spPr>
        <p:txBody>
          <a:bodyPr wrap="square" lIns="0" tIns="0" rIns="0" bIns="0" rtlCol="0" anchor="ctr"/>
          <a:lstStyle/>
          <a:p>
            <a:pPr marL="0" indent="0" algn="ctr">
              <a:buNone/>
            </a:pPr>
            <a:r>
              <a:rPr lang="en-US" sz="1600" b="1" dirty="0">
                <a:solidFill>
                  <a:schemeClr val="tx1"/>
                </a:solidFill>
              </a:rPr>
              <a:t>Confinement</a:t>
            </a:r>
            <a:endParaRPr lang="en-US" sz="1600" dirty="0"/>
          </a:p>
        </p:txBody>
      </p:sp>
      <p:sp>
        <p:nvSpPr>
          <p:cNvPr id="24" name="ph-b-350"/>
          <p:cNvSpPr txBox="1"/>
          <p:nvPr/>
        </p:nvSpPr>
        <p:spPr>
          <a:xfrm>
            <a:off x="6172200" y="2971800"/>
            <a:ext cx="1691640" cy="822960"/>
          </a:xfrm>
          <a:prstGeom prst="rect">
            <a:avLst/>
          </a:prstGeom>
          <a:noFill/>
          <a:ln/>
        </p:spPr>
        <p:txBody>
          <a:bodyPr wrap="square" lIns="0" tIns="0" rIns="0" bIns="0" rtlCol="0" anchor="t"/>
          <a:lstStyle/>
          <a:p>
            <a:pPr marL="0" indent="0" algn="ctr">
              <a:buNone/>
            </a:pPr>
            <a:r>
              <a:rPr lang="en-US" sz="1300" dirty="0">
                <a:solidFill>
                  <a:schemeClr val="tx2"/>
                </a:solidFill>
              </a:rPr>
              <a:t>Isoler la source, limiter l'impact</a:t>
            </a:r>
            <a:endParaRPr lang="en-US" sz="1300" dirty="0"/>
          </a:p>
        </p:txBody>
      </p:sp>
      <p:sp>
        <p:nvSpPr>
          <p:cNvPr id="25" name="ph-c-351"/>
          <p:cNvSpPr/>
          <p:nvPr/>
        </p:nvSpPr>
        <p:spPr>
          <a:xfrm>
            <a:off x="8458200" y="1554480"/>
            <a:ext cx="868680" cy="868680"/>
          </a:xfrm>
          <a:prstGeom prst="ellipse">
            <a:avLst/>
          </a:prstGeom>
          <a:solidFill>
            <a:schemeClr val="accent3"/>
          </a:solidFill>
          <a:ln w="12700">
            <a:solidFill>
              <a:schemeClr val="accent3"/>
            </a:solidFill>
            <a:prstDash val="solid"/>
          </a:ln>
        </p:spPr>
        <p:txBody>
          <a:bodyPr/>
          <a:lstStyle/>
          <a:p>
            <a:endParaRPr lang="fr-FR"/>
          </a:p>
        </p:txBody>
      </p:sp>
      <p:sp>
        <p:nvSpPr>
          <p:cNvPr id="26" name="ph-n-352"/>
          <p:cNvSpPr txBox="1"/>
          <p:nvPr/>
        </p:nvSpPr>
        <p:spPr>
          <a:xfrm>
            <a:off x="8458200" y="1554480"/>
            <a:ext cx="868680" cy="868680"/>
          </a:xfrm>
          <a:prstGeom prst="rect">
            <a:avLst/>
          </a:prstGeom>
          <a:noFill/>
          <a:ln/>
        </p:spPr>
        <p:txBody>
          <a:bodyPr wrap="square" lIns="0" tIns="0" rIns="0" bIns="0" rtlCol="0" anchor="ctr"/>
          <a:lstStyle/>
          <a:p>
            <a:pPr marL="0" indent="0" algn="ctr">
              <a:buNone/>
            </a:pPr>
            <a:r>
              <a:rPr lang="en-US" sz="2600" b="1" dirty="0">
                <a:solidFill>
                  <a:schemeClr val="bg1"/>
                </a:solidFill>
              </a:rPr>
              <a:t>5</a:t>
            </a:r>
            <a:endParaRPr lang="en-US" sz="2600" dirty="0"/>
          </a:p>
        </p:txBody>
      </p:sp>
      <p:sp>
        <p:nvSpPr>
          <p:cNvPr id="27" name="arrow-353"/>
          <p:cNvSpPr/>
          <p:nvPr/>
        </p:nvSpPr>
        <p:spPr>
          <a:xfrm>
            <a:off x="9418320" y="1988820"/>
            <a:ext cx="777240" cy="0"/>
          </a:xfrm>
          <a:prstGeom prst="line">
            <a:avLst/>
          </a:prstGeom>
          <a:noFill/>
          <a:ln w="19050">
            <a:solidFill>
              <a:schemeClr val="accent5"/>
            </a:solidFill>
            <a:prstDash val="solid"/>
            <a:tailEnd type="triangle"/>
          </a:ln>
        </p:spPr>
        <p:txBody>
          <a:bodyPr/>
          <a:lstStyle/>
          <a:p>
            <a:endParaRPr lang="fr-FR"/>
          </a:p>
        </p:txBody>
      </p:sp>
      <p:sp>
        <p:nvSpPr>
          <p:cNvPr id="28" name="ph-t-354"/>
          <p:cNvSpPr txBox="1"/>
          <p:nvPr/>
        </p:nvSpPr>
        <p:spPr>
          <a:xfrm>
            <a:off x="8046720" y="2606040"/>
            <a:ext cx="1691640" cy="365760"/>
          </a:xfrm>
          <a:prstGeom prst="rect">
            <a:avLst/>
          </a:prstGeom>
          <a:noFill/>
          <a:ln/>
        </p:spPr>
        <p:txBody>
          <a:bodyPr wrap="square" lIns="0" tIns="0" rIns="0" bIns="0" rtlCol="0" anchor="ctr"/>
          <a:lstStyle/>
          <a:p>
            <a:pPr marL="0" indent="0" algn="ctr">
              <a:buNone/>
            </a:pPr>
            <a:r>
              <a:rPr lang="en-US" sz="1600" b="1" dirty="0">
                <a:solidFill>
                  <a:schemeClr val="tx1"/>
                </a:solidFill>
              </a:rPr>
              <a:t>Éradication</a:t>
            </a:r>
            <a:endParaRPr lang="en-US" sz="1600" dirty="0"/>
          </a:p>
        </p:txBody>
      </p:sp>
      <p:sp>
        <p:nvSpPr>
          <p:cNvPr id="29" name="ph-b-355"/>
          <p:cNvSpPr txBox="1"/>
          <p:nvPr/>
        </p:nvSpPr>
        <p:spPr>
          <a:xfrm>
            <a:off x="8046720" y="2971800"/>
            <a:ext cx="1691640" cy="822960"/>
          </a:xfrm>
          <a:prstGeom prst="rect">
            <a:avLst/>
          </a:prstGeom>
          <a:noFill/>
          <a:ln/>
        </p:spPr>
        <p:txBody>
          <a:bodyPr wrap="square" lIns="0" tIns="0" rIns="0" bIns="0" rtlCol="0" anchor="t"/>
          <a:lstStyle/>
          <a:p>
            <a:pPr marL="0" indent="0" algn="ctr">
              <a:buNone/>
            </a:pPr>
            <a:r>
              <a:rPr lang="en-US" sz="1300" dirty="0">
                <a:solidFill>
                  <a:schemeClr val="tx2"/>
                </a:solidFill>
              </a:rPr>
              <a:t>Supprimer la cause, corriger</a:t>
            </a:r>
            <a:endParaRPr lang="en-US" sz="1300" dirty="0"/>
          </a:p>
        </p:txBody>
      </p:sp>
      <p:sp>
        <p:nvSpPr>
          <p:cNvPr id="30" name="ph-c-356"/>
          <p:cNvSpPr/>
          <p:nvPr/>
        </p:nvSpPr>
        <p:spPr>
          <a:xfrm>
            <a:off x="10332720" y="1554480"/>
            <a:ext cx="868680" cy="868680"/>
          </a:xfrm>
          <a:prstGeom prst="ellipse">
            <a:avLst/>
          </a:prstGeom>
          <a:solidFill>
            <a:schemeClr val="accent6"/>
          </a:solidFill>
          <a:ln w="12700">
            <a:solidFill>
              <a:schemeClr val="accent6"/>
            </a:solidFill>
            <a:prstDash val="solid"/>
          </a:ln>
        </p:spPr>
        <p:txBody>
          <a:bodyPr/>
          <a:lstStyle/>
          <a:p>
            <a:endParaRPr lang="fr-FR"/>
          </a:p>
        </p:txBody>
      </p:sp>
      <p:sp>
        <p:nvSpPr>
          <p:cNvPr id="31" name="ph-n-357"/>
          <p:cNvSpPr txBox="1"/>
          <p:nvPr/>
        </p:nvSpPr>
        <p:spPr>
          <a:xfrm>
            <a:off x="10332720" y="1554480"/>
            <a:ext cx="868680" cy="868680"/>
          </a:xfrm>
          <a:prstGeom prst="rect">
            <a:avLst/>
          </a:prstGeom>
          <a:noFill/>
          <a:ln/>
        </p:spPr>
        <p:txBody>
          <a:bodyPr wrap="square" lIns="0" tIns="0" rIns="0" bIns="0" rtlCol="0" anchor="ctr"/>
          <a:lstStyle/>
          <a:p>
            <a:pPr marL="0" indent="0" algn="ctr">
              <a:buNone/>
            </a:pPr>
            <a:r>
              <a:rPr lang="en-US" sz="2600" b="1" dirty="0">
                <a:solidFill>
                  <a:schemeClr val="bg1"/>
                </a:solidFill>
              </a:rPr>
              <a:t>6</a:t>
            </a:r>
            <a:endParaRPr lang="en-US" sz="2600" dirty="0"/>
          </a:p>
        </p:txBody>
      </p:sp>
      <p:sp>
        <p:nvSpPr>
          <p:cNvPr id="32" name="ph-t-358"/>
          <p:cNvSpPr txBox="1"/>
          <p:nvPr/>
        </p:nvSpPr>
        <p:spPr>
          <a:xfrm>
            <a:off x="9921240" y="2606040"/>
            <a:ext cx="1691640" cy="365760"/>
          </a:xfrm>
          <a:prstGeom prst="rect">
            <a:avLst/>
          </a:prstGeom>
          <a:noFill/>
          <a:ln/>
        </p:spPr>
        <p:txBody>
          <a:bodyPr wrap="square" lIns="0" tIns="0" rIns="0" bIns="0" rtlCol="0" anchor="ctr"/>
          <a:lstStyle/>
          <a:p>
            <a:pPr marL="0" indent="0" algn="ctr">
              <a:buNone/>
            </a:pPr>
            <a:r>
              <a:rPr lang="en-US" sz="1600" b="1" dirty="0">
                <a:solidFill>
                  <a:schemeClr val="tx1"/>
                </a:solidFill>
              </a:rPr>
              <a:t>Récupération</a:t>
            </a:r>
            <a:endParaRPr lang="en-US" sz="1600" dirty="0"/>
          </a:p>
        </p:txBody>
      </p:sp>
      <p:sp>
        <p:nvSpPr>
          <p:cNvPr id="33" name="ph-b-359"/>
          <p:cNvSpPr txBox="1"/>
          <p:nvPr/>
        </p:nvSpPr>
        <p:spPr>
          <a:xfrm>
            <a:off x="9921240" y="2971800"/>
            <a:ext cx="1691640" cy="822960"/>
          </a:xfrm>
          <a:prstGeom prst="rect">
            <a:avLst/>
          </a:prstGeom>
          <a:noFill/>
          <a:ln/>
        </p:spPr>
        <p:txBody>
          <a:bodyPr wrap="square" lIns="0" tIns="0" rIns="0" bIns="0" rtlCol="0" anchor="t"/>
          <a:lstStyle/>
          <a:p>
            <a:pPr marL="0" indent="0" algn="ctr">
              <a:buNone/>
            </a:pPr>
            <a:r>
              <a:rPr lang="en-US" sz="1300" dirty="0">
                <a:solidFill>
                  <a:schemeClr val="tx2"/>
                </a:solidFill>
              </a:rPr>
              <a:t>Restaurer, surveiller, clore + REX</a:t>
            </a:r>
            <a:endParaRPr lang="en-US" sz="1300" dirty="0"/>
          </a:p>
        </p:txBody>
      </p:sp>
      <p:sp>
        <p:nvSpPr>
          <p:cNvPr id="34" name="card-360"/>
          <p:cNvSpPr/>
          <p:nvPr/>
        </p:nvSpPr>
        <p:spPr>
          <a:xfrm>
            <a:off x="548640" y="4206240"/>
            <a:ext cx="11064240" cy="2057400"/>
          </a:xfrm>
          <a:prstGeom prst="roundRect">
            <a:avLst>
              <a:gd name="adj" fmla="val 3556"/>
            </a:avLst>
          </a:prstGeom>
          <a:solidFill>
            <a:schemeClr val="bg2"/>
          </a:solidFill>
          <a:ln w="9525">
            <a:solidFill>
              <a:srgbClr val="D6DEEA"/>
            </a:solidFill>
            <a:prstDash val="solid"/>
          </a:ln>
        </p:spPr>
        <p:txBody>
          <a:bodyPr/>
          <a:lstStyle/>
          <a:p>
            <a:endParaRPr lang="fr-FR"/>
          </a:p>
        </p:txBody>
      </p:sp>
      <p:sp>
        <p:nvSpPr>
          <p:cNvPr id="35" name="card-t-361"/>
          <p:cNvSpPr txBox="1"/>
          <p:nvPr/>
        </p:nvSpPr>
        <p:spPr>
          <a:xfrm>
            <a:off x="731520" y="4343400"/>
            <a:ext cx="10698480" cy="365760"/>
          </a:xfrm>
          <a:prstGeom prst="rect">
            <a:avLst/>
          </a:prstGeom>
          <a:noFill/>
          <a:ln/>
        </p:spPr>
        <p:txBody>
          <a:bodyPr wrap="square" lIns="0" tIns="0" rIns="0" bIns="0" rtlCol="0" anchor="ctr"/>
          <a:lstStyle/>
          <a:p>
            <a:pPr marL="0" indent="0">
              <a:buNone/>
            </a:pPr>
            <a:r>
              <a:rPr lang="en-US" sz="1600" b="1" dirty="0">
                <a:solidFill>
                  <a:schemeClr val="tx1"/>
                </a:solidFill>
              </a:rPr>
              <a:t>Structure commune de chaque playbook</a:t>
            </a:r>
            <a:endParaRPr lang="en-US" sz="1600" dirty="0"/>
          </a:p>
        </p:txBody>
      </p:sp>
      <p:sp>
        <p:nvSpPr>
          <p:cNvPr id="36" name="card-b-362"/>
          <p:cNvSpPr txBox="1"/>
          <p:nvPr/>
        </p:nvSpPr>
        <p:spPr>
          <a:xfrm>
            <a:off x="731520" y="4754880"/>
            <a:ext cx="10698480" cy="1371600"/>
          </a:xfrm>
          <a:prstGeom prst="rect">
            <a:avLst/>
          </a:prstGeom>
          <a:noFill/>
          <a:ln/>
        </p:spPr>
        <p:txBody>
          <a:bodyPr wrap="square" lIns="0" tIns="0" rIns="0" bIns="0" rtlCol="0" anchor="t"/>
          <a:lstStyle/>
          <a:p>
            <a:pPr marL="0" indent="0">
              <a:spcAft>
                <a:spcPts val="400"/>
              </a:spcAft>
              <a:buNone/>
            </a:pPr>
            <a:r>
              <a:rPr lang="en-US" sz="1500" dirty="0">
                <a:solidFill>
                  <a:schemeClr val="tx1"/>
                </a:solidFill>
              </a:rPr>
              <a:t>Scénario et menace · signaux de détection (outil + règle) · critères de gravité · actions par phase avec responsable · preuves à conserver · conditions de clôture. Chaque playbook se traduit en un cas TheHive avec ses tâches (mission 09).</a:t>
            </a:r>
            <a:endParaRPr lang="en-US" sz="1500" dirty="0"/>
          </a:p>
        </p:txBody>
      </p:sp>
      <p:sp>
        <p:nvSpPr>
          <p:cNvPr id="3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08760" y="320040"/>
            <a:ext cx="1010412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Playbook 1 · Intrusion des Borgs</a:t>
            </a:r>
            <a:endParaRPr lang="en-US" sz="3000" dirty="0"/>
          </a:p>
        </p:txBody>
      </p:sp>
      <p:sp>
        <p:nvSpPr>
          <p:cNvPr id="3" name="badge-363"/>
          <p:cNvSpPr/>
          <p:nvPr/>
        </p:nvSpPr>
        <p:spPr>
          <a:xfrm>
            <a:off x="548640" y="320040"/>
            <a:ext cx="731520" cy="731520"/>
          </a:xfrm>
          <a:prstGeom prst="ellipse">
            <a:avLst/>
          </a:prstGeom>
          <a:solidFill>
            <a:schemeClr val="accent1"/>
          </a:solidFill>
          <a:ln w="12700">
            <a:solidFill>
              <a:schemeClr val="accent1"/>
            </a:solidFill>
            <a:prstDash val="solid"/>
          </a:ln>
        </p:spPr>
        <p:txBody>
          <a:bodyPr/>
          <a:lstStyle/>
          <a:p>
            <a:endParaRPr lang="fr-FR"/>
          </a:p>
        </p:txBody>
      </p:sp>
      <p:sp>
        <p:nvSpPr>
          <p:cNvPr id="4" name="badge-num-364"/>
          <p:cNvSpPr txBox="1"/>
          <p:nvPr/>
        </p:nvSpPr>
        <p:spPr>
          <a:xfrm>
            <a:off x="548640" y="320040"/>
            <a:ext cx="731520" cy="731520"/>
          </a:xfrm>
          <a:prstGeom prst="rect">
            <a:avLst/>
          </a:prstGeom>
          <a:noFill/>
          <a:ln/>
        </p:spPr>
        <p:txBody>
          <a:bodyPr wrap="square" lIns="0" tIns="0" rIns="0" bIns="0" rtlCol="0" anchor="ctr"/>
          <a:lstStyle/>
          <a:p>
            <a:pPr marL="0" indent="0" algn="ctr">
              <a:buNone/>
            </a:pPr>
            <a:r>
              <a:rPr lang="en-US" sz="2200" b="1" dirty="0">
                <a:solidFill>
                  <a:schemeClr val="tx1"/>
                </a:solidFill>
                <a:latin typeface="Arial" pitchFamily="34" charset="0"/>
                <a:ea typeface="Arial" pitchFamily="34" charset="-122"/>
                <a:cs typeface="Arial" pitchFamily="34" charset="-120"/>
              </a:rPr>
              <a:t>08</a:t>
            </a:r>
            <a:endParaRPr lang="en-US" sz="2200" dirty="0"/>
          </a:p>
        </p:txBody>
      </p:sp>
      <p:sp>
        <p:nvSpPr>
          <p:cNvPr id="5" name="pb-h-365"/>
          <p:cNvSpPr/>
          <p:nvPr/>
        </p:nvSpPr>
        <p:spPr>
          <a:xfrm>
            <a:off x="548640" y="1280160"/>
            <a:ext cx="11064240" cy="1143000"/>
          </a:xfrm>
          <a:prstGeom prst="roundRect">
            <a:avLst>
              <a:gd name="adj" fmla="val 6400"/>
            </a:avLst>
          </a:prstGeom>
          <a:solidFill>
            <a:schemeClr val="tx1"/>
          </a:solidFill>
          <a:ln w="12700">
            <a:solidFill>
              <a:schemeClr val="tx1"/>
            </a:solidFill>
            <a:prstDash val="solid"/>
          </a:ln>
        </p:spPr>
        <p:txBody>
          <a:bodyPr/>
          <a:lstStyle/>
          <a:p>
            <a:endParaRPr lang="fr-FR"/>
          </a:p>
        </p:txBody>
      </p:sp>
      <p:sp>
        <p:nvSpPr>
          <p:cNvPr id="6" name="pb-ht-366"/>
          <p:cNvSpPr txBox="1"/>
          <p:nvPr/>
        </p:nvSpPr>
        <p:spPr>
          <a:xfrm>
            <a:off x="777240" y="1280160"/>
            <a:ext cx="10607040" cy="1143000"/>
          </a:xfrm>
          <a:prstGeom prst="rect">
            <a:avLst/>
          </a:prstGeom>
          <a:noFill/>
          <a:ln/>
        </p:spPr>
        <p:txBody>
          <a:bodyPr wrap="square" lIns="0" tIns="0" rIns="0" bIns="0" rtlCol="0" anchor="ctr"/>
          <a:lstStyle/>
          <a:p>
            <a:pPr marL="0" indent="0">
              <a:buNone/>
            </a:pPr>
            <a:r>
              <a:rPr lang="en-US" sz="1400" b="1" dirty="0">
                <a:solidFill>
                  <a:schemeClr val="accent3"/>
                </a:solidFill>
              </a:rPr>
              <a:t>Menace  </a:t>
            </a:r>
            <a:r>
              <a:rPr lang="en-US" sz="1400" dirty="0">
                <a:solidFill>
                  <a:schemeClr val="bg1"/>
                </a:solidFill>
              </a:rPr>
              <a:t>un nœud interne compromis cartographie le réseau avant une propagation latérale</a:t>
            </a:r>
            <a:endParaRPr lang="en-US" sz="1400" dirty="0"/>
          </a:p>
          <a:p>
            <a:pPr marL="0" indent="0">
              <a:buNone/>
            </a:pPr>
            <a:r>
              <a:rPr lang="en-US" sz="1400" b="1" dirty="0">
                <a:solidFill>
                  <a:schemeClr val="accent3"/>
                </a:solidFill>
              </a:rPr>
              <a:t>Détection  </a:t>
            </a:r>
            <a:r>
              <a:rPr lang="en-US" sz="1400" dirty="0">
                <a:solidFill>
                  <a:schemeClr val="bg1"/>
                </a:solidFill>
              </a:rPr>
              <a:t>Watcher « scan-ports » (&gt; 20 ports distincts en 2 min) · ICMP anormal dans Kibana</a:t>
            </a:r>
            <a:endParaRPr lang="en-US" sz="1400" dirty="0"/>
          </a:p>
        </p:txBody>
      </p:sp>
      <p:sp>
        <p:nvSpPr>
          <p:cNvPr id="7" name="pb-c-367"/>
          <p:cNvSpPr/>
          <p:nvPr/>
        </p:nvSpPr>
        <p:spPr>
          <a:xfrm>
            <a:off x="548640" y="2651760"/>
            <a:ext cx="3566160" cy="3611880"/>
          </a:xfrm>
          <a:prstGeom prst="roundRect">
            <a:avLst>
              <a:gd name="adj" fmla="val 2051"/>
            </a:avLst>
          </a:prstGeom>
          <a:solidFill>
            <a:schemeClr val="bg2"/>
          </a:solidFill>
          <a:ln w="9525">
            <a:solidFill>
              <a:srgbClr val="D6DEEA"/>
            </a:solidFill>
            <a:prstDash val="solid"/>
          </a:ln>
        </p:spPr>
        <p:txBody>
          <a:bodyPr/>
          <a:lstStyle/>
          <a:p>
            <a:endParaRPr lang="fr-FR"/>
          </a:p>
        </p:txBody>
      </p:sp>
      <p:sp>
        <p:nvSpPr>
          <p:cNvPr id="8" name="pb-d-368"/>
          <p:cNvSpPr/>
          <p:nvPr/>
        </p:nvSpPr>
        <p:spPr>
          <a:xfrm>
            <a:off x="731520" y="2834640"/>
            <a:ext cx="384048" cy="384048"/>
          </a:xfrm>
          <a:prstGeom prst="ellipse">
            <a:avLst/>
          </a:prstGeom>
          <a:solidFill>
            <a:schemeClr val="accent1"/>
          </a:solidFill>
          <a:ln w="12700">
            <a:solidFill>
              <a:schemeClr val="accent1"/>
            </a:solidFill>
            <a:prstDash val="solid"/>
          </a:ln>
        </p:spPr>
        <p:txBody>
          <a:bodyPr/>
          <a:lstStyle/>
          <a:p>
            <a:endParaRPr lang="fr-FR"/>
          </a:p>
        </p:txBody>
      </p:sp>
      <p:sp>
        <p:nvSpPr>
          <p:cNvPr id="9" name="pb-t-369"/>
          <p:cNvSpPr txBox="1"/>
          <p:nvPr/>
        </p:nvSpPr>
        <p:spPr>
          <a:xfrm>
            <a:off x="1234440" y="2834640"/>
            <a:ext cx="2697480" cy="384048"/>
          </a:xfrm>
          <a:prstGeom prst="rect">
            <a:avLst/>
          </a:prstGeom>
          <a:noFill/>
          <a:ln/>
        </p:spPr>
        <p:txBody>
          <a:bodyPr wrap="square" lIns="0" tIns="0" rIns="0" bIns="0" rtlCol="0" anchor="ctr"/>
          <a:lstStyle/>
          <a:p>
            <a:pPr marL="0" indent="0">
              <a:buNone/>
            </a:pPr>
            <a:r>
              <a:rPr lang="en-US" sz="1800" b="1" dirty="0">
                <a:solidFill>
                  <a:schemeClr val="tx1"/>
                </a:solidFill>
              </a:rPr>
              <a:t>Contenir</a:t>
            </a:r>
            <a:endParaRPr lang="en-US" sz="1800" dirty="0"/>
          </a:p>
        </p:txBody>
      </p:sp>
      <p:sp>
        <p:nvSpPr>
          <p:cNvPr id="10" name="pb-b-370"/>
          <p:cNvSpPr txBox="1"/>
          <p:nvPr/>
        </p:nvSpPr>
        <p:spPr>
          <a:xfrm>
            <a:off x="731520" y="3429000"/>
            <a:ext cx="3200400" cy="269748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chemeClr val="tx1"/>
                </a:solidFill>
              </a:rPr>
              <a:t>Isoler la VM source (carte réseau déconnectée dans VMware ou iptables DROP)</a:t>
            </a:r>
            <a:endParaRPr lang="en-US" sz="1300" dirty="0"/>
          </a:p>
          <a:p>
            <a:pPr marL="152400" indent="-152400">
              <a:spcAft>
                <a:spcPts val="600"/>
              </a:spcAft>
              <a:buSzPct val="100000"/>
              <a:buChar char="•"/>
            </a:pPr>
            <a:r>
              <a:rPr lang="en-US" sz="1300" dirty="0">
                <a:solidFill>
                  <a:schemeClr val="tx1"/>
                </a:solidFill>
              </a:rPr>
              <a:t>Bloquer l'IP 172.16.0.40 sur les cibles</a:t>
            </a:r>
            <a:endParaRPr lang="en-US" sz="1300" dirty="0"/>
          </a:p>
          <a:p>
            <a:pPr marL="152400" indent="-152400">
              <a:spcAft>
                <a:spcPts val="600"/>
              </a:spcAft>
              <a:buSzPct val="100000"/>
              <a:buChar char="•"/>
            </a:pPr>
            <a:r>
              <a:rPr lang="en-US" sz="1300" dirty="0">
                <a:solidFill>
                  <a:schemeClr val="tx1"/>
                </a:solidFill>
              </a:rPr>
              <a:t>Snapshot de la VM pour l'enquête</a:t>
            </a:r>
            <a:endParaRPr lang="en-US" sz="1300" dirty="0"/>
          </a:p>
          <a:p>
            <a:pPr marL="152400" indent="-152400">
              <a:spcAft>
                <a:spcPts val="600"/>
              </a:spcAft>
              <a:buSzPct val="100000"/>
              <a:buChar char="•"/>
            </a:pPr>
            <a:r>
              <a:rPr lang="en-US" sz="1300" dirty="0">
                <a:solidFill>
                  <a:schemeClr val="tx1"/>
                </a:solidFill>
              </a:rPr>
              <a:t>Ouvrir un cas TheHive, sévérité haute</a:t>
            </a:r>
            <a:endParaRPr lang="en-US" sz="1300" dirty="0"/>
          </a:p>
        </p:txBody>
      </p:sp>
      <p:sp>
        <p:nvSpPr>
          <p:cNvPr id="11" name="pb-c-371"/>
          <p:cNvSpPr/>
          <p:nvPr/>
        </p:nvSpPr>
        <p:spPr>
          <a:xfrm>
            <a:off x="4297680" y="2651760"/>
            <a:ext cx="3566160" cy="3611880"/>
          </a:xfrm>
          <a:prstGeom prst="roundRect">
            <a:avLst>
              <a:gd name="adj" fmla="val 2051"/>
            </a:avLst>
          </a:prstGeom>
          <a:solidFill>
            <a:schemeClr val="bg2"/>
          </a:solidFill>
          <a:ln w="9525">
            <a:solidFill>
              <a:srgbClr val="D6DEEA"/>
            </a:solidFill>
            <a:prstDash val="solid"/>
          </a:ln>
        </p:spPr>
        <p:txBody>
          <a:bodyPr/>
          <a:lstStyle/>
          <a:p>
            <a:endParaRPr lang="fr-FR"/>
          </a:p>
        </p:txBody>
      </p:sp>
      <p:sp>
        <p:nvSpPr>
          <p:cNvPr id="12" name="pb-d-372"/>
          <p:cNvSpPr/>
          <p:nvPr/>
        </p:nvSpPr>
        <p:spPr>
          <a:xfrm>
            <a:off x="4480560" y="2834640"/>
            <a:ext cx="384048" cy="384048"/>
          </a:xfrm>
          <a:prstGeom prst="ellipse">
            <a:avLst/>
          </a:prstGeom>
          <a:solidFill>
            <a:schemeClr val="accent3"/>
          </a:solidFill>
          <a:ln w="12700">
            <a:solidFill>
              <a:schemeClr val="accent3"/>
            </a:solidFill>
            <a:prstDash val="solid"/>
          </a:ln>
        </p:spPr>
        <p:txBody>
          <a:bodyPr/>
          <a:lstStyle/>
          <a:p>
            <a:endParaRPr lang="fr-FR"/>
          </a:p>
        </p:txBody>
      </p:sp>
      <p:sp>
        <p:nvSpPr>
          <p:cNvPr id="13" name="pb-t-373"/>
          <p:cNvSpPr txBox="1"/>
          <p:nvPr/>
        </p:nvSpPr>
        <p:spPr>
          <a:xfrm>
            <a:off x="4983480" y="2834640"/>
            <a:ext cx="2697480" cy="384048"/>
          </a:xfrm>
          <a:prstGeom prst="rect">
            <a:avLst/>
          </a:prstGeom>
          <a:noFill/>
          <a:ln/>
        </p:spPr>
        <p:txBody>
          <a:bodyPr wrap="square" lIns="0" tIns="0" rIns="0" bIns="0" rtlCol="0" anchor="ctr"/>
          <a:lstStyle/>
          <a:p>
            <a:pPr marL="0" indent="0">
              <a:buNone/>
            </a:pPr>
            <a:r>
              <a:rPr lang="en-US" sz="1800" b="1" dirty="0">
                <a:solidFill>
                  <a:schemeClr val="tx1"/>
                </a:solidFill>
              </a:rPr>
              <a:t>Éradiquer</a:t>
            </a:r>
            <a:endParaRPr lang="en-US" sz="1800" dirty="0"/>
          </a:p>
        </p:txBody>
      </p:sp>
      <p:sp>
        <p:nvSpPr>
          <p:cNvPr id="14" name="pb-b-374"/>
          <p:cNvSpPr txBox="1"/>
          <p:nvPr/>
        </p:nvSpPr>
        <p:spPr>
          <a:xfrm>
            <a:off x="4480560" y="3429000"/>
            <a:ext cx="3200400" cy="269748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chemeClr val="tx1"/>
                </a:solidFill>
              </a:rPr>
              <a:t>Identifier le processus et le compte à l'origine du scan</a:t>
            </a:r>
            <a:endParaRPr lang="en-US" sz="1300" dirty="0"/>
          </a:p>
          <a:p>
            <a:pPr marL="152400" indent="-152400">
              <a:spcAft>
                <a:spcPts val="600"/>
              </a:spcAft>
              <a:buSzPct val="100000"/>
              <a:buChar char="•"/>
            </a:pPr>
            <a:r>
              <a:rPr lang="en-US" sz="1300" dirty="0">
                <a:solidFill>
                  <a:schemeClr val="tx1"/>
                </a:solidFill>
              </a:rPr>
              <a:t>Supprimer l'outil, révoquer clés SSH et mots de passe</a:t>
            </a:r>
            <a:endParaRPr lang="en-US" sz="1300" dirty="0"/>
          </a:p>
          <a:p>
            <a:pPr marL="152400" indent="-152400">
              <a:spcAft>
                <a:spcPts val="600"/>
              </a:spcAft>
              <a:buSzPct val="100000"/>
              <a:buChar char="•"/>
            </a:pPr>
            <a:r>
              <a:rPr lang="en-US" sz="1300" dirty="0">
                <a:solidFill>
                  <a:schemeClr val="tx1"/>
                </a:solidFill>
              </a:rPr>
              <a:t>Rechercher le même IoC sur les autres VM (Kibana)</a:t>
            </a:r>
            <a:endParaRPr lang="en-US" sz="1300" dirty="0"/>
          </a:p>
          <a:p>
            <a:pPr marL="152400" indent="-152400">
              <a:spcAft>
                <a:spcPts val="600"/>
              </a:spcAft>
              <a:buSzPct val="100000"/>
              <a:buChar char="•"/>
            </a:pPr>
            <a:r>
              <a:rPr lang="en-US" sz="1300" dirty="0">
                <a:solidFill>
                  <a:schemeClr val="tx1"/>
                </a:solidFill>
              </a:rPr>
              <a:t>Corriger la faille d'entrée</a:t>
            </a:r>
            <a:endParaRPr lang="en-US" sz="1300" dirty="0"/>
          </a:p>
        </p:txBody>
      </p:sp>
      <p:sp>
        <p:nvSpPr>
          <p:cNvPr id="15" name="pb-c-375"/>
          <p:cNvSpPr/>
          <p:nvPr/>
        </p:nvSpPr>
        <p:spPr>
          <a:xfrm>
            <a:off x="8046720" y="2651760"/>
            <a:ext cx="3566160" cy="3611880"/>
          </a:xfrm>
          <a:prstGeom prst="roundRect">
            <a:avLst>
              <a:gd name="adj" fmla="val 2051"/>
            </a:avLst>
          </a:prstGeom>
          <a:solidFill>
            <a:schemeClr val="bg2"/>
          </a:solidFill>
          <a:ln w="9525">
            <a:solidFill>
              <a:srgbClr val="D6DEEA"/>
            </a:solidFill>
            <a:prstDash val="solid"/>
          </a:ln>
        </p:spPr>
        <p:txBody>
          <a:bodyPr/>
          <a:lstStyle/>
          <a:p>
            <a:endParaRPr lang="fr-FR"/>
          </a:p>
        </p:txBody>
      </p:sp>
      <p:sp>
        <p:nvSpPr>
          <p:cNvPr id="16" name="pb-d-376"/>
          <p:cNvSpPr/>
          <p:nvPr/>
        </p:nvSpPr>
        <p:spPr>
          <a:xfrm>
            <a:off x="8229600" y="2834640"/>
            <a:ext cx="384048" cy="384048"/>
          </a:xfrm>
          <a:prstGeom prst="ellipse">
            <a:avLst/>
          </a:prstGeom>
          <a:solidFill>
            <a:schemeClr val="accent6"/>
          </a:solidFill>
          <a:ln w="12700">
            <a:solidFill>
              <a:schemeClr val="accent6"/>
            </a:solidFill>
            <a:prstDash val="solid"/>
          </a:ln>
        </p:spPr>
        <p:txBody>
          <a:bodyPr/>
          <a:lstStyle/>
          <a:p>
            <a:endParaRPr lang="fr-FR"/>
          </a:p>
        </p:txBody>
      </p:sp>
      <p:sp>
        <p:nvSpPr>
          <p:cNvPr id="17" name="pb-t-377"/>
          <p:cNvSpPr txBox="1"/>
          <p:nvPr/>
        </p:nvSpPr>
        <p:spPr>
          <a:xfrm>
            <a:off x="8732520" y="2834640"/>
            <a:ext cx="2697480" cy="384048"/>
          </a:xfrm>
          <a:prstGeom prst="rect">
            <a:avLst/>
          </a:prstGeom>
          <a:noFill/>
          <a:ln/>
        </p:spPr>
        <p:txBody>
          <a:bodyPr wrap="square" lIns="0" tIns="0" rIns="0" bIns="0" rtlCol="0" anchor="ctr"/>
          <a:lstStyle/>
          <a:p>
            <a:pPr marL="0" indent="0">
              <a:buNone/>
            </a:pPr>
            <a:r>
              <a:rPr lang="en-US" sz="1800" b="1" dirty="0">
                <a:solidFill>
                  <a:schemeClr val="tx1"/>
                </a:solidFill>
              </a:rPr>
              <a:t>Récupérer</a:t>
            </a:r>
            <a:endParaRPr lang="en-US" sz="1800" dirty="0"/>
          </a:p>
        </p:txBody>
      </p:sp>
      <p:sp>
        <p:nvSpPr>
          <p:cNvPr id="18" name="pb-b-378"/>
          <p:cNvSpPr txBox="1"/>
          <p:nvPr/>
        </p:nvSpPr>
        <p:spPr>
          <a:xfrm>
            <a:off x="8229600" y="3429000"/>
            <a:ext cx="3200400" cy="269748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chemeClr val="tx1"/>
                </a:solidFill>
              </a:rPr>
              <a:t>Réintégrer la VM depuis une image saine</a:t>
            </a:r>
            <a:endParaRPr lang="en-US" sz="1300" dirty="0"/>
          </a:p>
          <a:p>
            <a:pPr marL="152400" indent="-152400">
              <a:spcAft>
                <a:spcPts val="600"/>
              </a:spcAft>
              <a:buSzPct val="100000"/>
              <a:buChar char="•"/>
            </a:pPr>
            <a:r>
              <a:rPr lang="en-US" sz="1300" dirty="0">
                <a:solidFill>
                  <a:schemeClr val="tx1"/>
                </a:solidFill>
              </a:rPr>
              <a:t>Surveillance renforcée 48 h (Watcher + Zabbix)</a:t>
            </a:r>
            <a:endParaRPr lang="en-US" sz="1300" dirty="0"/>
          </a:p>
          <a:p>
            <a:pPr marL="152400" indent="-152400">
              <a:spcAft>
                <a:spcPts val="600"/>
              </a:spcAft>
              <a:buSzPct val="100000"/>
              <a:buChar char="•"/>
            </a:pPr>
            <a:r>
              <a:rPr lang="en-US" sz="1300" dirty="0">
                <a:solidFill>
                  <a:schemeClr val="tx1"/>
                </a:solidFill>
              </a:rPr>
              <a:t>Publier l'IoC dans MISP</a:t>
            </a:r>
            <a:endParaRPr lang="en-US" sz="1300" dirty="0"/>
          </a:p>
          <a:p>
            <a:pPr marL="152400" indent="-152400">
              <a:spcAft>
                <a:spcPts val="600"/>
              </a:spcAft>
              <a:buSzPct val="100000"/>
              <a:buChar char="•"/>
            </a:pPr>
            <a:r>
              <a:rPr lang="en-US" sz="1300" dirty="0">
                <a:solidFill>
                  <a:schemeClr val="tx1"/>
                </a:solidFill>
              </a:rPr>
              <a:t>Retour d'expérience, ajustement du seuil</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08760" y="320040"/>
            <a:ext cx="1010412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Playbook 2 · Sabotage klingon</a:t>
            </a:r>
            <a:endParaRPr lang="en-US" sz="3000" dirty="0"/>
          </a:p>
        </p:txBody>
      </p:sp>
      <p:sp>
        <p:nvSpPr>
          <p:cNvPr id="3" name="badge-379"/>
          <p:cNvSpPr/>
          <p:nvPr/>
        </p:nvSpPr>
        <p:spPr>
          <a:xfrm>
            <a:off x="548640" y="320040"/>
            <a:ext cx="731520" cy="731520"/>
          </a:xfrm>
          <a:prstGeom prst="ellipse">
            <a:avLst/>
          </a:prstGeom>
          <a:solidFill>
            <a:schemeClr val="accent1"/>
          </a:solidFill>
          <a:ln w="12700">
            <a:solidFill>
              <a:schemeClr val="accent1"/>
            </a:solidFill>
            <a:prstDash val="solid"/>
          </a:ln>
        </p:spPr>
        <p:txBody>
          <a:bodyPr/>
          <a:lstStyle/>
          <a:p>
            <a:endParaRPr lang="fr-FR"/>
          </a:p>
        </p:txBody>
      </p:sp>
      <p:sp>
        <p:nvSpPr>
          <p:cNvPr id="4" name="badge-num-380"/>
          <p:cNvSpPr txBox="1"/>
          <p:nvPr/>
        </p:nvSpPr>
        <p:spPr>
          <a:xfrm>
            <a:off x="548640" y="320040"/>
            <a:ext cx="731520" cy="731520"/>
          </a:xfrm>
          <a:prstGeom prst="rect">
            <a:avLst/>
          </a:prstGeom>
          <a:noFill/>
          <a:ln/>
        </p:spPr>
        <p:txBody>
          <a:bodyPr wrap="square" lIns="0" tIns="0" rIns="0" bIns="0" rtlCol="0" anchor="ctr"/>
          <a:lstStyle/>
          <a:p>
            <a:pPr marL="0" indent="0" algn="ctr">
              <a:buNone/>
            </a:pPr>
            <a:r>
              <a:rPr lang="en-US" sz="2200" b="1" dirty="0">
                <a:solidFill>
                  <a:schemeClr val="tx1"/>
                </a:solidFill>
                <a:latin typeface="Arial" pitchFamily="34" charset="0"/>
                <a:ea typeface="Arial" pitchFamily="34" charset="-122"/>
                <a:cs typeface="Arial" pitchFamily="34" charset="-120"/>
              </a:rPr>
              <a:t>08</a:t>
            </a:r>
            <a:endParaRPr lang="en-US" sz="2200" dirty="0"/>
          </a:p>
        </p:txBody>
      </p:sp>
      <p:sp>
        <p:nvSpPr>
          <p:cNvPr id="5" name="pb-h-381"/>
          <p:cNvSpPr/>
          <p:nvPr/>
        </p:nvSpPr>
        <p:spPr>
          <a:xfrm>
            <a:off x="548640" y="1280160"/>
            <a:ext cx="11064240" cy="1143000"/>
          </a:xfrm>
          <a:prstGeom prst="roundRect">
            <a:avLst>
              <a:gd name="adj" fmla="val 6400"/>
            </a:avLst>
          </a:prstGeom>
          <a:solidFill>
            <a:schemeClr val="tx1"/>
          </a:solidFill>
          <a:ln w="12700">
            <a:solidFill>
              <a:schemeClr val="tx1"/>
            </a:solidFill>
            <a:prstDash val="solid"/>
          </a:ln>
        </p:spPr>
        <p:txBody>
          <a:bodyPr/>
          <a:lstStyle/>
          <a:p>
            <a:endParaRPr lang="fr-FR"/>
          </a:p>
        </p:txBody>
      </p:sp>
      <p:sp>
        <p:nvSpPr>
          <p:cNvPr id="6" name="pb-ht-382"/>
          <p:cNvSpPr txBox="1"/>
          <p:nvPr/>
        </p:nvSpPr>
        <p:spPr>
          <a:xfrm>
            <a:off x="777240" y="1280160"/>
            <a:ext cx="10607040" cy="1143000"/>
          </a:xfrm>
          <a:prstGeom prst="rect">
            <a:avLst/>
          </a:prstGeom>
          <a:noFill/>
          <a:ln/>
        </p:spPr>
        <p:txBody>
          <a:bodyPr wrap="square" lIns="0" tIns="0" rIns="0" bIns="0" rtlCol="0" anchor="ctr"/>
          <a:lstStyle/>
          <a:p>
            <a:pPr marL="0" indent="0">
              <a:buNone/>
            </a:pPr>
            <a:r>
              <a:rPr lang="en-US" sz="1400" b="1" dirty="0">
                <a:solidFill>
                  <a:schemeClr val="accent1"/>
                </a:solidFill>
              </a:rPr>
              <a:t>Menace  </a:t>
            </a:r>
            <a:r>
              <a:rPr lang="en-US" sz="1400" dirty="0">
                <a:solidFill>
                  <a:schemeClr val="bg1"/>
                </a:solidFill>
              </a:rPr>
              <a:t>épuisement volontaire des ressources (CPU, mémoire, disque) pour paralyser un système critique</a:t>
            </a:r>
            <a:endParaRPr lang="en-US" sz="1400" dirty="0"/>
          </a:p>
          <a:p>
            <a:pPr marL="0" indent="0">
              <a:buNone/>
            </a:pPr>
            <a:r>
              <a:rPr lang="en-US" sz="1400" b="1" dirty="0">
                <a:solidFill>
                  <a:schemeClr val="accent1"/>
                </a:solidFill>
              </a:rPr>
              <a:t>Détection  </a:t>
            </a:r>
            <a:r>
              <a:rPr lang="en-US" sz="1400" dirty="0">
                <a:solidFill>
                  <a:schemeClr val="bg1"/>
                </a:solidFill>
              </a:rPr>
              <a:t>Déclencheurs Zabbix CPU &gt; 90 % / mémoire &lt; 20 % · pic sur le tableau de bord Grafana</a:t>
            </a:r>
            <a:endParaRPr lang="en-US" sz="1400" dirty="0"/>
          </a:p>
        </p:txBody>
      </p:sp>
      <p:sp>
        <p:nvSpPr>
          <p:cNvPr id="7" name="pb-c-383"/>
          <p:cNvSpPr/>
          <p:nvPr/>
        </p:nvSpPr>
        <p:spPr>
          <a:xfrm>
            <a:off x="548640" y="2651760"/>
            <a:ext cx="3566160" cy="3611880"/>
          </a:xfrm>
          <a:prstGeom prst="roundRect">
            <a:avLst>
              <a:gd name="adj" fmla="val 2051"/>
            </a:avLst>
          </a:prstGeom>
          <a:solidFill>
            <a:schemeClr val="bg2"/>
          </a:solidFill>
          <a:ln w="9525">
            <a:solidFill>
              <a:srgbClr val="D6DEEA"/>
            </a:solidFill>
            <a:prstDash val="solid"/>
          </a:ln>
        </p:spPr>
        <p:txBody>
          <a:bodyPr/>
          <a:lstStyle/>
          <a:p>
            <a:endParaRPr lang="fr-FR"/>
          </a:p>
        </p:txBody>
      </p:sp>
      <p:sp>
        <p:nvSpPr>
          <p:cNvPr id="8" name="pb-d-384"/>
          <p:cNvSpPr/>
          <p:nvPr/>
        </p:nvSpPr>
        <p:spPr>
          <a:xfrm>
            <a:off x="731520" y="2834640"/>
            <a:ext cx="384048" cy="384048"/>
          </a:xfrm>
          <a:prstGeom prst="ellipse">
            <a:avLst/>
          </a:prstGeom>
          <a:solidFill>
            <a:schemeClr val="accent1"/>
          </a:solidFill>
          <a:ln w="12700">
            <a:solidFill>
              <a:schemeClr val="accent1"/>
            </a:solidFill>
            <a:prstDash val="solid"/>
          </a:ln>
        </p:spPr>
        <p:txBody>
          <a:bodyPr/>
          <a:lstStyle/>
          <a:p>
            <a:endParaRPr lang="fr-FR"/>
          </a:p>
        </p:txBody>
      </p:sp>
      <p:sp>
        <p:nvSpPr>
          <p:cNvPr id="9" name="pb-t-385"/>
          <p:cNvSpPr txBox="1"/>
          <p:nvPr/>
        </p:nvSpPr>
        <p:spPr>
          <a:xfrm>
            <a:off x="1234440" y="2834640"/>
            <a:ext cx="2697480" cy="384048"/>
          </a:xfrm>
          <a:prstGeom prst="rect">
            <a:avLst/>
          </a:prstGeom>
          <a:noFill/>
          <a:ln/>
        </p:spPr>
        <p:txBody>
          <a:bodyPr wrap="square" lIns="0" tIns="0" rIns="0" bIns="0" rtlCol="0" anchor="ctr"/>
          <a:lstStyle/>
          <a:p>
            <a:pPr marL="0" indent="0">
              <a:buNone/>
            </a:pPr>
            <a:r>
              <a:rPr lang="en-US" sz="1800" b="1" dirty="0">
                <a:solidFill>
                  <a:schemeClr val="tx1"/>
                </a:solidFill>
              </a:rPr>
              <a:t>Contenir</a:t>
            </a:r>
            <a:endParaRPr lang="en-US" sz="1800" dirty="0"/>
          </a:p>
        </p:txBody>
      </p:sp>
      <p:sp>
        <p:nvSpPr>
          <p:cNvPr id="10" name="pb-b-386"/>
          <p:cNvSpPr txBox="1"/>
          <p:nvPr/>
        </p:nvSpPr>
        <p:spPr>
          <a:xfrm>
            <a:off x="731520" y="3429000"/>
            <a:ext cx="3200400" cy="269748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chemeClr val="tx1"/>
                </a:solidFill>
              </a:rPr>
              <a:t>Identifier le processus consommateur (top, ps --sort=-%cpu)</a:t>
            </a:r>
            <a:endParaRPr lang="en-US" sz="1300" dirty="0"/>
          </a:p>
          <a:p>
            <a:pPr marL="152400" indent="-152400">
              <a:spcAft>
                <a:spcPts val="600"/>
              </a:spcAft>
              <a:buSzPct val="100000"/>
              <a:buChar char="•"/>
            </a:pPr>
            <a:r>
              <a:rPr lang="en-US" sz="1300" dirty="0">
                <a:solidFill>
                  <a:schemeClr val="tx1"/>
                </a:solidFill>
              </a:rPr>
              <a:t>Le suspendre (kill -STOP) pour garder la preuve</a:t>
            </a:r>
            <a:endParaRPr lang="en-US" sz="1300" dirty="0"/>
          </a:p>
          <a:p>
            <a:pPr marL="152400" indent="-152400">
              <a:spcAft>
                <a:spcPts val="600"/>
              </a:spcAft>
              <a:buSzPct val="100000"/>
              <a:buChar char="•"/>
            </a:pPr>
            <a:r>
              <a:rPr lang="en-US" sz="1300" dirty="0">
                <a:solidFill>
                  <a:schemeClr val="tx1"/>
                </a:solidFill>
              </a:rPr>
              <a:t>Limiter l'accès au système touché</a:t>
            </a:r>
            <a:endParaRPr lang="en-US" sz="1300" dirty="0"/>
          </a:p>
          <a:p>
            <a:pPr marL="152400" indent="-152400">
              <a:spcAft>
                <a:spcPts val="600"/>
              </a:spcAft>
              <a:buSzPct val="100000"/>
              <a:buChar char="•"/>
            </a:pPr>
            <a:r>
              <a:rPr lang="en-US" sz="1300" dirty="0">
                <a:solidFill>
                  <a:schemeClr val="tx1"/>
                </a:solidFill>
              </a:rPr>
              <a:t>Prévenir l'officier de quart</a:t>
            </a:r>
            <a:endParaRPr lang="en-US" sz="1300" dirty="0"/>
          </a:p>
        </p:txBody>
      </p:sp>
      <p:sp>
        <p:nvSpPr>
          <p:cNvPr id="11" name="pb-c-387"/>
          <p:cNvSpPr/>
          <p:nvPr/>
        </p:nvSpPr>
        <p:spPr>
          <a:xfrm>
            <a:off x="4297680" y="2651760"/>
            <a:ext cx="3566160" cy="3611880"/>
          </a:xfrm>
          <a:prstGeom prst="roundRect">
            <a:avLst>
              <a:gd name="adj" fmla="val 2051"/>
            </a:avLst>
          </a:prstGeom>
          <a:solidFill>
            <a:schemeClr val="bg2"/>
          </a:solidFill>
          <a:ln w="9525">
            <a:solidFill>
              <a:srgbClr val="D6DEEA"/>
            </a:solidFill>
            <a:prstDash val="solid"/>
          </a:ln>
        </p:spPr>
        <p:txBody>
          <a:bodyPr/>
          <a:lstStyle/>
          <a:p>
            <a:endParaRPr lang="fr-FR"/>
          </a:p>
        </p:txBody>
      </p:sp>
      <p:sp>
        <p:nvSpPr>
          <p:cNvPr id="12" name="pb-d-388"/>
          <p:cNvSpPr/>
          <p:nvPr/>
        </p:nvSpPr>
        <p:spPr>
          <a:xfrm>
            <a:off x="4480560" y="2834640"/>
            <a:ext cx="384048" cy="384048"/>
          </a:xfrm>
          <a:prstGeom prst="ellipse">
            <a:avLst/>
          </a:prstGeom>
          <a:solidFill>
            <a:schemeClr val="accent3"/>
          </a:solidFill>
          <a:ln w="12700">
            <a:solidFill>
              <a:schemeClr val="accent3"/>
            </a:solidFill>
            <a:prstDash val="solid"/>
          </a:ln>
        </p:spPr>
        <p:txBody>
          <a:bodyPr/>
          <a:lstStyle/>
          <a:p>
            <a:endParaRPr lang="fr-FR"/>
          </a:p>
        </p:txBody>
      </p:sp>
      <p:sp>
        <p:nvSpPr>
          <p:cNvPr id="13" name="pb-t-389"/>
          <p:cNvSpPr txBox="1"/>
          <p:nvPr/>
        </p:nvSpPr>
        <p:spPr>
          <a:xfrm>
            <a:off x="4983480" y="2834640"/>
            <a:ext cx="2697480" cy="384048"/>
          </a:xfrm>
          <a:prstGeom prst="rect">
            <a:avLst/>
          </a:prstGeom>
          <a:noFill/>
          <a:ln/>
        </p:spPr>
        <p:txBody>
          <a:bodyPr wrap="square" lIns="0" tIns="0" rIns="0" bIns="0" rtlCol="0" anchor="ctr"/>
          <a:lstStyle/>
          <a:p>
            <a:pPr marL="0" indent="0">
              <a:buNone/>
            </a:pPr>
            <a:r>
              <a:rPr lang="en-US" sz="1800" b="1" dirty="0">
                <a:solidFill>
                  <a:schemeClr val="tx1"/>
                </a:solidFill>
              </a:rPr>
              <a:t>Éradiquer</a:t>
            </a:r>
            <a:endParaRPr lang="en-US" sz="1800" dirty="0"/>
          </a:p>
        </p:txBody>
      </p:sp>
      <p:sp>
        <p:nvSpPr>
          <p:cNvPr id="14" name="pb-b-390"/>
          <p:cNvSpPr txBox="1"/>
          <p:nvPr/>
        </p:nvSpPr>
        <p:spPr>
          <a:xfrm>
            <a:off x="4480560" y="3429000"/>
            <a:ext cx="3200400" cy="269748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chemeClr val="tx1"/>
                </a:solidFill>
              </a:rPr>
              <a:t>Analyser le binaire et son mode de lancement (cron, systemd)</a:t>
            </a:r>
            <a:endParaRPr lang="en-US" sz="1300" dirty="0"/>
          </a:p>
          <a:p>
            <a:pPr marL="152400" indent="-152400">
              <a:spcAft>
                <a:spcPts val="600"/>
              </a:spcAft>
              <a:buSzPct val="100000"/>
              <a:buChar char="•"/>
            </a:pPr>
            <a:r>
              <a:rPr lang="en-US" sz="1300" dirty="0">
                <a:solidFill>
                  <a:schemeClr val="tx1"/>
                </a:solidFill>
              </a:rPr>
              <a:t>Supprimer la persistance et le compte utilisé</a:t>
            </a:r>
            <a:endParaRPr lang="en-US" sz="1300" dirty="0"/>
          </a:p>
          <a:p>
            <a:pPr marL="152400" indent="-152400">
              <a:spcAft>
                <a:spcPts val="600"/>
              </a:spcAft>
              <a:buSzPct val="100000"/>
              <a:buChar char="•"/>
            </a:pPr>
            <a:r>
              <a:rPr lang="en-US" sz="1300" dirty="0">
                <a:solidFill>
                  <a:schemeClr val="tx1"/>
                </a:solidFill>
              </a:rPr>
              <a:t>Appliquer des limites (systemd CPUQuota, ulimit)</a:t>
            </a:r>
            <a:endParaRPr lang="en-US" sz="1300" dirty="0"/>
          </a:p>
        </p:txBody>
      </p:sp>
      <p:sp>
        <p:nvSpPr>
          <p:cNvPr id="15" name="pb-c-391"/>
          <p:cNvSpPr/>
          <p:nvPr/>
        </p:nvSpPr>
        <p:spPr>
          <a:xfrm>
            <a:off x="8046720" y="2651760"/>
            <a:ext cx="3566160" cy="3611880"/>
          </a:xfrm>
          <a:prstGeom prst="roundRect">
            <a:avLst>
              <a:gd name="adj" fmla="val 2051"/>
            </a:avLst>
          </a:prstGeom>
          <a:solidFill>
            <a:schemeClr val="bg2"/>
          </a:solidFill>
          <a:ln w="9525">
            <a:solidFill>
              <a:srgbClr val="D6DEEA"/>
            </a:solidFill>
            <a:prstDash val="solid"/>
          </a:ln>
        </p:spPr>
        <p:txBody>
          <a:bodyPr/>
          <a:lstStyle/>
          <a:p>
            <a:endParaRPr lang="fr-FR"/>
          </a:p>
        </p:txBody>
      </p:sp>
      <p:sp>
        <p:nvSpPr>
          <p:cNvPr id="16" name="pb-d-392"/>
          <p:cNvSpPr/>
          <p:nvPr/>
        </p:nvSpPr>
        <p:spPr>
          <a:xfrm>
            <a:off x="8229600" y="2834640"/>
            <a:ext cx="384048" cy="384048"/>
          </a:xfrm>
          <a:prstGeom prst="ellipse">
            <a:avLst/>
          </a:prstGeom>
          <a:solidFill>
            <a:schemeClr val="accent6"/>
          </a:solidFill>
          <a:ln w="12700">
            <a:solidFill>
              <a:schemeClr val="accent6"/>
            </a:solidFill>
            <a:prstDash val="solid"/>
          </a:ln>
        </p:spPr>
        <p:txBody>
          <a:bodyPr/>
          <a:lstStyle/>
          <a:p>
            <a:endParaRPr lang="fr-FR"/>
          </a:p>
        </p:txBody>
      </p:sp>
      <p:sp>
        <p:nvSpPr>
          <p:cNvPr id="17" name="pb-t-393"/>
          <p:cNvSpPr txBox="1"/>
          <p:nvPr/>
        </p:nvSpPr>
        <p:spPr>
          <a:xfrm>
            <a:off x="8732520" y="2834640"/>
            <a:ext cx="2697480" cy="384048"/>
          </a:xfrm>
          <a:prstGeom prst="rect">
            <a:avLst/>
          </a:prstGeom>
          <a:noFill/>
          <a:ln/>
        </p:spPr>
        <p:txBody>
          <a:bodyPr wrap="square" lIns="0" tIns="0" rIns="0" bIns="0" rtlCol="0" anchor="ctr"/>
          <a:lstStyle/>
          <a:p>
            <a:pPr marL="0" indent="0">
              <a:buNone/>
            </a:pPr>
            <a:r>
              <a:rPr lang="en-US" sz="1800" b="1" dirty="0">
                <a:solidFill>
                  <a:schemeClr val="tx1"/>
                </a:solidFill>
              </a:rPr>
              <a:t>Récupérer</a:t>
            </a:r>
            <a:endParaRPr lang="en-US" sz="1800" dirty="0"/>
          </a:p>
        </p:txBody>
      </p:sp>
      <p:sp>
        <p:nvSpPr>
          <p:cNvPr id="18" name="pb-b-394"/>
          <p:cNvSpPr txBox="1"/>
          <p:nvPr/>
        </p:nvSpPr>
        <p:spPr>
          <a:xfrm>
            <a:off x="8229600" y="3429000"/>
            <a:ext cx="3200400" cy="269748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chemeClr val="tx1"/>
                </a:solidFill>
              </a:rPr>
              <a:t>Redémarrer les services et vérifier les métriques</a:t>
            </a:r>
            <a:endParaRPr lang="en-US" sz="1300" dirty="0"/>
          </a:p>
          <a:p>
            <a:pPr marL="152400" indent="-152400">
              <a:spcAft>
                <a:spcPts val="600"/>
              </a:spcAft>
              <a:buSzPct val="100000"/>
              <a:buChar char="•"/>
            </a:pPr>
            <a:r>
              <a:rPr lang="en-US" sz="1300" dirty="0">
                <a:solidFill>
                  <a:schemeClr val="tx1"/>
                </a:solidFill>
              </a:rPr>
              <a:t>Confirmer le retour sous les seuils dans Zabbix</a:t>
            </a:r>
            <a:endParaRPr lang="en-US" sz="1300" dirty="0"/>
          </a:p>
          <a:p>
            <a:pPr marL="152400" indent="-152400">
              <a:spcAft>
                <a:spcPts val="600"/>
              </a:spcAft>
              <a:buSzPct val="100000"/>
              <a:buChar char="•"/>
            </a:pPr>
            <a:r>
              <a:rPr lang="en-US" sz="1300" dirty="0">
                <a:solidFill>
                  <a:schemeClr val="tx1"/>
                </a:solidFill>
              </a:rPr>
              <a:t>Documenter la chronologie dans TheHive</a:t>
            </a:r>
            <a:endParaRPr lang="en-US" sz="1300" dirty="0"/>
          </a:p>
          <a:p>
            <a:pPr marL="152400" indent="-152400">
              <a:spcAft>
                <a:spcPts val="600"/>
              </a:spcAft>
              <a:buSzPct val="100000"/>
              <a:buChar char="•"/>
            </a:pPr>
            <a:r>
              <a:rPr lang="en-US" sz="1300" dirty="0">
                <a:solidFill>
                  <a:schemeClr val="tx1"/>
                </a:solidFill>
              </a:rPr>
              <a:t>Clore le cas après 24 h stables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08760" y="320040"/>
            <a:ext cx="1010412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Playbook 3 · Espion romulien (exfiltration)</a:t>
            </a:r>
            <a:endParaRPr lang="en-US" sz="3000" dirty="0"/>
          </a:p>
        </p:txBody>
      </p:sp>
      <p:sp>
        <p:nvSpPr>
          <p:cNvPr id="3" name="badge-395"/>
          <p:cNvSpPr/>
          <p:nvPr/>
        </p:nvSpPr>
        <p:spPr>
          <a:xfrm>
            <a:off x="548640" y="320040"/>
            <a:ext cx="731520" cy="731520"/>
          </a:xfrm>
          <a:prstGeom prst="ellipse">
            <a:avLst/>
          </a:prstGeom>
          <a:solidFill>
            <a:schemeClr val="accent1"/>
          </a:solidFill>
          <a:ln w="12700">
            <a:solidFill>
              <a:schemeClr val="accent1"/>
            </a:solidFill>
            <a:prstDash val="solid"/>
          </a:ln>
        </p:spPr>
        <p:txBody>
          <a:bodyPr/>
          <a:lstStyle/>
          <a:p>
            <a:endParaRPr lang="fr-FR"/>
          </a:p>
        </p:txBody>
      </p:sp>
      <p:sp>
        <p:nvSpPr>
          <p:cNvPr id="4" name="badge-num-396"/>
          <p:cNvSpPr txBox="1"/>
          <p:nvPr/>
        </p:nvSpPr>
        <p:spPr>
          <a:xfrm>
            <a:off x="548640" y="320040"/>
            <a:ext cx="731520" cy="731520"/>
          </a:xfrm>
          <a:prstGeom prst="rect">
            <a:avLst/>
          </a:prstGeom>
          <a:noFill/>
          <a:ln/>
        </p:spPr>
        <p:txBody>
          <a:bodyPr wrap="square" lIns="0" tIns="0" rIns="0" bIns="0" rtlCol="0" anchor="ctr"/>
          <a:lstStyle/>
          <a:p>
            <a:pPr marL="0" indent="0" algn="ctr">
              <a:buNone/>
            </a:pPr>
            <a:r>
              <a:rPr lang="en-US" sz="2200" b="1" dirty="0">
                <a:solidFill>
                  <a:schemeClr val="tx1"/>
                </a:solidFill>
                <a:latin typeface="Arial" pitchFamily="34" charset="0"/>
                <a:ea typeface="Arial" pitchFamily="34" charset="-122"/>
                <a:cs typeface="Arial" pitchFamily="34" charset="-120"/>
              </a:rPr>
              <a:t>08</a:t>
            </a:r>
            <a:endParaRPr lang="en-US" sz="2200" dirty="0"/>
          </a:p>
        </p:txBody>
      </p:sp>
      <p:sp>
        <p:nvSpPr>
          <p:cNvPr id="5" name="pb-h-397"/>
          <p:cNvSpPr/>
          <p:nvPr/>
        </p:nvSpPr>
        <p:spPr>
          <a:xfrm>
            <a:off x="548640" y="1280160"/>
            <a:ext cx="11064240" cy="1143000"/>
          </a:xfrm>
          <a:prstGeom prst="roundRect">
            <a:avLst>
              <a:gd name="adj" fmla="val 6400"/>
            </a:avLst>
          </a:prstGeom>
          <a:solidFill>
            <a:schemeClr val="tx1"/>
          </a:solidFill>
          <a:ln w="12700">
            <a:solidFill>
              <a:schemeClr val="tx1"/>
            </a:solidFill>
            <a:prstDash val="solid"/>
          </a:ln>
        </p:spPr>
        <p:txBody>
          <a:bodyPr/>
          <a:lstStyle/>
          <a:p>
            <a:endParaRPr lang="fr-FR"/>
          </a:p>
        </p:txBody>
      </p:sp>
      <p:sp>
        <p:nvSpPr>
          <p:cNvPr id="6" name="pb-ht-398"/>
          <p:cNvSpPr txBox="1"/>
          <p:nvPr/>
        </p:nvSpPr>
        <p:spPr>
          <a:xfrm>
            <a:off x="777240" y="1280160"/>
            <a:ext cx="10607040" cy="1143000"/>
          </a:xfrm>
          <a:prstGeom prst="rect">
            <a:avLst/>
          </a:prstGeom>
          <a:noFill/>
          <a:ln/>
        </p:spPr>
        <p:txBody>
          <a:bodyPr wrap="square" lIns="0" tIns="0" rIns="0" bIns="0" rtlCol="0" anchor="ctr"/>
          <a:lstStyle/>
          <a:p>
            <a:pPr marL="0" indent="0">
              <a:buNone/>
            </a:pPr>
            <a:r>
              <a:rPr lang="en-US" sz="1400" b="1" dirty="0">
                <a:solidFill>
                  <a:schemeClr val="accent4"/>
                </a:solidFill>
              </a:rPr>
              <a:t>Menace  </a:t>
            </a:r>
            <a:r>
              <a:rPr lang="en-US" sz="1400" dirty="0">
                <a:solidFill>
                  <a:schemeClr val="bg1"/>
                </a:solidFill>
              </a:rPr>
              <a:t>extraction discrète de données vers un serveur externe via un canal chiffré</a:t>
            </a:r>
            <a:endParaRPr lang="en-US" sz="1400" dirty="0"/>
          </a:p>
          <a:p>
            <a:pPr marL="0" indent="0">
              <a:buNone/>
            </a:pPr>
            <a:r>
              <a:rPr lang="en-US" sz="1400" b="1" dirty="0">
                <a:solidFill>
                  <a:schemeClr val="accent4"/>
                </a:solidFill>
              </a:rPr>
              <a:t>Détection  </a:t>
            </a:r>
            <a:r>
              <a:rPr lang="en-US" sz="1400" dirty="0">
                <a:solidFill>
                  <a:schemeClr val="bg1"/>
                </a:solidFill>
              </a:rPr>
              <a:t>Kibana : volume sortant anormal par conversation · destinations inconnues hors 172.16.0.0/24</a:t>
            </a:r>
            <a:endParaRPr lang="en-US" sz="1400" dirty="0"/>
          </a:p>
        </p:txBody>
      </p:sp>
      <p:sp>
        <p:nvSpPr>
          <p:cNvPr id="7" name="pb-c-399"/>
          <p:cNvSpPr/>
          <p:nvPr/>
        </p:nvSpPr>
        <p:spPr>
          <a:xfrm>
            <a:off x="548640" y="2651760"/>
            <a:ext cx="3566160" cy="3611880"/>
          </a:xfrm>
          <a:prstGeom prst="roundRect">
            <a:avLst>
              <a:gd name="adj" fmla="val 2051"/>
            </a:avLst>
          </a:prstGeom>
          <a:solidFill>
            <a:schemeClr val="bg2"/>
          </a:solidFill>
          <a:ln w="9525">
            <a:solidFill>
              <a:srgbClr val="D6DEEA"/>
            </a:solidFill>
            <a:prstDash val="solid"/>
          </a:ln>
        </p:spPr>
        <p:txBody>
          <a:bodyPr/>
          <a:lstStyle/>
          <a:p>
            <a:endParaRPr lang="fr-FR"/>
          </a:p>
        </p:txBody>
      </p:sp>
      <p:sp>
        <p:nvSpPr>
          <p:cNvPr id="8" name="pb-d-400"/>
          <p:cNvSpPr/>
          <p:nvPr/>
        </p:nvSpPr>
        <p:spPr>
          <a:xfrm>
            <a:off x="731520" y="2834640"/>
            <a:ext cx="384048" cy="384048"/>
          </a:xfrm>
          <a:prstGeom prst="ellipse">
            <a:avLst/>
          </a:prstGeom>
          <a:solidFill>
            <a:schemeClr val="accent1"/>
          </a:solidFill>
          <a:ln w="12700">
            <a:solidFill>
              <a:schemeClr val="accent1"/>
            </a:solidFill>
            <a:prstDash val="solid"/>
          </a:ln>
        </p:spPr>
        <p:txBody>
          <a:bodyPr/>
          <a:lstStyle/>
          <a:p>
            <a:endParaRPr lang="fr-FR"/>
          </a:p>
        </p:txBody>
      </p:sp>
      <p:sp>
        <p:nvSpPr>
          <p:cNvPr id="9" name="pb-t-401"/>
          <p:cNvSpPr txBox="1"/>
          <p:nvPr/>
        </p:nvSpPr>
        <p:spPr>
          <a:xfrm>
            <a:off x="1234440" y="2834640"/>
            <a:ext cx="2697480" cy="384048"/>
          </a:xfrm>
          <a:prstGeom prst="rect">
            <a:avLst/>
          </a:prstGeom>
          <a:noFill/>
          <a:ln/>
        </p:spPr>
        <p:txBody>
          <a:bodyPr wrap="square" lIns="0" tIns="0" rIns="0" bIns="0" rtlCol="0" anchor="ctr"/>
          <a:lstStyle/>
          <a:p>
            <a:pPr marL="0" indent="0">
              <a:buNone/>
            </a:pPr>
            <a:r>
              <a:rPr lang="en-US" sz="1800" b="1" dirty="0">
                <a:solidFill>
                  <a:schemeClr val="tx1"/>
                </a:solidFill>
              </a:rPr>
              <a:t>Contenir</a:t>
            </a:r>
            <a:endParaRPr lang="en-US" sz="1800" dirty="0"/>
          </a:p>
        </p:txBody>
      </p:sp>
      <p:sp>
        <p:nvSpPr>
          <p:cNvPr id="10" name="pb-b-402"/>
          <p:cNvSpPr txBox="1"/>
          <p:nvPr/>
        </p:nvSpPr>
        <p:spPr>
          <a:xfrm>
            <a:off x="731520" y="3429000"/>
            <a:ext cx="3200400" cy="269748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chemeClr val="tx1"/>
                </a:solidFill>
              </a:rPr>
              <a:t>Couper le flux sortant vers l'IP suspecte (pare-feu)</a:t>
            </a:r>
            <a:endParaRPr lang="en-US" sz="1300" dirty="0"/>
          </a:p>
          <a:p>
            <a:pPr marL="152400" indent="-152400">
              <a:spcAft>
                <a:spcPts val="600"/>
              </a:spcAft>
              <a:buSzPct val="100000"/>
              <a:buChar char="•"/>
            </a:pPr>
            <a:r>
              <a:rPr lang="en-US" sz="1300" dirty="0">
                <a:solidFill>
                  <a:schemeClr val="tx1"/>
                </a:solidFill>
              </a:rPr>
              <a:t>Conserver la capture et les index wireshark-*</a:t>
            </a:r>
            <a:endParaRPr lang="en-US" sz="1300" dirty="0"/>
          </a:p>
          <a:p>
            <a:pPr marL="152400" indent="-152400">
              <a:spcAft>
                <a:spcPts val="600"/>
              </a:spcAft>
              <a:buSzPct val="100000"/>
              <a:buChar char="•"/>
            </a:pPr>
            <a:r>
              <a:rPr lang="en-US" sz="1300" dirty="0">
                <a:solidFill>
                  <a:schemeClr val="tx1"/>
                </a:solidFill>
              </a:rPr>
              <a:t>Identifier la machine et le compte émetteurs</a:t>
            </a:r>
            <a:endParaRPr lang="en-US" sz="1300" dirty="0"/>
          </a:p>
        </p:txBody>
      </p:sp>
      <p:sp>
        <p:nvSpPr>
          <p:cNvPr id="11" name="pb-c-403"/>
          <p:cNvSpPr/>
          <p:nvPr/>
        </p:nvSpPr>
        <p:spPr>
          <a:xfrm>
            <a:off x="4297680" y="2651760"/>
            <a:ext cx="3566160" cy="3611880"/>
          </a:xfrm>
          <a:prstGeom prst="roundRect">
            <a:avLst>
              <a:gd name="adj" fmla="val 2051"/>
            </a:avLst>
          </a:prstGeom>
          <a:solidFill>
            <a:schemeClr val="bg2"/>
          </a:solidFill>
          <a:ln w="9525">
            <a:solidFill>
              <a:srgbClr val="D6DEEA"/>
            </a:solidFill>
            <a:prstDash val="solid"/>
          </a:ln>
        </p:spPr>
        <p:txBody>
          <a:bodyPr/>
          <a:lstStyle/>
          <a:p>
            <a:endParaRPr lang="fr-FR"/>
          </a:p>
        </p:txBody>
      </p:sp>
      <p:sp>
        <p:nvSpPr>
          <p:cNvPr id="12" name="pb-d-404"/>
          <p:cNvSpPr/>
          <p:nvPr/>
        </p:nvSpPr>
        <p:spPr>
          <a:xfrm>
            <a:off x="4480560" y="2834640"/>
            <a:ext cx="384048" cy="384048"/>
          </a:xfrm>
          <a:prstGeom prst="ellipse">
            <a:avLst/>
          </a:prstGeom>
          <a:solidFill>
            <a:schemeClr val="accent3"/>
          </a:solidFill>
          <a:ln w="12700">
            <a:solidFill>
              <a:schemeClr val="accent3"/>
            </a:solidFill>
            <a:prstDash val="solid"/>
          </a:ln>
        </p:spPr>
        <p:txBody>
          <a:bodyPr/>
          <a:lstStyle/>
          <a:p>
            <a:endParaRPr lang="fr-FR"/>
          </a:p>
        </p:txBody>
      </p:sp>
      <p:sp>
        <p:nvSpPr>
          <p:cNvPr id="13" name="pb-t-405"/>
          <p:cNvSpPr txBox="1"/>
          <p:nvPr/>
        </p:nvSpPr>
        <p:spPr>
          <a:xfrm>
            <a:off x="4983480" y="2834640"/>
            <a:ext cx="2697480" cy="384048"/>
          </a:xfrm>
          <a:prstGeom prst="rect">
            <a:avLst/>
          </a:prstGeom>
          <a:noFill/>
          <a:ln/>
        </p:spPr>
        <p:txBody>
          <a:bodyPr wrap="square" lIns="0" tIns="0" rIns="0" bIns="0" rtlCol="0" anchor="ctr"/>
          <a:lstStyle/>
          <a:p>
            <a:pPr marL="0" indent="0">
              <a:buNone/>
            </a:pPr>
            <a:r>
              <a:rPr lang="en-US" sz="1800" b="1" dirty="0">
                <a:solidFill>
                  <a:schemeClr val="tx1"/>
                </a:solidFill>
              </a:rPr>
              <a:t>Éradiquer</a:t>
            </a:r>
            <a:endParaRPr lang="en-US" sz="1800" dirty="0"/>
          </a:p>
        </p:txBody>
      </p:sp>
      <p:sp>
        <p:nvSpPr>
          <p:cNvPr id="14" name="pb-b-406"/>
          <p:cNvSpPr txBox="1"/>
          <p:nvPr/>
        </p:nvSpPr>
        <p:spPr>
          <a:xfrm>
            <a:off x="4480560" y="3429000"/>
            <a:ext cx="3200400" cy="269748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chemeClr val="tx1"/>
                </a:solidFill>
              </a:rPr>
              <a:t>Rechercher la persistance et l'outil d'exfiltration</a:t>
            </a:r>
            <a:endParaRPr lang="en-US" sz="1300" dirty="0"/>
          </a:p>
          <a:p>
            <a:pPr marL="152400" indent="-152400">
              <a:spcAft>
                <a:spcPts val="600"/>
              </a:spcAft>
              <a:buSzPct val="100000"/>
              <a:buChar char="•"/>
            </a:pPr>
            <a:r>
              <a:rPr lang="en-US" sz="1300" dirty="0">
                <a:solidFill>
                  <a:schemeClr val="tx1"/>
                </a:solidFill>
              </a:rPr>
              <a:t>Changer les secrets potentiellement exposés</a:t>
            </a:r>
            <a:endParaRPr lang="en-US" sz="1300" dirty="0"/>
          </a:p>
          <a:p>
            <a:pPr marL="152400" indent="-152400">
              <a:spcAft>
                <a:spcPts val="600"/>
              </a:spcAft>
              <a:buSzPct val="100000"/>
              <a:buChar char="•"/>
            </a:pPr>
            <a:r>
              <a:rPr lang="en-US" sz="1300" dirty="0">
                <a:solidFill>
                  <a:schemeClr val="tx1"/>
                </a:solidFill>
              </a:rPr>
              <a:t>Ajouter la destination à une liste de blocage</a:t>
            </a:r>
            <a:endParaRPr lang="en-US" sz="1300" dirty="0"/>
          </a:p>
        </p:txBody>
      </p:sp>
      <p:sp>
        <p:nvSpPr>
          <p:cNvPr id="15" name="pb-c-407"/>
          <p:cNvSpPr/>
          <p:nvPr/>
        </p:nvSpPr>
        <p:spPr>
          <a:xfrm>
            <a:off x="8046720" y="2651760"/>
            <a:ext cx="3566160" cy="3611880"/>
          </a:xfrm>
          <a:prstGeom prst="roundRect">
            <a:avLst>
              <a:gd name="adj" fmla="val 2051"/>
            </a:avLst>
          </a:prstGeom>
          <a:solidFill>
            <a:schemeClr val="bg2"/>
          </a:solidFill>
          <a:ln w="9525">
            <a:solidFill>
              <a:srgbClr val="D6DEEA"/>
            </a:solidFill>
            <a:prstDash val="solid"/>
          </a:ln>
        </p:spPr>
        <p:txBody>
          <a:bodyPr/>
          <a:lstStyle/>
          <a:p>
            <a:endParaRPr lang="fr-FR"/>
          </a:p>
        </p:txBody>
      </p:sp>
      <p:sp>
        <p:nvSpPr>
          <p:cNvPr id="16" name="pb-d-408"/>
          <p:cNvSpPr/>
          <p:nvPr/>
        </p:nvSpPr>
        <p:spPr>
          <a:xfrm>
            <a:off x="8229600" y="2834640"/>
            <a:ext cx="384048" cy="384048"/>
          </a:xfrm>
          <a:prstGeom prst="ellipse">
            <a:avLst/>
          </a:prstGeom>
          <a:solidFill>
            <a:schemeClr val="accent6"/>
          </a:solidFill>
          <a:ln w="12700">
            <a:solidFill>
              <a:schemeClr val="accent6"/>
            </a:solidFill>
            <a:prstDash val="solid"/>
          </a:ln>
        </p:spPr>
        <p:txBody>
          <a:bodyPr/>
          <a:lstStyle/>
          <a:p>
            <a:endParaRPr lang="fr-FR"/>
          </a:p>
        </p:txBody>
      </p:sp>
      <p:sp>
        <p:nvSpPr>
          <p:cNvPr id="17" name="pb-t-409"/>
          <p:cNvSpPr txBox="1"/>
          <p:nvPr/>
        </p:nvSpPr>
        <p:spPr>
          <a:xfrm>
            <a:off x="8732520" y="2834640"/>
            <a:ext cx="2697480" cy="384048"/>
          </a:xfrm>
          <a:prstGeom prst="rect">
            <a:avLst/>
          </a:prstGeom>
          <a:noFill/>
          <a:ln/>
        </p:spPr>
        <p:txBody>
          <a:bodyPr wrap="square" lIns="0" tIns="0" rIns="0" bIns="0" rtlCol="0" anchor="ctr"/>
          <a:lstStyle/>
          <a:p>
            <a:pPr marL="0" indent="0">
              <a:buNone/>
            </a:pPr>
            <a:r>
              <a:rPr lang="en-US" sz="1800" b="1" dirty="0">
                <a:solidFill>
                  <a:schemeClr val="tx1"/>
                </a:solidFill>
              </a:rPr>
              <a:t>Récupérer</a:t>
            </a:r>
            <a:endParaRPr lang="en-US" sz="1800" dirty="0"/>
          </a:p>
        </p:txBody>
      </p:sp>
      <p:sp>
        <p:nvSpPr>
          <p:cNvPr id="18" name="pb-b-410"/>
          <p:cNvSpPr txBox="1"/>
          <p:nvPr/>
        </p:nvSpPr>
        <p:spPr>
          <a:xfrm>
            <a:off x="8229600" y="3429000"/>
            <a:ext cx="3200400" cy="2697480"/>
          </a:xfrm>
          <a:prstGeom prst="rect">
            <a:avLst/>
          </a:prstGeom>
          <a:noFill/>
          <a:ln/>
        </p:spPr>
        <p:txBody>
          <a:bodyPr wrap="square" lIns="0" tIns="0" rIns="0" bIns="0" rtlCol="0" anchor="t"/>
          <a:lstStyle/>
          <a:p>
            <a:pPr marL="152400" indent="-152400">
              <a:spcAft>
                <a:spcPts val="600"/>
              </a:spcAft>
              <a:buSzPct val="100000"/>
              <a:buChar char="•"/>
            </a:pPr>
            <a:r>
              <a:rPr lang="en-US" sz="1300" dirty="0">
                <a:solidFill>
                  <a:schemeClr val="tx1"/>
                </a:solidFill>
              </a:rPr>
              <a:t>Évaluer les données perdues et notifier</a:t>
            </a:r>
            <a:endParaRPr lang="en-US" sz="1300" dirty="0"/>
          </a:p>
          <a:p>
            <a:pPr marL="152400" indent="-152400">
              <a:spcAft>
                <a:spcPts val="600"/>
              </a:spcAft>
              <a:buSzPct val="100000"/>
              <a:buChar char="•"/>
            </a:pPr>
            <a:r>
              <a:rPr lang="en-US" sz="1300" dirty="0">
                <a:solidFill>
                  <a:schemeClr val="tx1"/>
                </a:solidFill>
              </a:rPr>
              <a:t>Créer une règle Watcher sur le volume sortant</a:t>
            </a:r>
            <a:endParaRPr lang="en-US" sz="1300" dirty="0"/>
          </a:p>
          <a:p>
            <a:pPr marL="152400" indent="-152400">
              <a:spcAft>
                <a:spcPts val="600"/>
              </a:spcAft>
              <a:buSzPct val="100000"/>
              <a:buChar char="•"/>
            </a:pPr>
            <a:r>
              <a:rPr lang="en-US" sz="1300" dirty="0">
                <a:solidFill>
                  <a:schemeClr val="tx1"/>
                </a:solidFill>
              </a:rPr>
              <a:t>Partager l'IP et le domaine dans MISP</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08760" y="320040"/>
            <a:ext cx="1010412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TheHive et MISP sur ENT-SOC (172.16.0.30)</a:t>
            </a:r>
            <a:endParaRPr lang="en-US" sz="3000" dirty="0"/>
          </a:p>
        </p:txBody>
      </p:sp>
      <p:sp>
        <p:nvSpPr>
          <p:cNvPr id="3" name="badge-411"/>
          <p:cNvSpPr/>
          <p:nvPr/>
        </p:nvSpPr>
        <p:spPr>
          <a:xfrm>
            <a:off x="548640" y="320040"/>
            <a:ext cx="731520" cy="731520"/>
          </a:xfrm>
          <a:prstGeom prst="ellipse">
            <a:avLst/>
          </a:prstGeom>
          <a:solidFill>
            <a:schemeClr val="accent1"/>
          </a:solidFill>
          <a:ln w="12700">
            <a:solidFill>
              <a:schemeClr val="accent1"/>
            </a:solidFill>
            <a:prstDash val="solid"/>
          </a:ln>
        </p:spPr>
        <p:txBody>
          <a:bodyPr/>
          <a:lstStyle/>
          <a:p>
            <a:endParaRPr lang="fr-FR"/>
          </a:p>
        </p:txBody>
      </p:sp>
      <p:sp>
        <p:nvSpPr>
          <p:cNvPr id="4" name="badge-num-412"/>
          <p:cNvSpPr txBox="1"/>
          <p:nvPr/>
        </p:nvSpPr>
        <p:spPr>
          <a:xfrm>
            <a:off x="548640" y="320040"/>
            <a:ext cx="731520" cy="731520"/>
          </a:xfrm>
          <a:prstGeom prst="rect">
            <a:avLst/>
          </a:prstGeom>
          <a:noFill/>
          <a:ln/>
        </p:spPr>
        <p:txBody>
          <a:bodyPr wrap="square" lIns="0" tIns="0" rIns="0" bIns="0" rtlCol="0" anchor="ctr"/>
          <a:lstStyle/>
          <a:p>
            <a:pPr marL="0" indent="0" algn="ctr">
              <a:buNone/>
            </a:pPr>
            <a:r>
              <a:rPr lang="en-US" sz="2200" b="1" dirty="0">
                <a:solidFill>
                  <a:schemeClr val="tx1"/>
                </a:solidFill>
                <a:latin typeface="Arial" pitchFamily="34" charset="0"/>
                <a:ea typeface="Arial" pitchFamily="34" charset="-122"/>
                <a:cs typeface="Arial" pitchFamily="34" charset="-120"/>
              </a:rPr>
              <a:t>09</a:t>
            </a:r>
            <a:endParaRPr lang="en-US" sz="2200" dirty="0"/>
          </a:p>
        </p:txBody>
      </p:sp>
      <p:sp>
        <p:nvSpPr>
          <p:cNvPr id="5" name="soc-413"/>
          <p:cNvSpPr/>
          <p:nvPr/>
        </p:nvSpPr>
        <p:spPr>
          <a:xfrm>
            <a:off x="548640" y="1325880"/>
            <a:ext cx="2103120" cy="1371600"/>
          </a:xfrm>
          <a:prstGeom prst="roundRect">
            <a:avLst>
              <a:gd name="adj" fmla="val 5333"/>
            </a:avLst>
          </a:prstGeom>
          <a:solidFill>
            <a:schemeClr val="bg2"/>
          </a:solidFill>
          <a:ln w="19050">
            <a:solidFill>
              <a:schemeClr val="accent1"/>
            </a:solidFill>
            <a:prstDash val="solid"/>
          </a:ln>
        </p:spPr>
        <p:txBody>
          <a:bodyPr/>
          <a:lstStyle/>
          <a:p>
            <a:endParaRPr lang="fr-FR"/>
          </a:p>
        </p:txBody>
      </p:sp>
      <p:sp>
        <p:nvSpPr>
          <p:cNvPr id="6" name="soc-t-414"/>
          <p:cNvSpPr txBox="1"/>
          <p:nvPr/>
        </p:nvSpPr>
        <p:spPr>
          <a:xfrm>
            <a:off x="685800" y="1325880"/>
            <a:ext cx="1828800" cy="1371600"/>
          </a:xfrm>
          <a:prstGeom prst="rect">
            <a:avLst/>
          </a:prstGeom>
          <a:noFill/>
          <a:ln/>
        </p:spPr>
        <p:txBody>
          <a:bodyPr wrap="square" lIns="0" tIns="0" rIns="0" bIns="0" rtlCol="0" anchor="ctr"/>
          <a:lstStyle/>
          <a:p>
            <a:pPr marL="0" indent="0">
              <a:buNone/>
            </a:pPr>
            <a:r>
              <a:rPr lang="en-US" sz="1700" b="1" dirty="0">
                <a:solidFill>
                  <a:schemeClr val="tx1"/>
                </a:solidFill>
              </a:rPr>
              <a:t>Watcher</a:t>
            </a:r>
            <a:endParaRPr lang="en-US" sz="1700" dirty="0"/>
          </a:p>
          <a:p>
            <a:pPr marL="0" indent="0">
              <a:buNone/>
            </a:pPr>
            <a:r>
              <a:rPr lang="en-US" sz="1100" b="1" dirty="0">
                <a:solidFill>
                  <a:schemeClr val="accent1"/>
                </a:solidFill>
              </a:rPr>
              <a:t>ENT-ELK</a:t>
            </a:r>
            <a:endParaRPr lang="en-US" sz="1700" dirty="0"/>
          </a:p>
          <a:p>
            <a:pPr marL="0" indent="0">
              <a:buNone/>
            </a:pPr>
            <a:r>
              <a:rPr lang="en-US" sz="1200" dirty="0">
                <a:solidFill>
                  <a:schemeClr val="tx2"/>
                </a:solidFill>
              </a:rPr>
              <a:t>alerte scan-de-ports</a:t>
            </a:r>
            <a:endParaRPr lang="en-US" sz="1700" dirty="0"/>
          </a:p>
        </p:txBody>
      </p:sp>
      <p:sp>
        <p:nvSpPr>
          <p:cNvPr id="7" name="arrow-415"/>
          <p:cNvSpPr/>
          <p:nvPr/>
        </p:nvSpPr>
        <p:spPr>
          <a:xfrm>
            <a:off x="2697480" y="2011680"/>
            <a:ext cx="320040" cy="0"/>
          </a:xfrm>
          <a:prstGeom prst="line">
            <a:avLst/>
          </a:prstGeom>
          <a:noFill/>
          <a:ln w="19050">
            <a:solidFill>
              <a:schemeClr val="accent5"/>
            </a:solidFill>
            <a:prstDash val="solid"/>
            <a:tailEnd type="triangle"/>
          </a:ln>
        </p:spPr>
        <p:txBody>
          <a:bodyPr/>
          <a:lstStyle/>
          <a:p>
            <a:endParaRPr lang="fr-FR"/>
          </a:p>
        </p:txBody>
      </p:sp>
      <p:sp>
        <p:nvSpPr>
          <p:cNvPr id="8" name="soc-416"/>
          <p:cNvSpPr/>
          <p:nvPr/>
        </p:nvSpPr>
        <p:spPr>
          <a:xfrm>
            <a:off x="3063240" y="1325880"/>
            <a:ext cx="2103120" cy="1371600"/>
          </a:xfrm>
          <a:prstGeom prst="roundRect">
            <a:avLst>
              <a:gd name="adj" fmla="val 5333"/>
            </a:avLst>
          </a:prstGeom>
          <a:solidFill>
            <a:schemeClr val="bg2"/>
          </a:solidFill>
          <a:ln w="19050">
            <a:solidFill>
              <a:schemeClr val="accent3"/>
            </a:solidFill>
            <a:prstDash val="solid"/>
          </a:ln>
        </p:spPr>
        <p:txBody>
          <a:bodyPr/>
          <a:lstStyle/>
          <a:p>
            <a:endParaRPr lang="fr-FR"/>
          </a:p>
        </p:txBody>
      </p:sp>
      <p:sp>
        <p:nvSpPr>
          <p:cNvPr id="9" name="soc-t-417"/>
          <p:cNvSpPr txBox="1"/>
          <p:nvPr/>
        </p:nvSpPr>
        <p:spPr>
          <a:xfrm>
            <a:off x="3200400" y="1325880"/>
            <a:ext cx="1828800" cy="1371600"/>
          </a:xfrm>
          <a:prstGeom prst="rect">
            <a:avLst/>
          </a:prstGeom>
          <a:noFill/>
          <a:ln/>
        </p:spPr>
        <p:txBody>
          <a:bodyPr wrap="square" lIns="0" tIns="0" rIns="0" bIns="0" rtlCol="0" anchor="ctr"/>
          <a:lstStyle/>
          <a:p>
            <a:pPr marL="0" indent="0">
              <a:buNone/>
            </a:pPr>
            <a:r>
              <a:rPr lang="en-US" sz="1700" b="1" dirty="0">
                <a:solidFill>
                  <a:schemeClr val="tx1"/>
                </a:solidFill>
              </a:rPr>
              <a:t>TheHive</a:t>
            </a:r>
            <a:endParaRPr lang="en-US" sz="1700" dirty="0"/>
          </a:p>
          <a:p>
            <a:pPr marL="0" indent="0">
              <a:buNone/>
            </a:pPr>
            <a:r>
              <a:rPr lang="en-US" sz="1100" b="1" dirty="0">
                <a:solidFill>
                  <a:schemeClr val="accent3"/>
                </a:solidFill>
              </a:rPr>
              <a:t>ENT-SOC</a:t>
            </a:r>
            <a:endParaRPr lang="en-US" sz="1700" dirty="0"/>
          </a:p>
          <a:p>
            <a:pPr marL="0" indent="0">
              <a:buNone/>
            </a:pPr>
            <a:r>
              <a:rPr lang="en-US" sz="1200" dirty="0">
                <a:solidFill>
                  <a:schemeClr val="tx2"/>
                </a:solidFill>
              </a:rPr>
              <a:t>cas, tâches, observables</a:t>
            </a:r>
            <a:endParaRPr lang="en-US" sz="1700" dirty="0"/>
          </a:p>
        </p:txBody>
      </p:sp>
      <p:sp>
        <p:nvSpPr>
          <p:cNvPr id="10" name="arrow-418"/>
          <p:cNvSpPr/>
          <p:nvPr/>
        </p:nvSpPr>
        <p:spPr>
          <a:xfrm>
            <a:off x="5212080" y="2011680"/>
            <a:ext cx="320040" cy="0"/>
          </a:xfrm>
          <a:prstGeom prst="line">
            <a:avLst/>
          </a:prstGeom>
          <a:noFill/>
          <a:ln w="19050">
            <a:solidFill>
              <a:schemeClr val="accent5"/>
            </a:solidFill>
            <a:prstDash val="solid"/>
            <a:tailEnd type="triangle"/>
          </a:ln>
        </p:spPr>
        <p:txBody>
          <a:bodyPr/>
          <a:lstStyle/>
          <a:p>
            <a:endParaRPr lang="fr-FR"/>
          </a:p>
        </p:txBody>
      </p:sp>
      <p:sp>
        <p:nvSpPr>
          <p:cNvPr id="11" name="soc-419"/>
          <p:cNvSpPr/>
          <p:nvPr/>
        </p:nvSpPr>
        <p:spPr>
          <a:xfrm>
            <a:off x="5577840" y="1325880"/>
            <a:ext cx="2103120" cy="1371600"/>
          </a:xfrm>
          <a:prstGeom prst="roundRect">
            <a:avLst>
              <a:gd name="adj" fmla="val 5333"/>
            </a:avLst>
          </a:prstGeom>
          <a:solidFill>
            <a:schemeClr val="bg2"/>
          </a:solidFill>
          <a:ln w="19050">
            <a:solidFill>
              <a:schemeClr val="accent4"/>
            </a:solidFill>
            <a:prstDash val="solid"/>
          </a:ln>
        </p:spPr>
        <p:txBody>
          <a:bodyPr/>
          <a:lstStyle/>
          <a:p>
            <a:endParaRPr lang="fr-FR"/>
          </a:p>
        </p:txBody>
      </p:sp>
      <p:sp>
        <p:nvSpPr>
          <p:cNvPr id="12" name="soc-t-420"/>
          <p:cNvSpPr txBox="1"/>
          <p:nvPr/>
        </p:nvSpPr>
        <p:spPr>
          <a:xfrm>
            <a:off x="5715000" y="1325880"/>
            <a:ext cx="1828800" cy="1371600"/>
          </a:xfrm>
          <a:prstGeom prst="rect">
            <a:avLst/>
          </a:prstGeom>
          <a:noFill/>
          <a:ln/>
        </p:spPr>
        <p:txBody>
          <a:bodyPr wrap="square" lIns="0" tIns="0" rIns="0" bIns="0" rtlCol="0" anchor="ctr"/>
          <a:lstStyle/>
          <a:p>
            <a:pPr marL="0" indent="0">
              <a:buNone/>
            </a:pPr>
            <a:r>
              <a:rPr lang="en-US" sz="1700" b="1" dirty="0">
                <a:solidFill>
                  <a:schemeClr val="tx1"/>
                </a:solidFill>
              </a:rPr>
              <a:t>MISP</a:t>
            </a:r>
            <a:endParaRPr lang="en-US" sz="1700" dirty="0"/>
          </a:p>
          <a:p>
            <a:pPr marL="0" indent="0">
              <a:buNone/>
            </a:pPr>
            <a:r>
              <a:rPr lang="en-US" sz="1100" b="1" dirty="0">
                <a:solidFill>
                  <a:schemeClr val="accent4"/>
                </a:solidFill>
              </a:rPr>
              <a:t>ENT-SOC</a:t>
            </a:r>
            <a:endParaRPr lang="en-US" sz="1700" dirty="0"/>
          </a:p>
          <a:p>
            <a:pPr marL="0" indent="0">
              <a:buNone/>
            </a:pPr>
            <a:r>
              <a:rPr lang="en-US" sz="1200" dirty="0">
                <a:solidFill>
                  <a:schemeClr val="tx2"/>
                </a:solidFill>
              </a:rPr>
              <a:t>événement, attributs, tags TLP</a:t>
            </a:r>
            <a:endParaRPr lang="en-US" sz="1700" dirty="0"/>
          </a:p>
        </p:txBody>
      </p:sp>
      <p:sp>
        <p:nvSpPr>
          <p:cNvPr id="13" name="card-421"/>
          <p:cNvSpPr/>
          <p:nvPr/>
        </p:nvSpPr>
        <p:spPr>
          <a:xfrm>
            <a:off x="548640" y="2926080"/>
            <a:ext cx="7132320" cy="3337560"/>
          </a:xfrm>
          <a:prstGeom prst="roundRect">
            <a:avLst>
              <a:gd name="adj" fmla="val 2192"/>
            </a:avLst>
          </a:prstGeom>
          <a:solidFill>
            <a:schemeClr val="bg2"/>
          </a:solidFill>
          <a:ln w="9525">
            <a:solidFill>
              <a:srgbClr val="D6DEEA"/>
            </a:solidFill>
            <a:prstDash val="solid"/>
          </a:ln>
        </p:spPr>
        <p:txBody>
          <a:bodyPr/>
          <a:lstStyle/>
          <a:p>
            <a:endParaRPr lang="fr-FR"/>
          </a:p>
        </p:txBody>
      </p:sp>
      <p:sp>
        <p:nvSpPr>
          <p:cNvPr id="14" name="card-t-422"/>
          <p:cNvSpPr txBox="1"/>
          <p:nvPr/>
        </p:nvSpPr>
        <p:spPr>
          <a:xfrm>
            <a:off x="731520" y="3063240"/>
            <a:ext cx="6766560" cy="365760"/>
          </a:xfrm>
          <a:prstGeom prst="rect">
            <a:avLst/>
          </a:prstGeom>
          <a:noFill/>
          <a:ln/>
        </p:spPr>
        <p:txBody>
          <a:bodyPr wrap="square" lIns="0" tIns="0" rIns="0" bIns="0" rtlCol="0" anchor="ctr"/>
          <a:lstStyle/>
          <a:p>
            <a:pPr marL="0" indent="0">
              <a:buNone/>
            </a:pPr>
            <a:r>
              <a:rPr lang="en-US" sz="1600" b="1" dirty="0">
                <a:solidFill>
                  <a:schemeClr val="tx1"/>
                </a:solidFill>
              </a:rPr>
              <a:t>Mise en place sur ENT-SOC (10 Go de RAM, 60 Go)</a:t>
            </a:r>
            <a:endParaRPr lang="en-US" sz="1600" dirty="0"/>
          </a:p>
        </p:txBody>
      </p:sp>
      <p:sp>
        <p:nvSpPr>
          <p:cNvPr id="15" name="card-b-423"/>
          <p:cNvSpPr txBox="1"/>
          <p:nvPr/>
        </p:nvSpPr>
        <p:spPr>
          <a:xfrm>
            <a:off x="731520" y="3474720"/>
            <a:ext cx="6766560" cy="265176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chemeClr val="tx1"/>
                </a:solidFill>
              </a:rPr>
              <a:t>TheHive 5 avec sa base Cassandra et son index Elasticsearch dédiés</a:t>
            </a:r>
            <a:endParaRPr lang="en-US" sz="1400" dirty="0"/>
          </a:p>
          <a:p>
            <a:pPr marL="152400" indent="-152400">
              <a:spcAft>
                <a:spcPts val="400"/>
              </a:spcAft>
              <a:buSzPct val="100000"/>
              <a:buChar char="•"/>
            </a:pPr>
            <a:r>
              <a:rPr lang="en-US" sz="1400" dirty="0">
                <a:solidFill>
                  <a:schemeClr val="tx1"/>
                </a:solidFill>
              </a:rPr>
              <a:t>MISP sur la même VM, accessible en HTTPS</a:t>
            </a:r>
            <a:endParaRPr lang="en-US" sz="1400" dirty="0"/>
          </a:p>
          <a:p>
            <a:pPr marL="152400" indent="-152400">
              <a:spcAft>
                <a:spcPts val="400"/>
              </a:spcAft>
              <a:buSzPct val="100000"/>
              <a:buChar char="•"/>
            </a:pPr>
            <a:r>
              <a:rPr lang="en-US" sz="1400" dirty="0">
                <a:solidFill>
                  <a:schemeClr val="tx1"/>
                </a:solidFill>
              </a:rPr>
              <a:t>Comptes nominatifs (analyste, responsable) — aucun compte admin partagé</a:t>
            </a:r>
            <a:endParaRPr lang="en-US" sz="1400" dirty="0"/>
          </a:p>
          <a:p>
            <a:pPr marL="152400" indent="-152400">
              <a:spcAft>
                <a:spcPts val="400"/>
              </a:spcAft>
              <a:buSzPct val="100000"/>
              <a:buChar char="•"/>
            </a:pPr>
            <a:r>
              <a:rPr lang="en-US" sz="1400" dirty="0">
                <a:solidFill>
                  <a:schemeClr val="tx1"/>
                </a:solidFill>
              </a:rPr>
              <a:t>Connecteur MISP dans TheHive : URL https://172.16.0.30 et clé API MISP</a:t>
            </a:r>
            <a:endParaRPr lang="en-US" sz="1400" dirty="0"/>
          </a:p>
          <a:p>
            <a:pPr marL="152400" indent="-152400">
              <a:spcAft>
                <a:spcPts val="400"/>
              </a:spcAft>
              <a:buSzPct val="100000"/>
              <a:buChar char="•"/>
            </a:pPr>
            <a:r>
              <a:rPr lang="en-US" sz="1400" dirty="0">
                <a:solidFill>
                  <a:schemeClr val="tx1"/>
                </a:solidFill>
              </a:rPr>
              <a:t>Synchronisation : événements MISP importés en alertes, observables d'un cas exportés en événement MISP</a:t>
            </a:r>
            <a:endParaRPr lang="en-US" sz="1400" dirty="0"/>
          </a:p>
        </p:txBody>
      </p:sp>
      <p:sp>
        <p:nvSpPr>
          <p:cNvPr id="16" name="ph-424"/>
          <p:cNvSpPr/>
          <p:nvPr/>
        </p:nvSpPr>
        <p:spPr>
          <a:xfrm>
            <a:off x="7955280" y="1325880"/>
            <a:ext cx="3657600" cy="2331720"/>
          </a:xfrm>
          <a:prstGeom prst="roundRect">
            <a:avLst>
              <a:gd name="adj" fmla="val 3137"/>
            </a:avLst>
          </a:prstGeom>
          <a:solidFill>
            <a:schemeClr val="bg2"/>
          </a:solidFill>
          <a:ln w="15875">
            <a:solidFill>
              <a:schemeClr val="accent5"/>
            </a:solidFill>
            <a:prstDash val="dash"/>
          </a:ln>
        </p:spPr>
        <p:txBody>
          <a:bodyPr/>
          <a:lstStyle/>
          <a:p>
            <a:endParaRPr lang="fr-FR"/>
          </a:p>
        </p:txBody>
      </p:sp>
      <p:sp>
        <p:nvSpPr>
          <p:cNvPr id="17" name="ph-t-425"/>
          <p:cNvSpPr txBox="1"/>
          <p:nvPr/>
        </p:nvSpPr>
        <p:spPr>
          <a:xfrm>
            <a:off x="8138160" y="1325880"/>
            <a:ext cx="3291840" cy="2331720"/>
          </a:xfrm>
          <a:prstGeom prst="rect">
            <a:avLst/>
          </a:prstGeom>
          <a:noFill/>
          <a:ln/>
        </p:spPr>
        <p:txBody>
          <a:bodyPr wrap="square" lIns="0" tIns="0" rIns="0" bIns="0" rtlCol="0" anchor="ctr"/>
          <a:lstStyle/>
          <a:p>
            <a:pPr marL="0" indent="0" algn="ctr">
              <a:buNone/>
            </a:pPr>
            <a:r>
              <a:rPr lang="en-US" sz="1400" b="1" dirty="0">
                <a:solidFill>
                  <a:schemeClr val="tx2"/>
                </a:solidFill>
              </a:rPr>
              <a:t>Capture à insérer</a:t>
            </a:r>
            <a:endParaRPr lang="en-US" sz="1400" dirty="0"/>
          </a:p>
          <a:p>
            <a:pPr marL="0" indent="0" algn="ctr">
              <a:buNone/>
            </a:pPr>
            <a:r>
              <a:rPr lang="en-US" sz="1200" dirty="0">
                <a:solidFill>
                  <a:schemeClr val="accent5"/>
                </a:solidFill>
              </a:rPr>
              <a:t>Interface TheHive : liste des cas</a:t>
            </a:r>
            <a:endParaRPr lang="en-US" sz="1400" dirty="0"/>
          </a:p>
        </p:txBody>
      </p:sp>
      <p:sp>
        <p:nvSpPr>
          <p:cNvPr id="18" name="ph-426"/>
          <p:cNvSpPr/>
          <p:nvPr/>
        </p:nvSpPr>
        <p:spPr>
          <a:xfrm>
            <a:off x="7955280" y="3840480"/>
            <a:ext cx="3657600" cy="2423160"/>
          </a:xfrm>
          <a:prstGeom prst="roundRect">
            <a:avLst>
              <a:gd name="adj" fmla="val 3019"/>
            </a:avLst>
          </a:prstGeom>
          <a:solidFill>
            <a:schemeClr val="bg2"/>
          </a:solidFill>
          <a:ln w="15875">
            <a:solidFill>
              <a:schemeClr val="accent5"/>
            </a:solidFill>
            <a:prstDash val="dash"/>
          </a:ln>
        </p:spPr>
        <p:txBody>
          <a:bodyPr/>
          <a:lstStyle/>
          <a:p>
            <a:endParaRPr lang="fr-FR"/>
          </a:p>
        </p:txBody>
      </p:sp>
      <p:sp>
        <p:nvSpPr>
          <p:cNvPr id="19" name="ph-t-427"/>
          <p:cNvSpPr txBox="1"/>
          <p:nvPr/>
        </p:nvSpPr>
        <p:spPr>
          <a:xfrm>
            <a:off x="8138160" y="3840480"/>
            <a:ext cx="3291840" cy="2423160"/>
          </a:xfrm>
          <a:prstGeom prst="rect">
            <a:avLst/>
          </a:prstGeom>
          <a:noFill/>
          <a:ln/>
        </p:spPr>
        <p:txBody>
          <a:bodyPr wrap="square" lIns="0" tIns="0" rIns="0" bIns="0" rtlCol="0" anchor="ctr"/>
          <a:lstStyle/>
          <a:p>
            <a:pPr marL="0" indent="0" algn="ctr">
              <a:buNone/>
            </a:pPr>
            <a:r>
              <a:rPr lang="en-US" sz="1400" b="1" dirty="0">
                <a:solidFill>
                  <a:schemeClr val="tx2"/>
                </a:solidFill>
              </a:rPr>
              <a:t>Capture à insérer</a:t>
            </a:r>
            <a:endParaRPr lang="en-US" sz="1400" dirty="0"/>
          </a:p>
          <a:p>
            <a:pPr marL="0" indent="0" algn="ctr">
              <a:buNone/>
            </a:pPr>
            <a:r>
              <a:rPr lang="en-US" sz="1200" dirty="0">
                <a:solidFill>
                  <a:schemeClr val="accent5"/>
                </a:solidFill>
              </a:rPr>
              <a:t>Interface MISP : connecteur TheHive actif</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08760" y="320040"/>
            <a:ext cx="1010412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Cas TheHive « Intrusion Borg » et partage d'IoC</a:t>
            </a:r>
            <a:endParaRPr lang="en-US" sz="3000" dirty="0"/>
          </a:p>
        </p:txBody>
      </p:sp>
      <p:sp>
        <p:nvSpPr>
          <p:cNvPr id="3" name="badge-428"/>
          <p:cNvSpPr/>
          <p:nvPr/>
        </p:nvSpPr>
        <p:spPr>
          <a:xfrm>
            <a:off x="548640" y="320040"/>
            <a:ext cx="731520" cy="731520"/>
          </a:xfrm>
          <a:prstGeom prst="ellipse">
            <a:avLst/>
          </a:prstGeom>
          <a:solidFill>
            <a:schemeClr val="accent1"/>
          </a:solidFill>
          <a:ln w="12700">
            <a:solidFill>
              <a:schemeClr val="accent1"/>
            </a:solidFill>
            <a:prstDash val="solid"/>
          </a:ln>
        </p:spPr>
        <p:txBody>
          <a:bodyPr/>
          <a:lstStyle/>
          <a:p>
            <a:endParaRPr lang="fr-FR"/>
          </a:p>
        </p:txBody>
      </p:sp>
      <p:sp>
        <p:nvSpPr>
          <p:cNvPr id="4" name="badge-num-429"/>
          <p:cNvSpPr txBox="1"/>
          <p:nvPr/>
        </p:nvSpPr>
        <p:spPr>
          <a:xfrm>
            <a:off x="548640" y="320040"/>
            <a:ext cx="731520" cy="731520"/>
          </a:xfrm>
          <a:prstGeom prst="rect">
            <a:avLst/>
          </a:prstGeom>
          <a:noFill/>
          <a:ln/>
        </p:spPr>
        <p:txBody>
          <a:bodyPr wrap="square" lIns="0" tIns="0" rIns="0" bIns="0" rtlCol="0" anchor="ctr"/>
          <a:lstStyle/>
          <a:p>
            <a:pPr marL="0" indent="0" algn="ctr">
              <a:buNone/>
            </a:pPr>
            <a:r>
              <a:rPr lang="en-US" sz="2200" b="1" dirty="0">
                <a:solidFill>
                  <a:schemeClr val="tx1"/>
                </a:solidFill>
                <a:latin typeface="Arial" pitchFamily="34" charset="0"/>
                <a:ea typeface="Arial" pitchFamily="34" charset="-122"/>
                <a:cs typeface="Arial" pitchFamily="34" charset="-120"/>
              </a:rPr>
              <a:t>09</a:t>
            </a:r>
            <a:endParaRPr lang="en-US" sz="2200" dirty="0"/>
          </a:p>
        </p:txBody>
      </p:sp>
      <p:sp>
        <p:nvSpPr>
          <p:cNvPr id="5" name="card-430"/>
          <p:cNvSpPr/>
          <p:nvPr/>
        </p:nvSpPr>
        <p:spPr>
          <a:xfrm>
            <a:off x="548640" y="1280160"/>
            <a:ext cx="5486400" cy="2423160"/>
          </a:xfrm>
          <a:prstGeom prst="roundRect">
            <a:avLst>
              <a:gd name="adj" fmla="val 3019"/>
            </a:avLst>
          </a:prstGeom>
          <a:solidFill>
            <a:schemeClr val="bg2"/>
          </a:solidFill>
          <a:ln w="9525">
            <a:solidFill>
              <a:srgbClr val="D6DEEA"/>
            </a:solidFill>
            <a:prstDash val="solid"/>
          </a:ln>
        </p:spPr>
        <p:txBody>
          <a:bodyPr/>
          <a:lstStyle/>
          <a:p>
            <a:endParaRPr lang="fr-FR"/>
          </a:p>
        </p:txBody>
      </p:sp>
      <p:sp>
        <p:nvSpPr>
          <p:cNvPr id="6" name="card-t-431"/>
          <p:cNvSpPr txBox="1"/>
          <p:nvPr/>
        </p:nvSpPr>
        <p:spPr>
          <a:xfrm>
            <a:off x="731520" y="1417320"/>
            <a:ext cx="5120640" cy="365760"/>
          </a:xfrm>
          <a:prstGeom prst="rect">
            <a:avLst/>
          </a:prstGeom>
          <a:noFill/>
          <a:ln/>
        </p:spPr>
        <p:txBody>
          <a:bodyPr wrap="square" lIns="0" tIns="0" rIns="0" bIns="0" rtlCol="0" anchor="ctr"/>
          <a:lstStyle/>
          <a:p>
            <a:pPr marL="0" indent="0">
              <a:buNone/>
            </a:pPr>
            <a:r>
              <a:rPr lang="en-US" sz="1600" b="1" dirty="0">
                <a:solidFill>
                  <a:schemeClr val="tx1"/>
                </a:solidFill>
              </a:rPr>
              <a:t>Cas #1 – Scan de ports interne</a:t>
            </a:r>
            <a:endParaRPr lang="en-US" sz="1600" dirty="0"/>
          </a:p>
        </p:txBody>
      </p:sp>
      <p:sp>
        <p:nvSpPr>
          <p:cNvPr id="7" name="card-b-432"/>
          <p:cNvSpPr txBox="1"/>
          <p:nvPr/>
        </p:nvSpPr>
        <p:spPr>
          <a:xfrm>
            <a:off x="731520" y="1828800"/>
            <a:ext cx="5120640" cy="173736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chemeClr val="tx1"/>
                </a:solidFill>
              </a:rPr>
              <a:t>Source : alerte Watcher du 17/09 à 00 h 00</a:t>
            </a:r>
            <a:endParaRPr lang="en-US" sz="1400" dirty="0"/>
          </a:p>
          <a:p>
            <a:pPr marL="152400" indent="-152400">
              <a:spcAft>
                <a:spcPts val="400"/>
              </a:spcAft>
              <a:buSzPct val="100000"/>
              <a:buChar char="•"/>
            </a:pPr>
            <a:r>
              <a:rPr lang="en-US" sz="1400" dirty="0">
                <a:solidFill>
                  <a:schemeClr val="tx1"/>
                </a:solidFill>
              </a:rPr>
              <a:t>Sévérité haute · TLP:AMBER · PAP:AMBER</a:t>
            </a:r>
            <a:endParaRPr lang="en-US" sz="1400" dirty="0"/>
          </a:p>
          <a:p>
            <a:pPr marL="152400" indent="-152400">
              <a:spcAft>
                <a:spcPts val="400"/>
              </a:spcAft>
              <a:buSzPct val="100000"/>
              <a:buChar char="•"/>
            </a:pPr>
            <a:r>
              <a:rPr lang="en-US" sz="1400" dirty="0">
                <a:solidFill>
                  <a:schemeClr val="tx1"/>
                </a:solidFill>
              </a:rPr>
              <a:t>Tags : enterprise-d, borg, reconnaissance, T1046</a:t>
            </a:r>
            <a:endParaRPr lang="en-US" sz="1400" dirty="0"/>
          </a:p>
          <a:p>
            <a:pPr marL="152400" indent="-152400">
              <a:spcAft>
                <a:spcPts val="400"/>
              </a:spcAft>
              <a:buSzPct val="100000"/>
              <a:buChar char="•"/>
            </a:pPr>
            <a:r>
              <a:rPr lang="en-US" sz="1400" dirty="0">
                <a:solidFill>
                  <a:schemeClr val="tx1"/>
                </a:solidFill>
              </a:rPr>
              <a:t>Résumé : 200 ports TCP de 172.16.0.10 sondés depuis 172.16.0.40</a:t>
            </a:r>
            <a:endParaRPr lang="en-US" sz="1400" dirty="0"/>
          </a:p>
        </p:txBody>
      </p:sp>
      <p:graphicFrame>
        <p:nvGraphicFramePr>
          <p:cNvPr id="32" name="tab-tasks"/>
          <p:cNvGraphicFramePr>
            <a:graphicFrameLocks noGrp="1"/>
          </p:cNvGraphicFramePr>
          <p:nvPr>
            <p:extLst>
              <p:ext uri="{D42A27DB-BD31-4B8C-83A1-F6EECF244321}">
                <p14:modId xmlns:p14="http://schemas.microsoft.com/office/powerpoint/2010/main" val="1579011935"/>
              </p:ext>
            </p:extLst>
          </p:nvPr>
        </p:nvGraphicFramePr>
        <p:xfrm>
          <a:off x="548640" y="3886200"/>
          <a:ext cx="5486400" cy="914400"/>
        </p:xfrm>
        <a:graphic>
          <a:graphicData uri="http://schemas.openxmlformats.org/drawingml/2006/table">
            <a:tbl>
              <a:tblPr/>
              <a:tblGrid>
                <a:gridCol w="35661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tblGrid>
              <a:tr h="347472">
                <a:tc>
                  <a:txBody>
                    <a:bodyPr/>
                    <a:lstStyle/>
                    <a:p>
                      <a:pPr marL="0" indent="0">
                        <a:buNone/>
                      </a:pPr>
                      <a:r>
                        <a:rPr lang="en-US" sz="1300" b="1" dirty="0">
                          <a:solidFill>
                            <a:schemeClr val="bg1"/>
                          </a:solidFill>
                        </a:rPr>
                        <a:t>Tâche de réponse</a:t>
                      </a:r>
                      <a:endParaRPr lang="en-US" sz="1300" dirty="0"/>
                    </a:p>
                  </a:txBody>
                  <a:tcPr marL="45720" marR="45720">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Assignée à</a:t>
                      </a:r>
                      <a:endParaRPr lang="en-US" sz="1300" dirty="0"/>
                    </a:p>
                  </a:txBody>
                  <a:tcPr marL="45720" marR="45720">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47472">
                <a:tc>
                  <a:txBody>
                    <a:bodyPr/>
                    <a:lstStyle/>
                    <a:p>
                      <a:pPr marL="0" indent="0">
                        <a:buNone/>
                      </a:pPr>
                      <a:r>
                        <a:rPr lang="en-US" sz="1300" dirty="0">
                          <a:solidFill>
                            <a:schemeClr val="tx1"/>
                          </a:solidFill>
                        </a:rPr>
                        <a:t>Isoler ENT-BRIDGE du réseau</a:t>
                      </a:r>
                      <a:endParaRPr lang="en-US" sz="1300" dirty="0"/>
                    </a:p>
                  </a:txBody>
                  <a:tcPr marL="45720" marR="45720">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Officier sécurité</a:t>
                      </a:r>
                      <a:endParaRPr lang="en-US" sz="1300" dirty="0"/>
                    </a:p>
                  </a:txBody>
                  <a:tcPr marL="45720" marR="45720">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47472">
                <a:tc>
                  <a:txBody>
                    <a:bodyPr/>
                    <a:lstStyle/>
                    <a:p>
                      <a:pPr marL="0" indent="0">
                        <a:buNone/>
                      </a:pPr>
                      <a:r>
                        <a:rPr lang="en-US" sz="1300" dirty="0">
                          <a:solidFill>
                            <a:schemeClr val="tx1"/>
                          </a:solidFill>
                        </a:rPr>
                        <a:t>Collecter capture + index wireshark-*</a:t>
                      </a:r>
                      <a:endParaRPr lang="en-US" sz="1300" dirty="0"/>
                    </a:p>
                  </a:txBody>
                  <a:tcPr marL="45720" marR="45720">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Analyste SOC</a:t>
                      </a:r>
                      <a:endParaRPr lang="en-US" sz="1300" dirty="0"/>
                    </a:p>
                  </a:txBody>
                  <a:tcPr marL="45720" marR="45720">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47472">
                <a:tc>
                  <a:txBody>
                    <a:bodyPr/>
                    <a:lstStyle/>
                    <a:p>
                      <a:pPr marL="0" indent="0">
                        <a:buNone/>
                      </a:pPr>
                      <a:r>
                        <a:rPr lang="en-US" sz="1300" dirty="0">
                          <a:solidFill>
                            <a:schemeClr val="tx1"/>
                          </a:solidFill>
                        </a:rPr>
                        <a:t>Analyser processus et comptes</a:t>
                      </a:r>
                      <a:endParaRPr lang="en-US" sz="1300" dirty="0"/>
                    </a:p>
                  </a:txBody>
                  <a:tcPr marL="45720" marR="45720">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Analyste SOC</a:t>
                      </a:r>
                      <a:endParaRPr lang="en-US" sz="1300" dirty="0"/>
                    </a:p>
                  </a:txBody>
                  <a:tcPr marL="45720" marR="45720">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47472">
                <a:tc>
                  <a:txBody>
                    <a:bodyPr/>
                    <a:lstStyle/>
                    <a:p>
                      <a:pPr marL="0" indent="0">
                        <a:buNone/>
                      </a:pPr>
                      <a:r>
                        <a:rPr lang="en-US" sz="1300" dirty="0">
                          <a:solidFill>
                            <a:schemeClr val="tx1"/>
                          </a:solidFill>
                        </a:rPr>
                        <a:t>Réinstaller et durcir la VM</a:t>
                      </a:r>
                      <a:endParaRPr lang="en-US" sz="1300" dirty="0"/>
                    </a:p>
                  </a:txBody>
                  <a:tcPr marL="45720" marR="45720">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Ingénieur système</a:t>
                      </a:r>
                      <a:endParaRPr lang="en-US" sz="1300" dirty="0"/>
                    </a:p>
                  </a:txBody>
                  <a:tcPr marL="45720" marR="45720">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47472">
                <a:tc>
                  <a:txBody>
                    <a:bodyPr/>
                    <a:lstStyle/>
                    <a:p>
                      <a:pPr marL="0" indent="0">
                        <a:buNone/>
                      </a:pPr>
                      <a:r>
                        <a:rPr lang="en-US" sz="1300" dirty="0">
                          <a:solidFill>
                            <a:schemeClr val="tx1"/>
                          </a:solidFill>
                        </a:rPr>
                        <a:t>Partager les IoC dans MISP</a:t>
                      </a:r>
                      <a:endParaRPr lang="en-US" sz="1300" dirty="0"/>
                    </a:p>
                  </a:txBody>
                  <a:tcPr marL="45720" marR="45720">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Analyste CTI</a:t>
                      </a:r>
                      <a:endParaRPr lang="en-US" sz="1300" dirty="0"/>
                    </a:p>
                  </a:txBody>
                  <a:tcPr marL="45720" marR="45720">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9" name="card-433"/>
          <p:cNvSpPr/>
          <p:nvPr/>
        </p:nvSpPr>
        <p:spPr>
          <a:xfrm>
            <a:off x="6309360" y="1280160"/>
            <a:ext cx="5303520" cy="2423160"/>
          </a:xfrm>
          <a:prstGeom prst="roundRect">
            <a:avLst>
              <a:gd name="adj" fmla="val 3019"/>
            </a:avLst>
          </a:prstGeom>
          <a:solidFill>
            <a:schemeClr val="bg2"/>
          </a:solidFill>
          <a:ln w="9525">
            <a:solidFill>
              <a:srgbClr val="D6DEEA"/>
            </a:solidFill>
            <a:prstDash val="solid"/>
          </a:ln>
        </p:spPr>
        <p:txBody>
          <a:bodyPr/>
          <a:lstStyle/>
          <a:p>
            <a:endParaRPr lang="fr-FR"/>
          </a:p>
        </p:txBody>
      </p:sp>
      <p:sp>
        <p:nvSpPr>
          <p:cNvPr id="10" name="card-t-434"/>
          <p:cNvSpPr txBox="1"/>
          <p:nvPr/>
        </p:nvSpPr>
        <p:spPr>
          <a:xfrm>
            <a:off x="6492240" y="1417320"/>
            <a:ext cx="4937760" cy="365760"/>
          </a:xfrm>
          <a:prstGeom prst="rect">
            <a:avLst/>
          </a:prstGeom>
          <a:noFill/>
          <a:ln/>
        </p:spPr>
        <p:txBody>
          <a:bodyPr wrap="square" lIns="0" tIns="0" rIns="0" bIns="0" rtlCol="0" anchor="ctr"/>
          <a:lstStyle/>
          <a:p>
            <a:pPr marL="0" indent="0">
              <a:buNone/>
            </a:pPr>
            <a:r>
              <a:rPr lang="en-US" sz="1600" b="1" dirty="0">
                <a:solidFill>
                  <a:schemeClr val="tx1"/>
                </a:solidFill>
              </a:rPr>
              <a:t>Observables → événement MISP</a:t>
            </a:r>
            <a:endParaRPr lang="en-US" sz="1600" dirty="0"/>
          </a:p>
        </p:txBody>
      </p:sp>
      <p:sp>
        <p:nvSpPr>
          <p:cNvPr id="11" name="card-b-435"/>
          <p:cNvSpPr txBox="1"/>
          <p:nvPr/>
        </p:nvSpPr>
        <p:spPr>
          <a:xfrm>
            <a:off x="6492240" y="1828800"/>
            <a:ext cx="4937760" cy="173736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chemeClr val="tx1"/>
                </a:solidFill>
              </a:rPr>
              <a:t>ip-src 172.16.0.40 (to_ids)</a:t>
            </a:r>
            <a:endParaRPr lang="en-US" sz="1400" dirty="0"/>
          </a:p>
          <a:p>
            <a:pPr marL="152400" indent="-152400">
              <a:spcAft>
                <a:spcPts val="400"/>
              </a:spcAft>
              <a:buSzPct val="100000"/>
              <a:buChar char="•"/>
            </a:pPr>
            <a:r>
              <a:rPr lang="en-US" sz="1400" dirty="0">
                <a:solidFill>
                  <a:schemeClr val="tx1"/>
                </a:solidFill>
              </a:rPr>
              <a:t>ip-dst 172.16.0.10 · port-range 1-200/TCP</a:t>
            </a:r>
            <a:endParaRPr lang="en-US" sz="1400" dirty="0"/>
          </a:p>
          <a:p>
            <a:pPr marL="152400" indent="-152400">
              <a:spcAft>
                <a:spcPts val="400"/>
              </a:spcAft>
              <a:buSzPct val="100000"/>
              <a:buChar char="•"/>
            </a:pPr>
            <a:r>
              <a:rPr lang="en-US" sz="1400" dirty="0">
                <a:solidFill>
                  <a:schemeClr val="tx1"/>
                </a:solidFill>
              </a:rPr>
              <a:t>Taxonomies : tlp:amber, mitre-attack T1046</a:t>
            </a:r>
            <a:endParaRPr lang="en-US" sz="1400" dirty="0"/>
          </a:p>
          <a:p>
            <a:pPr marL="152400" indent="-152400">
              <a:spcAft>
                <a:spcPts val="400"/>
              </a:spcAft>
              <a:buSzPct val="100000"/>
              <a:buChar char="•"/>
            </a:pPr>
            <a:r>
              <a:rPr lang="en-US" sz="1400" dirty="0">
                <a:solidFill>
                  <a:schemeClr val="tx1"/>
                </a:solidFill>
              </a:rPr>
              <a:t>Corrélation MISP avec les événements existants</a:t>
            </a:r>
            <a:endParaRPr lang="en-US" sz="1400" dirty="0"/>
          </a:p>
        </p:txBody>
      </p:sp>
      <p:sp>
        <p:nvSpPr>
          <p:cNvPr id="12" name="ph-436"/>
          <p:cNvSpPr/>
          <p:nvPr/>
        </p:nvSpPr>
        <p:spPr>
          <a:xfrm>
            <a:off x="6309360" y="3886200"/>
            <a:ext cx="5303520" cy="2377440"/>
          </a:xfrm>
          <a:prstGeom prst="roundRect">
            <a:avLst>
              <a:gd name="adj" fmla="val 3077"/>
            </a:avLst>
          </a:prstGeom>
          <a:solidFill>
            <a:schemeClr val="bg2"/>
          </a:solidFill>
          <a:ln w="15875">
            <a:solidFill>
              <a:schemeClr val="accent5"/>
            </a:solidFill>
            <a:prstDash val="dash"/>
          </a:ln>
        </p:spPr>
        <p:txBody>
          <a:bodyPr/>
          <a:lstStyle/>
          <a:p>
            <a:endParaRPr lang="fr-FR"/>
          </a:p>
        </p:txBody>
      </p:sp>
      <p:sp>
        <p:nvSpPr>
          <p:cNvPr id="13" name="ph-t-437"/>
          <p:cNvSpPr txBox="1"/>
          <p:nvPr/>
        </p:nvSpPr>
        <p:spPr>
          <a:xfrm>
            <a:off x="6492240" y="3886200"/>
            <a:ext cx="4937760" cy="2377440"/>
          </a:xfrm>
          <a:prstGeom prst="rect">
            <a:avLst/>
          </a:prstGeom>
          <a:noFill/>
          <a:ln/>
        </p:spPr>
        <p:txBody>
          <a:bodyPr wrap="square" lIns="0" tIns="0" rIns="0" bIns="0" rtlCol="0" anchor="ctr"/>
          <a:lstStyle/>
          <a:p>
            <a:pPr marL="0" indent="0" algn="ctr">
              <a:buNone/>
            </a:pPr>
            <a:r>
              <a:rPr lang="en-US" sz="1400" b="1" dirty="0">
                <a:solidFill>
                  <a:schemeClr val="tx2"/>
                </a:solidFill>
              </a:rPr>
              <a:t>Capture à insérer</a:t>
            </a:r>
            <a:endParaRPr lang="en-US" sz="1400" dirty="0"/>
          </a:p>
          <a:p>
            <a:pPr marL="0" indent="0" algn="ctr">
              <a:buNone/>
            </a:pPr>
            <a:r>
              <a:rPr lang="en-US" sz="1200" dirty="0">
                <a:solidFill>
                  <a:schemeClr val="accent5"/>
                </a:solidFill>
              </a:rPr>
              <a:t>Cas TheHive avec tâches assignées + événement MISP publié</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Difficultés rencontrées et solutions</a:t>
            </a:r>
            <a:endParaRPr lang="en-US" sz="3000" dirty="0"/>
          </a:p>
        </p:txBody>
      </p:sp>
      <p:sp>
        <p:nvSpPr>
          <p:cNvPr id="3" name="frame-438"/>
          <p:cNvSpPr/>
          <p:nvPr/>
        </p:nvSpPr>
        <p:spPr>
          <a:xfrm>
            <a:off x="887869" y="1207008"/>
            <a:ext cx="4807943" cy="1911096"/>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4" name="shot-439" descr="Avant : 7,5 Gio utilisés sur 7,7 — heap ES 4 Go, Logstash 1 Go"/>
          <p:cNvPicPr>
            <a:picLocks noChangeAspect="1"/>
          </p:cNvPicPr>
          <p:nvPr/>
        </p:nvPicPr>
        <p:blipFill>
          <a:blip r:embed="rId3"/>
          <a:stretch>
            <a:fillRect/>
          </a:stretch>
        </p:blipFill>
        <p:spPr>
          <a:xfrm>
            <a:off x="915301" y="1234440"/>
            <a:ext cx="4753079" cy="1856232"/>
          </a:xfrm>
          <a:prstGeom prst="rect">
            <a:avLst/>
          </a:prstGeom>
        </p:spPr>
      </p:pic>
      <p:sp>
        <p:nvSpPr>
          <p:cNvPr id="5" name="cap-440"/>
          <p:cNvSpPr txBox="1"/>
          <p:nvPr/>
        </p:nvSpPr>
        <p:spPr>
          <a:xfrm>
            <a:off x="915301" y="3145536"/>
            <a:ext cx="4753079" cy="237744"/>
          </a:xfrm>
          <a:prstGeom prst="rect">
            <a:avLst/>
          </a:prstGeom>
          <a:noFill/>
          <a:ln/>
        </p:spPr>
        <p:txBody>
          <a:bodyPr wrap="square" lIns="0" tIns="0" rIns="0" bIns="0" rtlCol="0" anchor="ctr"/>
          <a:lstStyle/>
          <a:p>
            <a:pPr marL="0" indent="0">
              <a:buNone/>
            </a:pPr>
            <a:r>
              <a:rPr lang="en-US" sz="1000" i="1" dirty="0">
                <a:solidFill>
                  <a:schemeClr val="accent5"/>
                </a:solidFill>
              </a:rPr>
              <a:t>Avant : 7,5 Gio utilisés sur 7,7 — heap ES 4 Go, Logstash 1 Go</a:t>
            </a:r>
            <a:endParaRPr lang="en-US" sz="1000" dirty="0"/>
          </a:p>
        </p:txBody>
      </p:sp>
      <p:sp>
        <p:nvSpPr>
          <p:cNvPr id="6" name="frame-441"/>
          <p:cNvSpPr/>
          <p:nvPr/>
        </p:nvSpPr>
        <p:spPr>
          <a:xfrm>
            <a:off x="1555461" y="3493008"/>
            <a:ext cx="3472759" cy="996696"/>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7" name="shot-442" descr="Correction : heap ES 3 Go, Logstash 512 Mo"/>
          <p:cNvPicPr>
            <a:picLocks noChangeAspect="1"/>
          </p:cNvPicPr>
          <p:nvPr/>
        </p:nvPicPr>
        <p:blipFill>
          <a:blip r:embed="rId4"/>
          <a:stretch>
            <a:fillRect/>
          </a:stretch>
        </p:blipFill>
        <p:spPr>
          <a:xfrm>
            <a:off x="1582893" y="3520440"/>
            <a:ext cx="3417895" cy="941832"/>
          </a:xfrm>
          <a:prstGeom prst="rect">
            <a:avLst/>
          </a:prstGeom>
        </p:spPr>
      </p:pic>
      <p:sp>
        <p:nvSpPr>
          <p:cNvPr id="8" name="cap-443"/>
          <p:cNvSpPr txBox="1"/>
          <p:nvPr/>
        </p:nvSpPr>
        <p:spPr>
          <a:xfrm>
            <a:off x="1582893" y="4517136"/>
            <a:ext cx="3417895" cy="237744"/>
          </a:xfrm>
          <a:prstGeom prst="rect">
            <a:avLst/>
          </a:prstGeom>
          <a:noFill/>
          <a:ln/>
        </p:spPr>
        <p:txBody>
          <a:bodyPr wrap="square" lIns="0" tIns="0" rIns="0" bIns="0" rtlCol="0" anchor="ctr"/>
          <a:lstStyle/>
          <a:p>
            <a:pPr marL="0" indent="0">
              <a:buNone/>
            </a:pPr>
            <a:r>
              <a:rPr lang="en-US" sz="1000" i="1" dirty="0">
                <a:solidFill>
                  <a:schemeClr val="accent5"/>
                </a:solidFill>
              </a:rPr>
              <a:t>Correction : heap ES 3 Go, Logstash 512 Mo</a:t>
            </a:r>
            <a:endParaRPr lang="en-US" sz="1000" dirty="0"/>
          </a:p>
        </p:txBody>
      </p:sp>
      <p:sp>
        <p:nvSpPr>
          <p:cNvPr id="9" name="frame-444"/>
          <p:cNvSpPr/>
          <p:nvPr/>
        </p:nvSpPr>
        <p:spPr>
          <a:xfrm>
            <a:off x="1663347" y="4818888"/>
            <a:ext cx="3256985" cy="1179576"/>
          </a:xfrm>
          <a:prstGeom prst="rect">
            <a:avLst/>
          </a:prstGeom>
          <a:solidFill>
            <a:schemeClr val="bg2"/>
          </a:solidFill>
          <a:ln w="9525">
            <a:solidFill>
              <a:srgbClr val="C9D3E2"/>
            </a:solidFill>
            <a:prstDash val="solid"/>
          </a:ln>
          <a:effectLst>
            <a:outerShdw blurRad="76200" dist="25400" dir="5400000" algn="bl" rotWithShape="0">
              <a:srgbClr val="0B1426">
                <a:alpha val="18000"/>
              </a:srgbClr>
            </a:outerShdw>
          </a:effectLst>
        </p:spPr>
        <p:txBody>
          <a:bodyPr/>
          <a:lstStyle/>
          <a:p>
            <a:endParaRPr lang="fr-FR"/>
          </a:p>
        </p:txBody>
      </p:sp>
      <p:pic>
        <p:nvPicPr>
          <p:cNvPr id="10" name="shot-445" descr="Après : 1,3 Gio disponibles, Watcher toujours actif"/>
          <p:cNvPicPr>
            <a:picLocks noChangeAspect="1"/>
          </p:cNvPicPr>
          <p:nvPr/>
        </p:nvPicPr>
        <p:blipFill>
          <a:blip r:embed="rId5"/>
          <a:stretch>
            <a:fillRect/>
          </a:stretch>
        </p:blipFill>
        <p:spPr>
          <a:xfrm>
            <a:off x="1690779" y="4846320"/>
            <a:ext cx="3202121" cy="1124712"/>
          </a:xfrm>
          <a:prstGeom prst="rect">
            <a:avLst/>
          </a:prstGeom>
        </p:spPr>
      </p:pic>
      <p:sp>
        <p:nvSpPr>
          <p:cNvPr id="11" name="cap-446"/>
          <p:cNvSpPr txBox="1"/>
          <p:nvPr/>
        </p:nvSpPr>
        <p:spPr>
          <a:xfrm>
            <a:off x="1690779" y="6025896"/>
            <a:ext cx="3202121" cy="237744"/>
          </a:xfrm>
          <a:prstGeom prst="rect">
            <a:avLst/>
          </a:prstGeom>
          <a:noFill/>
          <a:ln/>
        </p:spPr>
        <p:txBody>
          <a:bodyPr wrap="square" lIns="0" tIns="0" rIns="0" bIns="0" rtlCol="0" anchor="ctr"/>
          <a:lstStyle/>
          <a:p>
            <a:pPr marL="0" indent="0">
              <a:buNone/>
            </a:pPr>
            <a:r>
              <a:rPr lang="en-US" sz="1000" i="1" dirty="0">
                <a:solidFill>
                  <a:schemeClr val="accent5"/>
                </a:solidFill>
              </a:rPr>
              <a:t>Après : 1,3 Gio disponibles, Watcher toujours actif</a:t>
            </a:r>
            <a:endParaRPr lang="en-US" sz="1000" dirty="0"/>
          </a:p>
        </p:txBody>
      </p:sp>
      <p:sp>
        <p:nvSpPr>
          <p:cNvPr id="12" name="diff-447"/>
          <p:cNvSpPr/>
          <p:nvPr/>
        </p:nvSpPr>
        <p:spPr>
          <a:xfrm>
            <a:off x="6355080" y="1280160"/>
            <a:ext cx="5257800" cy="896112"/>
          </a:xfrm>
          <a:prstGeom prst="roundRect">
            <a:avLst>
              <a:gd name="adj" fmla="val 8163"/>
            </a:avLst>
          </a:prstGeom>
          <a:solidFill>
            <a:schemeClr val="bg2"/>
          </a:solidFill>
          <a:ln w="9525">
            <a:solidFill>
              <a:srgbClr val="D6DEEA"/>
            </a:solidFill>
            <a:prstDash val="solid"/>
          </a:ln>
        </p:spPr>
        <p:txBody>
          <a:bodyPr/>
          <a:lstStyle/>
          <a:p>
            <a:endParaRPr lang="fr-FR"/>
          </a:p>
        </p:txBody>
      </p:sp>
      <p:sp>
        <p:nvSpPr>
          <p:cNvPr id="13" name="diff-t-448"/>
          <p:cNvSpPr txBox="1"/>
          <p:nvPr/>
        </p:nvSpPr>
        <p:spPr>
          <a:xfrm>
            <a:off x="6492240" y="1280160"/>
            <a:ext cx="4983480" cy="896112"/>
          </a:xfrm>
          <a:prstGeom prst="rect">
            <a:avLst/>
          </a:prstGeom>
          <a:noFill/>
          <a:ln/>
        </p:spPr>
        <p:txBody>
          <a:bodyPr wrap="square" lIns="0" tIns="0" rIns="0" bIns="0" rtlCol="0" anchor="ctr"/>
          <a:lstStyle/>
          <a:p>
            <a:pPr marL="0" indent="0">
              <a:buNone/>
            </a:pPr>
            <a:r>
              <a:rPr lang="en-US" sz="1400" b="1" dirty="0">
                <a:solidFill>
                  <a:schemeClr val="tx1"/>
                </a:solidFill>
              </a:rPr>
              <a:t>Mémoire saturée sur ENT-ELK</a:t>
            </a:r>
            <a:endParaRPr lang="en-US" sz="1400" dirty="0"/>
          </a:p>
          <a:p>
            <a:pPr marL="0" indent="0">
              <a:buNone/>
            </a:pPr>
            <a:r>
              <a:rPr lang="en-US" sz="1200" dirty="0">
                <a:solidFill>
                  <a:schemeClr val="tx2"/>
                </a:solidFill>
              </a:rPr>
              <a:t>repérée grâce au tableau de bord Grafana (RAM à ~97 %) : risque d'OOM killer sur Elasticsearch</a:t>
            </a:r>
            <a:endParaRPr lang="en-US" sz="1400" dirty="0"/>
          </a:p>
        </p:txBody>
      </p:sp>
      <p:sp>
        <p:nvSpPr>
          <p:cNvPr id="14" name="diff-449"/>
          <p:cNvSpPr/>
          <p:nvPr/>
        </p:nvSpPr>
        <p:spPr>
          <a:xfrm>
            <a:off x="6355080" y="2286000"/>
            <a:ext cx="5257800" cy="896112"/>
          </a:xfrm>
          <a:prstGeom prst="roundRect">
            <a:avLst>
              <a:gd name="adj" fmla="val 8163"/>
            </a:avLst>
          </a:prstGeom>
          <a:solidFill>
            <a:schemeClr val="bg2"/>
          </a:solidFill>
          <a:ln w="9525">
            <a:solidFill>
              <a:srgbClr val="D6DEEA"/>
            </a:solidFill>
            <a:prstDash val="solid"/>
          </a:ln>
        </p:spPr>
        <p:txBody>
          <a:bodyPr/>
          <a:lstStyle/>
          <a:p>
            <a:endParaRPr lang="fr-FR"/>
          </a:p>
        </p:txBody>
      </p:sp>
      <p:sp>
        <p:nvSpPr>
          <p:cNvPr id="15" name="diff-t-450"/>
          <p:cNvSpPr txBox="1"/>
          <p:nvPr/>
        </p:nvSpPr>
        <p:spPr>
          <a:xfrm>
            <a:off x="6492240" y="2286000"/>
            <a:ext cx="4983480" cy="896112"/>
          </a:xfrm>
          <a:prstGeom prst="rect">
            <a:avLst/>
          </a:prstGeom>
          <a:noFill/>
          <a:ln/>
        </p:spPr>
        <p:txBody>
          <a:bodyPr wrap="square" lIns="0" tIns="0" rIns="0" bIns="0" rtlCol="0" anchor="ctr"/>
          <a:lstStyle/>
          <a:p>
            <a:pPr marL="0" indent="0">
              <a:buNone/>
            </a:pPr>
            <a:r>
              <a:rPr lang="en-US" sz="1400" b="1" dirty="0">
                <a:solidFill>
                  <a:schemeClr val="tx1"/>
                </a:solidFill>
              </a:rPr>
              <a:t>tshark sans droit de capture</a:t>
            </a:r>
            <a:endParaRPr lang="en-US" sz="1400" dirty="0"/>
          </a:p>
          <a:p>
            <a:pPr marL="0" indent="0">
              <a:buNone/>
            </a:pPr>
            <a:r>
              <a:rPr lang="en-US" sz="1200" dirty="0">
                <a:solidFill>
                  <a:schemeClr val="tx2"/>
                </a:solidFill>
              </a:rPr>
              <a:t>dumpcap refusé à l'utilisateur : reconfiguration de wireshark-common et ajout au groupe wireshark</a:t>
            </a:r>
            <a:endParaRPr lang="en-US" sz="1400" dirty="0"/>
          </a:p>
        </p:txBody>
      </p:sp>
      <p:sp>
        <p:nvSpPr>
          <p:cNvPr id="16" name="diff-451"/>
          <p:cNvSpPr/>
          <p:nvPr/>
        </p:nvSpPr>
        <p:spPr>
          <a:xfrm>
            <a:off x="6355080" y="3291840"/>
            <a:ext cx="5257800" cy="896112"/>
          </a:xfrm>
          <a:prstGeom prst="roundRect">
            <a:avLst>
              <a:gd name="adj" fmla="val 8163"/>
            </a:avLst>
          </a:prstGeom>
          <a:solidFill>
            <a:schemeClr val="bg2"/>
          </a:solidFill>
          <a:ln w="9525">
            <a:solidFill>
              <a:srgbClr val="D6DEEA"/>
            </a:solidFill>
            <a:prstDash val="solid"/>
          </a:ln>
        </p:spPr>
        <p:txBody>
          <a:bodyPr/>
          <a:lstStyle/>
          <a:p>
            <a:endParaRPr lang="fr-FR"/>
          </a:p>
        </p:txBody>
      </p:sp>
      <p:sp>
        <p:nvSpPr>
          <p:cNvPr id="17" name="diff-t-452"/>
          <p:cNvSpPr txBox="1"/>
          <p:nvPr/>
        </p:nvSpPr>
        <p:spPr>
          <a:xfrm>
            <a:off x="6492240" y="3291840"/>
            <a:ext cx="4983480" cy="896112"/>
          </a:xfrm>
          <a:prstGeom prst="rect">
            <a:avLst/>
          </a:prstGeom>
          <a:noFill/>
          <a:ln/>
        </p:spPr>
        <p:txBody>
          <a:bodyPr wrap="square" lIns="0" tIns="0" rIns="0" bIns="0" rtlCol="0" anchor="ctr"/>
          <a:lstStyle/>
          <a:p>
            <a:pPr marL="0" indent="0">
              <a:buNone/>
            </a:pPr>
            <a:r>
              <a:rPr lang="en-US" sz="1400" b="1" dirty="0">
                <a:solidFill>
                  <a:schemeClr val="tx1"/>
                </a:solidFill>
              </a:rPr>
              <a:t>Boucle de capture</a:t>
            </a:r>
            <a:endParaRPr lang="en-US" sz="1400" dirty="0"/>
          </a:p>
          <a:p>
            <a:pPr marL="0" indent="0">
              <a:buNone/>
            </a:pPr>
            <a:r>
              <a:rPr lang="en-US" sz="1200" dirty="0">
                <a:solidFill>
                  <a:schemeClr val="tx2"/>
                </a:solidFill>
              </a:rPr>
              <a:t>Filebeat capturait son propre envoi vers :5044 : port exclu du filtre BPF, index pollué supprimé</a:t>
            </a:r>
            <a:endParaRPr lang="en-US" sz="1400" dirty="0"/>
          </a:p>
        </p:txBody>
      </p:sp>
      <p:sp>
        <p:nvSpPr>
          <p:cNvPr id="18" name="diff-453"/>
          <p:cNvSpPr/>
          <p:nvPr/>
        </p:nvSpPr>
        <p:spPr>
          <a:xfrm>
            <a:off x="6355080" y="4297680"/>
            <a:ext cx="5257800" cy="896112"/>
          </a:xfrm>
          <a:prstGeom prst="roundRect">
            <a:avLst>
              <a:gd name="adj" fmla="val 8163"/>
            </a:avLst>
          </a:prstGeom>
          <a:solidFill>
            <a:schemeClr val="bg2"/>
          </a:solidFill>
          <a:ln w="9525">
            <a:solidFill>
              <a:srgbClr val="D6DEEA"/>
            </a:solidFill>
            <a:prstDash val="solid"/>
          </a:ln>
        </p:spPr>
        <p:txBody>
          <a:bodyPr/>
          <a:lstStyle/>
          <a:p>
            <a:endParaRPr lang="fr-FR"/>
          </a:p>
        </p:txBody>
      </p:sp>
      <p:sp>
        <p:nvSpPr>
          <p:cNvPr id="19" name="diff-t-454"/>
          <p:cNvSpPr txBox="1"/>
          <p:nvPr/>
        </p:nvSpPr>
        <p:spPr>
          <a:xfrm>
            <a:off x="6492240" y="4297680"/>
            <a:ext cx="4983480" cy="896112"/>
          </a:xfrm>
          <a:prstGeom prst="rect">
            <a:avLst/>
          </a:prstGeom>
          <a:noFill/>
          <a:ln/>
        </p:spPr>
        <p:txBody>
          <a:bodyPr wrap="square" lIns="0" tIns="0" rIns="0" bIns="0" rtlCol="0" anchor="ctr"/>
          <a:lstStyle/>
          <a:p>
            <a:pPr marL="0" indent="0">
              <a:buNone/>
            </a:pPr>
            <a:r>
              <a:rPr lang="en-US" sz="1400" b="1" dirty="0">
                <a:solidFill>
                  <a:schemeClr val="tx1"/>
                </a:solidFill>
              </a:rPr>
              <a:t>Rafale d'alertes Watcher</a:t>
            </a:r>
            <a:endParaRPr lang="en-US" sz="1400" dirty="0"/>
          </a:p>
          <a:p>
            <a:pPr marL="0" indent="0">
              <a:buNone/>
            </a:pPr>
            <a:r>
              <a:rPr lang="en-US" sz="1200" dirty="0">
                <a:solidFill>
                  <a:schemeClr val="tx2"/>
                </a:solidFill>
              </a:rPr>
              <a:t>une alerte par minute pendant un scan : throttle_period de 5 min</a:t>
            </a:r>
            <a:endParaRPr lang="en-US" sz="1400" dirty="0"/>
          </a:p>
        </p:txBody>
      </p:sp>
      <p:sp>
        <p:nvSpPr>
          <p:cNvPr id="20" name="diff-455"/>
          <p:cNvSpPr/>
          <p:nvPr/>
        </p:nvSpPr>
        <p:spPr>
          <a:xfrm>
            <a:off x="6355080" y="5303520"/>
            <a:ext cx="5257800" cy="896112"/>
          </a:xfrm>
          <a:prstGeom prst="roundRect">
            <a:avLst>
              <a:gd name="adj" fmla="val 8163"/>
            </a:avLst>
          </a:prstGeom>
          <a:solidFill>
            <a:schemeClr val="bg2"/>
          </a:solidFill>
          <a:ln w="9525">
            <a:solidFill>
              <a:srgbClr val="D6DEEA"/>
            </a:solidFill>
            <a:prstDash val="solid"/>
          </a:ln>
        </p:spPr>
        <p:txBody>
          <a:bodyPr/>
          <a:lstStyle/>
          <a:p>
            <a:endParaRPr lang="fr-FR"/>
          </a:p>
        </p:txBody>
      </p:sp>
      <p:sp>
        <p:nvSpPr>
          <p:cNvPr id="21" name="diff-t-456"/>
          <p:cNvSpPr txBox="1"/>
          <p:nvPr/>
        </p:nvSpPr>
        <p:spPr>
          <a:xfrm>
            <a:off x="6492240" y="5303520"/>
            <a:ext cx="4983480" cy="896112"/>
          </a:xfrm>
          <a:prstGeom prst="rect">
            <a:avLst/>
          </a:prstGeom>
          <a:noFill/>
          <a:ln/>
        </p:spPr>
        <p:txBody>
          <a:bodyPr wrap="square" lIns="0" tIns="0" rIns="0" bIns="0" rtlCol="0" anchor="ctr"/>
          <a:lstStyle/>
          <a:p>
            <a:pPr marL="0" indent="0">
              <a:buNone/>
            </a:pPr>
            <a:r>
              <a:rPr lang="en-US" sz="1400" b="1" dirty="0">
                <a:solidFill>
                  <a:schemeClr val="tx1"/>
                </a:solidFill>
              </a:rPr>
              <a:t>Watcher soumis à licence</a:t>
            </a:r>
            <a:endParaRPr lang="en-US" sz="1400" dirty="0"/>
          </a:p>
          <a:p>
            <a:pPr marL="0" indent="0">
              <a:buNone/>
            </a:pPr>
            <a:r>
              <a:rPr lang="en-US" sz="1200" dirty="0">
                <a:solidFill>
                  <a:schemeClr val="tx2"/>
                </a:solidFill>
              </a:rPr>
              <a:t>licence d'essai de 30 jours, expirée le 16/10/2026 : à remplacer avant la soutenance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685800"/>
          </a:xfrm>
          <a:prstGeom prst="rect">
            <a:avLst/>
          </a:prstGeom>
          <a:noFill/>
          <a:ln/>
        </p:spPr>
        <p:txBody>
          <a:bodyPr wrap="square" lIns="0" tIns="0" rIns="0" bIns="0" rtlCol="0" anchor="ctr"/>
          <a:lstStyle/>
          <a:p>
            <a:pPr marL="0" indent="0" algn="l">
              <a:buNone/>
            </a:pPr>
            <a:r>
              <a:rPr lang="en-US" sz="3000" b="1" dirty="0">
                <a:solidFill>
                  <a:schemeClr val="tx1"/>
                </a:solidFill>
                <a:latin typeface="Arial" pitchFamily="34" charset="0"/>
                <a:ea typeface="Arial" pitchFamily="34" charset="-122"/>
                <a:cs typeface="Arial" pitchFamily="34" charset="-120"/>
              </a:rPr>
              <a:t>Compétences visées et preuves apportées</a:t>
            </a:r>
            <a:endParaRPr lang="en-US" sz="3000" dirty="0"/>
          </a:p>
        </p:txBody>
      </p:sp>
      <p:graphicFrame>
        <p:nvGraphicFramePr>
          <p:cNvPr id="34" name="tab-comp"/>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657600">
                  <a:extLst>
                    <a:ext uri="{9D8B030D-6E8A-4147-A177-3AD203B41FA5}">
                      <a16:colId xmlns:a16="http://schemas.microsoft.com/office/drawing/2014/main" val="20000"/>
                    </a:ext>
                  </a:extLst>
                </a:gridCol>
                <a:gridCol w="57607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713232">
                <a:tc>
                  <a:txBody>
                    <a:bodyPr/>
                    <a:lstStyle/>
                    <a:p>
                      <a:pPr marL="0" indent="0">
                        <a:buNone/>
                      </a:pPr>
                      <a:r>
                        <a:rPr lang="en-US" sz="1400" b="1" dirty="0">
                          <a:solidFill>
                            <a:schemeClr val="bg1"/>
                          </a:solidFill>
                        </a:rPr>
                        <a:t>Compétence</a:t>
                      </a:r>
                      <a:endParaRPr lang="en-US" sz="1400" dirty="0"/>
                    </a:p>
                  </a:txBody>
                  <a:tcPr marL="73152" marR="73152" marT="73152" marB="73152"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Réalisation</a:t>
                      </a:r>
                      <a:endParaRPr lang="en-US" sz="1400" dirty="0"/>
                    </a:p>
                  </a:txBody>
                  <a:tcPr marL="73152" marR="73152" marT="73152" marB="73152"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rPr>
                        <a:t>Missions</a:t>
                      </a:r>
                      <a:endParaRPr lang="en-US" sz="1400" dirty="0"/>
                    </a:p>
                  </a:txBody>
                  <a:tcPr marL="73152" marR="73152" marT="73152" marB="73152"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713232">
                <a:tc>
                  <a:txBody>
                    <a:bodyPr/>
                    <a:lstStyle/>
                    <a:p>
                      <a:pPr marL="0" indent="0">
                        <a:buNone/>
                      </a:pPr>
                      <a:r>
                        <a:rPr lang="en-US" sz="1400" dirty="0">
                          <a:solidFill>
                            <a:schemeClr val="tx1"/>
                          </a:solidFill>
                        </a:rPr>
                        <a:t>Administrer et sécuriser une infrastructure virtualisée</a:t>
                      </a:r>
                      <a:endParaRPr lang="en-US" sz="1400" dirty="0"/>
                    </a:p>
                  </a:txBody>
                  <a:tcPr marL="73152" marR="73152" marT="73152" marB="73152"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4 VM Debian 12, réseau NAT, clones assainis, services systemd, dépôts signés</a:t>
                      </a:r>
                      <a:endParaRPr lang="en-US" sz="1400" dirty="0"/>
                    </a:p>
                  </a:txBody>
                  <a:tcPr marL="73152" marR="73152" marT="73152" marB="73152"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Prépa · 01 · 05</a:t>
                      </a:r>
                      <a:endParaRPr lang="en-US" sz="1400" dirty="0"/>
                    </a:p>
                  </a:txBody>
                  <a:tcPr marL="73152" marR="73152" marT="73152" marB="73152"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13232">
                <a:tc>
                  <a:txBody>
                    <a:bodyPr/>
                    <a:lstStyle/>
                    <a:p>
                      <a:pPr marL="0" indent="0">
                        <a:buNone/>
                      </a:pPr>
                      <a:r>
                        <a:rPr lang="en-US" sz="1400" dirty="0">
                          <a:solidFill>
                            <a:schemeClr val="tx1"/>
                          </a:solidFill>
                        </a:rPr>
                        <a:t>Mettre en œuvre et optimiser la supervision</a:t>
                      </a:r>
                      <a:endParaRPr lang="en-US" sz="1400" dirty="0"/>
                    </a:p>
                  </a:txBody>
                  <a:tcPr marL="73152" marR="73152" marT="73152" marB="73152"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Zabbix + Prometheus + Grafana, graphiques et tableaux de bord CPU/RAM/disque</a:t>
                      </a:r>
                      <a:endParaRPr lang="en-US" sz="1400" dirty="0"/>
                    </a:p>
                  </a:txBody>
                  <a:tcPr marL="73152" marR="73152" marT="73152" marB="73152"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01 · 02 · 03</a:t>
                      </a:r>
                      <a:endParaRPr lang="en-US" sz="1400" dirty="0"/>
                    </a:p>
                  </a:txBody>
                  <a:tcPr marL="73152" marR="73152" marT="73152" marB="73152"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13232">
                <a:tc>
                  <a:txBody>
                    <a:bodyPr/>
                    <a:lstStyle/>
                    <a:p>
                      <a:pPr marL="0" indent="0">
                        <a:buNone/>
                      </a:pPr>
                      <a:r>
                        <a:rPr lang="en-US" sz="1400" dirty="0">
                          <a:solidFill>
                            <a:schemeClr val="tx1"/>
                          </a:solidFill>
                        </a:rPr>
                        <a:t>Participer à la détection des incidents</a:t>
                      </a:r>
                      <a:endParaRPr lang="en-US" sz="1400" dirty="0"/>
                    </a:p>
                  </a:txBody>
                  <a:tcPr marL="73152" marR="73152" marT="73152" marB="73152"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Déclencheurs Zabbix, Watcher scan de ports testé avec succès</a:t>
                      </a:r>
                      <a:endParaRPr lang="en-US" sz="1400" dirty="0"/>
                    </a:p>
                  </a:txBody>
                  <a:tcPr marL="73152" marR="73152" marT="73152" marB="73152"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04 · 05</a:t>
                      </a:r>
                      <a:endParaRPr lang="en-US" sz="1400" dirty="0"/>
                    </a:p>
                  </a:txBody>
                  <a:tcPr marL="73152" marR="73152" marT="73152" marB="73152"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13232">
                <a:tc>
                  <a:txBody>
                    <a:bodyPr/>
                    <a:lstStyle/>
                    <a:p>
                      <a:pPr marL="0" indent="0">
                        <a:buNone/>
                      </a:pPr>
                      <a:r>
                        <a:rPr lang="en-US" sz="1400" dirty="0">
                          <a:solidFill>
                            <a:schemeClr val="tx1"/>
                          </a:solidFill>
                        </a:rPr>
                        <a:t>Mesurer et analyser le niveau de sécurité</a:t>
                      </a:r>
                      <a:endParaRPr lang="en-US" sz="1400" dirty="0"/>
                    </a:p>
                  </a:txBody>
                  <a:tcPr marL="73152" marR="73152" marT="73152" marB="73152"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Capture tshark, ~108 000 paquets indexés, recherches KQL, tendances</a:t>
                      </a:r>
                      <a:endParaRPr lang="en-US" sz="1400" dirty="0"/>
                    </a:p>
                  </a:txBody>
                  <a:tcPr marL="73152" marR="73152" marT="73152" marB="73152"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06 · 07</a:t>
                      </a:r>
                      <a:endParaRPr lang="en-US" sz="1400" dirty="0"/>
                    </a:p>
                  </a:txBody>
                  <a:tcPr marL="73152" marR="73152" marT="73152" marB="73152"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713232">
                <a:tc>
                  <a:txBody>
                    <a:bodyPr/>
                    <a:lstStyle/>
                    <a:p>
                      <a:pPr marL="0" indent="0">
                        <a:buNone/>
                      </a:pPr>
                      <a:r>
                        <a:rPr lang="en-US" sz="1400" dirty="0">
                          <a:solidFill>
                            <a:schemeClr val="tx1"/>
                          </a:solidFill>
                        </a:rPr>
                        <a:t>Participer au traitement des incidents</a:t>
                      </a:r>
                      <a:endParaRPr lang="en-US" sz="1400" dirty="0"/>
                    </a:p>
                  </a:txBody>
                  <a:tcPr marL="73152" marR="73152" marT="73152" marB="73152"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3 playbooks NIST, cas TheHive, partage d'IoC MISP</a:t>
                      </a:r>
                      <a:endParaRPr lang="en-US" sz="1400" dirty="0"/>
                    </a:p>
                  </a:txBody>
                  <a:tcPr marL="73152" marR="73152" marT="73152" marB="73152"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08 · 09</a:t>
                      </a:r>
                      <a:endParaRPr lang="en-US" sz="1400" dirty="0"/>
                    </a:p>
                  </a:txBody>
                  <a:tcPr marL="73152" marR="73152" marT="73152" marB="73152" anchor="ctr">
                    <a:lnL w="9525" cap="flat" cmpd="sng" algn="ctr">
                      <a:solidFill>
                        <a:srgbClr val="D6DEEA"/>
                      </a:solidFill>
                      <a:prstDash val="solid"/>
                      <a:round/>
                      <a:headEnd type="none" w="med" len="med"/>
                      <a:tailEnd type="none" w="med" len="med"/>
                    </a:lnL>
                    <a:lnR w="9525" cap="flat" cmpd="sng" algn="ctr">
                      <a:solidFill>
                        <a:srgbClr val="D6DEEA"/>
                      </a:solidFill>
                      <a:prstDash val="solid"/>
                      <a:round/>
                      <a:headEnd type="none" w="med" len="med"/>
                      <a:tailEnd type="none" w="med" len="med"/>
                    </a:lnR>
                    <a:lnT w="9525" cap="flat" cmpd="sng" algn="ctr">
                      <a:solidFill>
                        <a:srgbClr val="D6DEEA"/>
                      </a:solidFill>
                      <a:prstDash val="solid"/>
                      <a:round/>
                      <a:headEnd type="none" w="med" len="med"/>
                      <a:tailEnd type="none" w="med" len="med"/>
                    </a:lnT>
                    <a:lnB w="9525" cap="flat" cmpd="sng" algn="ctr">
                      <a:solidFill>
                        <a:srgbClr val="D6DEEA"/>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515600" cy="1463040"/>
          </a:xfrm>
          <a:prstGeom prst="rect">
            <a:avLst/>
          </a:prstGeom>
          <a:noFill/>
          <a:ln/>
        </p:spPr>
        <p:txBody>
          <a:bodyPr wrap="square" lIns="0" tIns="0" rIns="0" bIns="0" rtlCol="0" anchor="b"/>
          <a:lstStyle/>
          <a:p>
            <a:pPr marL="0" indent="0" algn="l">
              <a:buNone/>
            </a:pPr>
            <a:r>
              <a:rPr lang="en-US" sz="4400" b="1" dirty="0">
                <a:solidFill>
                  <a:schemeClr val="bg1"/>
                </a:solidFill>
                <a:latin typeface="Arial" pitchFamily="34" charset="0"/>
                <a:ea typeface="Arial" pitchFamily="34" charset="-122"/>
                <a:cs typeface="Arial" pitchFamily="34" charset="-120"/>
              </a:rPr>
              <a:t>L'Enterprise-D voit, alerte et réagit</a:t>
            </a:r>
            <a:endParaRPr lang="en-US" sz="4400" dirty="0"/>
          </a:p>
        </p:txBody>
      </p:sp>
      <p:sp>
        <p:nvSpPr>
          <p:cNvPr id="3" name="Text 0"/>
          <p:cNvSpPr>
            <a:spLocks noGrp="1"/>
          </p:cNvSpPr>
          <p:nvPr>
            <p:ph type="body" idx="101" hasCustomPrompt="1"/>
          </p:nvPr>
        </p:nvSpPr>
        <p:spPr>
          <a:xfrm>
            <a:off x="731520" y="3611880"/>
            <a:ext cx="10515600" cy="914400"/>
          </a:xfrm>
          <a:prstGeom prst="rect">
            <a:avLst/>
          </a:prstGeom>
          <a:noFill/>
          <a:ln/>
        </p:spPr>
        <p:txBody>
          <a:bodyPr wrap="square" lIns="0" tIns="0" rIns="0" bIns="0" rtlCol="0" anchor="t"/>
          <a:lstStyle/>
          <a:p>
            <a:pPr marL="0" indent="0">
              <a:buNone/>
            </a:pPr>
            <a:r>
              <a:rPr lang="en-US" sz="2000" dirty="0">
                <a:solidFill>
                  <a:schemeClr val="accent1"/>
                </a:solidFill>
              </a:rPr>
              <a:t>Pistes d'amélioration pour un passage en production</a:t>
            </a:r>
            <a:endParaRPr lang="en-US" sz="2000" dirty="0"/>
          </a:p>
        </p:txBody>
      </p:sp>
      <p:sp>
        <p:nvSpPr>
          <p:cNvPr id="4" name="next"/>
          <p:cNvSpPr txBox="1"/>
          <p:nvPr/>
        </p:nvSpPr>
        <p:spPr>
          <a:xfrm>
            <a:off x="731520" y="4572000"/>
            <a:ext cx="10515600" cy="19202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bg1"/>
                </a:solidFill>
              </a:rPr>
              <a:t>Réactiver x-pack : TLS et authentification sur Elasticsearch et Kibana</a:t>
            </a:r>
            <a:endParaRPr lang="en-US" sz="1500" dirty="0"/>
          </a:p>
          <a:p>
            <a:pPr marL="203200" indent="-203200">
              <a:spcAft>
                <a:spcPts val="600"/>
              </a:spcAft>
              <a:buSzPct val="100000"/>
              <a:buChar char="•"/>
            </a:pPr>
            <a:r>
              <a:rPr lang="en-US" sz="1500" dirty="0">
                <a:solidFill>
                  <a:schemeClr val="bg1"/>
                </a:solidFill>
              </a:rPr>
              <a:t>Remplacer les mots de passe par défaut et centraliser les secrets</a:t>
            </a:r>
            <a:endParaRPr lang="en-US" sz="1500" dirty="0"/>
          </a:p>
          <a:p>
            <a:pPr marL="203200" indent="-203200">
              <a:spcAft>
                <a:spcPts val="600"/>
              </a:spcAft>
              <a:buSzPct val="100000"/>
              <a:buChar char="•"/>
            </a:pPr>
            <a:r>
              <a:rPr lang="en-US" sz="1500" dirty="0">
                <a:solidFill>
                  <a:schemeClr val="bg1"/>
                </a:solidFill>
              </a:rPr>
              <a:t>Licence Watcher (essai expiré) ou bascule vers les règles d'alerte Kibana</a:t>
            </a:r>
            <a:endParaRPr lang="en-US" sz="1500" dirty="0"/>
          </a:p>
          <a:p>
            <a:pPr marL="203200" indent="-203200">
              <a:spcAft>
                <a:spcPts val="600"/>
              </a:spcAft>
              <a:buSzPct val="100000"/>
              <a:buChar char="•"/>
            </a:pPr>
            <a:r>
              <a:rPr lang="en-US" sz="1500" dirty="0">
                <a:solidFill>
                  <a:schemeClr val="bg1"/>
                </a:solidFill>
              </a:rPr>
              <a:t>Création automatique des cas TheHive depuis Watcher (webhook)</a:t>
            </a:r>
            <a:endParaRPr lang="en-US" sz="1500" dirty="0"/>
          </a:p>
          <a:p>
            <a:pPr marL="203200" indent="-203200">
              <a:spcAft>
                <a:spcPts val="600"/>
              </a:spcAft>
              <a:buSzPct val="100000"/>
              <a:buChar char="•"/>
            </a:pPr>
            <a:r>
              <a:rPr lang="en-US" sz="1500" dirty="0">
                <a:solidFill>
                  <a:schemeClr val="bg1"/>
                </a:solidFill>
              </a:rPr>
              <a:t>Désactiver LLMNR, ajouter une règle Watcher sur le volume sortant</a:t>
            </a:r>
            <a:endParaRPr lang="en-US" sz="1500" dirty="0"/>
          </a:p>
        </p:txBody>
      </p:sp>
    </p:spTree>
  </p:cSld>
  <p:clrMapOvr>
    <a:masterClrMapping/>
  </p:clrMapOvr>
</p:sld>
</file>

<file path=ppt/theme/theme1.xml><?xml version="1.0" encoding="utf-8"?>
<a:theme xmlns:a="http://schemas.openxmlformats.org/drawingml/2006/main" name="Enterprise-D">
  <a:themeElements>
    <a:clrScheme name="Enterprise-D">
      <a:dk1>
        <a:srgbClr val="0B1426"/>
      </a:dk1>
      <a:lt1>
        <a:srgbClr val="FFFFFF"/>
      </a:lt1>
      <a:dk2>
        <a:srgbClr val="1B2A4A"/>
      </a:dk2>
      <a:lt2>
        <a:srgbClr val="EEF2F7"/>
      </a:lt2>
      <a:accent1>
        <a:srgbClr val="F2A33A"/>
      </a:accent1>
      <a:accent2>
        <a:srgbClr val="2BB3C0"/>
      </a:accent2>
      <a:accent3>
        <a:srgbClr val="E5484D"/>
      </a:accent3>
      <a:accent4>
        <a:srgbClr val="5B8DEF"/>
      </a:accent4>
      <a:accent5>
        <a:srgbClr val="8C9BB5"/>
      </a:accent5>
      <a:accent6>
        <a:srgbClr val="3FB950"/>
      </a:accent6>
      <a:hlink>
        <a:srgbClr val="2BB3C0"/>
      </a:hlink>
      <a:folHlink>
        <a:srgbClr val="8C9BB5"/>
      </a:folHlink>
    </a:clrScheme>
    <a:fontScheme name="Enterprise-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4956</Words>
  <Application>Microsoft Macintosh PowerPoint</Application>
  <PresentationFormat>Grand écran</PresentationFormat>
  <Paragraphs>559</Paragraphs>
  <Slides>34</Slides>
  <Notes>34</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34</vt:i4>
      </vt:variant>
    </vt:vector>
  </HeadingPairs>
  <TitlesOfParts>
    <vt:vector size="38" baseType="lpstr">
      <vt:lpstr>Arial</vt:lpstr>
      <vt:lpstr>Calibri</vt:lpstr>
      <vt:lpstr>Courier New</vt:lpstr>
      <vt:lpstr>Enterprise-D</vt:lpstr>
      <vt:lpstr>Sécurisation de l'Enterprise-D</vt:lpstr>
      <vt:lpstr>Ordre de mission : protéger le vaisseau et son équipage</vt:lpstr>
      <vt:lpstr>Architecture du labo : 4 VM Debian 12 sur un réseau NAT</vt:lpstr>
      <vt:lpstr>Préparation des VM : clonage propre et réseau maîtrisé</vt:lpstr>
      <vt:lpstr>Supervision des systèmes</vt:lpstr>
      <vt:lpstr>Installation et configuration de Zabbix</vt:lpstr>
      <vt:lpstr>Systèmes du vaisseau ajoutés et métriques collectées</vt:lpstr>
      <vt:lpstr>Graphique personnalisé CPU / RAM / Disque</vt:lpstr>
      <vt:lpstr>Installation de Prometheus et jobs de scrape</vt:lpstr>
      <vt:lpstr>Cibles actives et première requête PromQL</vt:lpstr>
      <vt:lpstr>Installation de Grafana et source Prometheus</vt:lpstr>
      <vt:lpstr>Grafana : « Enterprise-D – Systèmes du vaisseau »</vt:lpstr>
      <vt:lpstr>Alertes Zabbix : déclencheurs et notifications</vt:lpstr>
      <vt:lpstr>Journalisation et analyse des menaces</vt:lpstr>
      <vt:lpstr>Installation de la stack ELK sur ENT-ELK</vt:lpstr>
      <vt:lpstr>Logstash : import des journaux réseau du vaisseau</vt:lpstr>
      <vt:lpstr>Logstash : le pipeline enterprise-d.conf</vt:lpstr>
      <vt:lpstr>Kibana : tableau de bord « Supervision réseau »</vt:lpstr>
      <vt:lpstr>Watcher : alerte automatique « scan de ports »</vt:lpstr>
      <vt:lpstr>Test du Watcher : l'alerte se déclenche</vt:lpstr>
      <vt:lpstr>Wireshark : capture de paquets sur l'interface ens33</vt:lpstr>
      <vt:lpstr>Paquets suspects et conversations TCP/IP</vt:lpstr>
      <vt:lpstr>Recherche d'événements suspects avec KQL</vt:lpstr>
      <vt:lpstr>Tendances des journaux dans le temps</vt:lpstr>
      <vt:lpstr>Réponse à incident</vt:lpstr>
      <vt:lpstr>Méthode : cycle de réponse à incident (NIST SP 800-61)</vt:lpstr>
      <vt:lpstr>Playbook 1 · Intrusion des Borgs</vt:lpstr>
      <vt:lpstr>Playbook 2 · Sabotage klingon</vt:lpstr>
      <vt:lpstr>Playbook 3 · Espion romulien (exfiltration)</vt:lpstr>
      <vt:lpstr>TheHive et MISP sur ENT-SOC (172.16.0.30)</vt:lpstr>
      <vt:lpstr>Cas TheHive « Intrusion Borg » et partage d'IoC</vt:lpstr>
      <vt:lpstr>Difficultés rencontrées et solutions</vt:lpstr>
      <vt:lpstr>Compétences visées et preuves apportées</vt:lpstr>
      <vt:lpstr>L'Enterprise-D voit, alerte et réagit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Sécurisation de l'Enterprise-D</dc:title>
  <dc:subject>PptxGenJS Presentation</dc:subject>
  <dc:creator>Quentin</dc:creator>
  <cp:lastModifiedBy>Quentin DAMERY</cp:lastModifiedBy>
  <cp:revision>2</cp:revision>
  <dcterms:created xsi:type="dcterms:W3CDTF">2026-10-19T07:51:59Z</dcterms:created>
  <dcterms:modified xsi:type="dcterms:W3CDTF">2026-10-19T08:07:42Z</dcterms:modified>
</cp:coreProperties>
</file>